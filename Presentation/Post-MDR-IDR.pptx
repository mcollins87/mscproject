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62" r:id="rId3"/>
    <p:sldId id="257" r:id="rId4"/>
    <p:sldId id="258" r:id="rId5"/>
    <p:sldId id="260" r:id="rId6"/>
    <p:sldId id="261" r:id="rId7"/>
    <p:sldId id="283" r:id="rId8"/>
    <p:sldId id="263" r:id="rId9"/>
    <p:sldId id="264" r:id="rId10"/>
    <p:sldId id="266" r:id="rId11"/>
    <p:sldId id="265" r:id="rId12"/>
    <p:sldId id="271" r:id="rId13"/>
    <p:sldId id="267" r:id="rId14"/>
    <p:sldId id="268" r:id="rId15"/>
    <p:sldId id="269" r:id="rId16"/>
    <p:sldId id="270" r:id="rId17"/>
    <p:sldId id="272" r:id="rId18"/>
    <p:sldId id="273" r:id="rId19"/>
    <p:sldId id="275" r:id="rId20"/>
    <p:sldId id="274" r:id="rId21"/>
    <p:sldId id="277" r:id="rId22"/>
    <p:sldId id="278" r:id="rId23"/>
    <p:sldId id="279" r:id="rId24"/>
    <p:sldId id="284" r:id="rId25"/>
    <p:sldId id="280" r:id="rId26"/>
    <p:sldId id="281" r:id="rId27"/>
    <p:sldId id="282" r:id="rId28"/>
    <p:sldId id="25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5" autoAdjust="0"/>
    <p:restoredTop sz="75681" autoAdjust="0"/>
  </p:normalViewPr>
  <p:slideViewPr>
    <p:cSldViewPr snapToGrid="0">
      <p:cViewPr varScale="1">
        <p:scale>
          <a:sx n="122" d="100"/>
          <a:sy n="122" d="100"/>
        </p:scale>
        <p:origin x="30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67EA62-7794-41EC-9BF3-7B1A41F4DBCC}"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86B3CDD3-516B-4F63-B9A0-612510923480}">
      <dgm:prSet/>
      <dgm:spPr/>
      <dgm:t>
        <a:bodyPr/>
        <a:lstStyle/>
        <a:p>
          <a:r>
            <a:rPr lang="en-GB" dirty="0"/>
            <a:t>Problem identification</a:t>
          </a:r>
          <a:endParaRPr lang="en-US" dirty="0"/>
        </a:p>
      </dgm:t>
    </dgm:pt>
    <dgm:pt modelId="{A39302A3-9200-4B2F-A25A-90DD406E8EFA}" type="parTrans" cxnId="{188F1E3A-5BF8-4F3C-BCCB-AAF5CB8A6509}">
      <dgm:prSet/>
      <dgm:spPr/>
      <dgm:t>
        <a:bodyPr/>
        <a:lstStyle/>
        <a:p>
          <a:endParaRPr lang="en-US"/>
        </a:p>
      </dgm:t>
    </dgm:pt>
    <dgm:pt modelId="{42BC55D7-CFE3-49EE-9CB7-65764151E6A0}" type="sibTrans" cxnId="{188F1E3A-5BF8-4F3C-BCCB-AAF5CB8A6509}">
      <dgm:prSet/>
      <dgm:spPr/>
      <dgm:t>
        <a:bodyPr/>
        <a:lstStyle/>
        <a:p>
          <a:endParaRPr lang="en-US"/>
        </a:p>
      </dgm:t>
    </dgm:pt>
    <dgm:pt modelId="{99E9E47B-1689-416C-B134-45A6EBB8F99A}">
      <dgm:prSet/>
      <dgm:spPr/>
      <dgm:t>
        <a:bodyPr/>
        <a:lstStyle/>
        <a:p>
          <a:r>
            <a:rPr lang="en-GB" dirty="0"/>
            <a:t>Objectives</a:t>
          </a:r>
          <a:endParaRPr lang="en-US" dirty="0"/>
        </a:p>
      </dgm:t>
    </dgm:pt>
    <dgm:pt modelId="{0E1BCABD-E348-4DC3-98A6-6AA6021EC2FB}" type="parTrans" cxnId="{F2963832-57EE-4790-8C6E-94C35C4FD360}">
      <dgm:prSet/>
      <dgm:spPr/>
      <dgm:t>
        <a:bodyPr/>
        <a:lstStyle/>
        <a:p>
          <a:endParaRPr lang="en-US"/>
        </a:p>
      </dgm:t>
    </dgm:pt>
    <dgm:pt modelId="{C6C7701C-053E-46C6-BE22-322B31FEB126}" type="sibTrans" cxnId="{F2963832-57EE-4790-8C6E-94C35C4FD360}">
      <dgm:prSet/>
      <dgm:spPr/>
      <dgm:t>
        <a:bodyPr/>
        <a:lstStyle/>
        <a:p>
          <a:endParaRPr lang="en-US"/>
        </a:p>
      </dgm:t>
    </dgm:pt>
    <dgm:pt modelId="{7BD2EE5F-D45A-4A7F-A6EC-DAC9539AED2D}">
      <dgm:prSet/>
      <dgm:spPr/>
      <dgm:t>
        <a:bodyPr/>
        <a:lstStyle/>
        <a:p>
          <a:r>
            <a:rPr lang="en-GB"/>
            <a:t>Design &amp; development</a:t>
          </a:r>
          <a:endParaRPr lang="en-US"/>
        </a:p>
      </dgm:t>
    </dgm:pt>
    <dgm:pt modelId="{9FFBC00F-F3AE-4BF1-B4F8-3237C764A127}" type="parTrans" cxnId="{7E5EF1CC-203A-4986-B223-02C8219D55AB}">
      <dgm:prSet/>
      <dgm:spPr/>
      <dgm:t>
        <a:bodyPr/>
        <a:lstStyle/>
        <a:p>
          <a:endParaRPr lang="en-US"/>
        </a:p>
      </dgm:t>
    </dgm:pt>
    <dgm:pt modelId="{B4691B63-13FF-4F8E-A6B7-40342F82D88C}" type="sibTrans" cxnId="{7E5EF1CC-203A-4986-B223-02C8219D55AB}">
      <dgm:prSet/>
      <dgm:spPr/>
      <dgm:t>
        <a:bodyPr/>
        <a:lstStyle/>
        <a:p>
          <a:endParaRPr lang="en-US"/>
        </a:p>
      </dgm:t>
    </dgm:pt>
    <dgm:pt modelId="{596364FC-BC5F-4DF7-A1EA-1F1664B24B50}">
      <dgm:prSet/>
      <dgm:spPr/>
      <dgm:t>
        <a:bodyPr/>
        <a:lstStyle/>
        <a:p>
          <a:r>
            <a:rPr lang="en-GB"/>
            <a:t>Demonstration</a:t>
          </a:r>
          <a:endParaRPr lang="en-US"/>
        </a:p>
      </dgm:t>
    </dgm:pt>
    <dgm:pt modelId="{8336CE97-04A5-4856-9A3E-D5825794DE2F}" type="parTrans" cxnId="{BE5418E4-6841-46E6-A0FE-70CF8E1A4698}">
      <dgm:prSet/>
      <dgm:spPr/>
      <dgm:t>
        <a:bodyPr/>
        <a:lstStyle/>
        <a:p>
          <a:endParaRPr lang="en-US"/>
        </a:p>
      </dgm:t>
    </dgm:pt>
    <dgm:pt modelId="{34E1D955-5155-4BE7-911A-CC9ED75E44D7}" type="sibTrans" cxnId="{BE5418E4-6841-46E6-A0FE-70CF8E1A4698}">
      <dgm:prSet/>
      <dgm:spPr/>
      <dgm:t>
        <a:bodyPr/>
        <a:lstStyle/>
        <a:p>
          <a:endParaRPr lang="en-US"/>
        </a:p>
      </dgm:t>
    </dgm:pt>
    <dgm:pt modelId="{D7F3DA56-FD31-4B2C-9659-7901A6172E16}">
      <dgm:prSet/>
      <dgm:spPr/>
      <dgm:t>
        <a:bodyPr/>
        <a:lstStyle/>
        <a:p>
          <a:r>
            <a:rPr lang="en-GB"/>
            <a:t>Evaluation</a:t>
          </a:r>
          <a:endParaRPr lang="en-US"/>
        </a:p>
      </dgm:t>
    </dgm:pt>
    <dgm:pt modelId="{3234F8F6-1A64-4184-9780-D378FA850C76}" type="parTrans" cxnId="{2BA594AD-4AC3-4AA5-BC6B-3EAFEFFD6E9C}">
      <dgm:prSet/>
      <dgm:spPr/>
      <dgm:t>
        <a:bodyPr/>
        <a:lstStyle/>
        <a:p>
          <a:endParaRPr lang="en-US"/>
        </a:p>
      </dgm:t>
    </dgm:pt>
    <dgm:pt modelId="{7D885A45-6456-41F2-B329-A1960D849998}" type="sibTrans" cxnId="{2BA594AD-4AC3-4AA5-BC6B-3EAFEFFD6E9C}">
      <dgm:prSet/>
      <dgm:spPr/>
      <dgm:t>
        <a:bodyPr/>
        <a:lstStyle/>
        <a:p>
          <a:endParaRPr lang="en-US"/>
        </a:p>
      </dgm:t>
    </dgm:pt>
    <dgm:pt modelId="{3C4FD4D7-4845-4688-9BA6-56DB780B449A}">
      <dgm:prSet/>
      <dgm:spPr/>
      <dgm:t>
        <a:bodyPr/>
        <a:lstStyle/>
        <a:p>
          <a:r>
            <a:rPr lang="en-GB"/>
            <a:t>Communication</a:t>
          </a:r>
          <a:endParaRPr lang="en-US"/>
        </a:p>
      </dgm:t>
    </dgm:pt>
    <dgm:pt modelId="{8FD438ED-645B-4218-8286-2FB002E57122}" type="parTrans" cxnId="{0414433C-89A4-40FF-B487-38C5BCD90268}">
      <dgm:prSet/>
      <dgm:spPr/>
      <dgm:t>
        <a:bodyPr/>
        <a:lstStyle/>
        <a:p>
          <a:endParaRPr lang="en-US"/>
        </a:p>
      </dgm:t>
    </dgm:pt>
    <dgm:pt modelId="{CF0A0DF9-9011-49DC-9E63-58DEB87B3E39}" type="sibTrans" cxnId="{0414433C-89A4-40FF-B487-38C5BCD90268}">
      <dgm:prSet/>
      <dgm:spPr/>
      <dgm:t>
        <a:bodyPr/>
        <a:lstStyle/>
        <a:p>
          <a:endParaRPr lang="en-US"/>
        </a:p>
      </dgm:t>
    </dgm:pt>
    <dgm:pt modelId="{99181621-7195-4EF1-A747-C5E740480E22}" type="pres">
      <dgm:prSet presAssocID="{7767EA62-7794-41EC-9BF3-7B1A41F4DBCC}" presName="vert0" presStyleCnt="0">
        <dgm:presLayoutVars>
          <dgm:dir/>
          <dgm:animOne val="branch"/>
          <dgm:animLvl val="lvl"/>
        </dgm:presLayoutVars>
      </dgm:prSet>
      <dgm:spPr/>
    </dgm:pt>
    <dgm:pt modelId="{DF224886-1F05-4D63-9063-CCE52022EFE6}" type="pres">
      <dgm:prSet presAssocID="{86B3CDD3-516B-4F63-B9A0-612510923480}" presName="thickLine" presStyleLbl="alignNode1" presStyleIdx="0" presStyleCnt="6"/>
      <dgm:spPr/>
    </dgm:pt>
    <dgm:pt modelId="{33BF6B01-8E4F-4C88-83E4-575E7085FABC}" type="pres">
      <dgm:prSet presAssocID="{86B3CDD3-516B-4F63-B9A0-612510923480}" presName="horz1" presStyleCnt="0"/>
      <dgm:spPr/>
    </dgm:pt>
    <dgm:pt modelId="{81032FAE-84EC-4AB2-98E9-FC4257E4FC88}" type="pres">
      <dgm:prSet presAssocID="{86B3CDD3-516B-4F63-B9A0-612510923480}" presName="tx1" presStyleLbl="revTx" presStyleIdx="0" presStyleCnt="6"/>
      <dgm:spPr/>
    </dgm:pt>
    <dgm:pt modelId="{00EE744B-3B68-4021-A1E6-B70F11504D38}" type="pres">
      <dgm:prSet presAssocID="{86B3CDD3-516B-4F63-B9A0-612510923480}" presName="vert1" presStyleCnt="0"/>
      <dgm:spPr/>
    </dgm:pt>
    <dgm:pt modelId="{D8C8BF5F-A665-413E-8700-DA40B480F9E3}" type="pres">
      <dgm:prSet presAssocID="{99E9E47B-1689-416C-B134-45A6EBB8F99A}" presName="thickLine" presStyleLbl="alignNode1" presStyleIdx="1" presStyleCnt="6"/>
      <dgm:spPr/>
    </dgm:pt>
    <dgm:pt modelId="{B0C20869-AABB-4766-B00D-528CB597ED61}" type="pres">
      <dgm:prSet presAssocID="{99E9E47B-1689-416C-B134-45A6EBB8F99A}" presName="horz1" presStyleCnt="0"/>
      <dgm:spPr/>
    </dgm:pt>
    <dgm:pt modelId="{D4CFA416-2998-4BD5-8290-E6FD54BCF370}" type="pres">
      <dgm:prSet presAssocID="{99E9E47B-1689-416C-B134-45A6EBB8F99A}" presName="tx1" presStyleLbl="revTx" presStyleIdx="1" presStyleCnt="6"/>
      <dgm:spPr/>
    </dgm:pt>
    <dgm:pt modelId="{CC323EB5-7E5D-44A3-9E9A-1B2592C6D2FF}" type="pres">
      <dgm:prSet presAssocID="{99E9E47B-1689-416C-B134-45A6EBB8F99A}" presName="vert1" presStyleCnt="0"/>
      <dgm:spPr/>
    </dgm:pt>
    <dgm:pt modelId="{040266D0-91A3-4CF1-90EB-D5BECCC829F2}" type="pres">
      <dgm:prSet presAssocID="{7BD2EE5F-D45A-4A7F-A6EC-DAC9539AED2D}" presName="thickLine" presStyleLbl="alignNode1" presStyleIdx="2" presStyleCnt="6"/>
      <dgm:spPr/>
    </dgm:pt>
    <dgm:pt modelId="{E862035A-7952-44A0-83B7-48F5C674C059}" type="pres">
      <dgm:prSet presAssocID="{7BD2EE5F-D45A-4A7F-A6EC-DAC9539AED2D}" presName="horz1" presStyleCnt="0"/>
      <dgm:spPr/>
    </dgm:pt>
    <dgm:pt modelId="{DC2A3E31-E539-4306-9579-C8001873C659}" type="pres">
      <dgm:prSet presAssocID="{7BD2EE5F-D45A-4A7F-A6EC-DAC9539AED2D}" presName="tx1" presStyleLbl="revTx" presStyleIdx="2" presStyleCnt="6"/>
      <dgm:spPr/>
    </dgm:pt>
    <dgm:pt modelId="{32430BCA-FE05-4799-976F-984A813E6B09}" type="pres">
      <dgm:prSet presAssocID="{7BD2EE5F-D45A-4A7F-A6EC-DAC9539AED2D}" presName="vert1" presStyleCnt="0"/>
      <dgm:spPr/>
    </dgm:pt>
    <dgm:pt modelId="{96F10A73-5452-4702-9919-F4BAB2BCF276}" type="pres">
      <dgm:prSet presAssocID="{596364FC-BC5F-4DF7-A1EA-1F1664B24B50}" presName="thickLine" presStyleLbl="alignNode1" presStyleIdx="3" presStyleCnt="6"/>
      <dgm:spPr/>
    </dgm:pt>
    <dgm:pt modelId="{2931F30F-ACE3-40D8-B82D-351B7F65BEC0}" type="pres">
      <dgm:prSet presAssocID="{596364FC-BC5F-4DF7-A1EA-1F1664B24B50}" presName="horz1" presStyleCnt="0"/>
      <dgm:spPr/>
    </dgm:pt>
    <dgm:pt modelId="{E2D5631E-9675-4D1C-A237-02F311E4D382}" type="pres">
      <dgm:prSet presAssocID="{596364FC-BC5F-4DF7-A1EA-1F1664B24B50}" presName="tx1" presStyleLbl="revTx" presStyleIdx="3" presStyleCnt="6"/>
      <dgm:spPr/>
    </dgm:pt>
    <dgm:pt modelId="{4B561647-31F1-4749-A385-170AD3A02532}" type="pres">
      <dgm:prSet presAssocID="{596364FC-BC5F-4DF7-A1EA-1F1664B24B50}" presName="vert1" presStyleCnt="0"/>
      <dgm:spPr/>
    </dgm:pt>
    <dgm:pt modelId="{3F1AC527-5DB0-44F3-AD1B-44565101D7CC}" type="pres">
      <dgm:prSet presAssocID="{D7F3DA56-FD31-4B2C-9659-7901A6172E16}" presName="thickLine" presStyleLbl="alignNode1" presStyleIdx="4" presStyleCnt="6"/>
      <dgm:spPr/>
    </dgm:pt>
    <dgm:pt modelId="{ABED3687-E50A-4D56-8136-6C0F03AD65A2}" type="pres">
      <dgm:prSet presAssocID="{D7F3DA56-FD31-4B2C-9659-7901A6172E16}" presName="horz1" presStyleCnt="0"/>
      <dgm:spPr/>
    </dgm:pt>
    <dgm:pt modelId="{8F7CA7ED-7974-4722-8577-D8F094C1BF4F}" type="pres">
      <dgm:prSet presAssocID="{D7F3DA56-FD31-4B2C-9659-7901A6172E16}" presName="tx1" presStyleLbl="revTx" presStyleIdx="4" presStyleCnt="6"/>
      <dgm:spPr/>
    </dgm:pt>
    <dgm:pt modelId="{0EB5E76C-BF4B-40E7-B95B-38D0639F2B0E}" type="pres">
      <dgm:prSet presAssocID="{D7F3DA56-FD31-4B2C-9659-7901A6172E16}" presName="vert1" presStyleCnt="0"/>
      <dgm:spPr/>
    </dgm:pt>
    <dgm:pt modelId="{D1D61C76-6105-4823-A310-F09E745BA63E}" type="pres">
      <dgm:prSet presAssocID="{3C4FD4D7-4845-4688-9BA6-56DB780B449A}" presName="thickLine" presStyleLbl="alignNode1" presStyleIdx="5" presStyleCnt="6"/>
      <dgm:spPr/>
    </dgm:pt>
    <dgm:pt modelId="{F2078DE9-863C-4051-9BAA-80C8D6524376}" type="pres">
      <dgm:prSet presAssocID="{3C4FD4D7-4845-4688-9BA6-56DB780B449A}" presName="horz1" presStyleCnt="0"/>
      <dgm:spPr/>
    </dgm:pt>
    <dgm:pt modelId="{94D88B4A-70EE-46B8-9C0A-DEDC54AA0E8D}" type="pres">
      <dgm:prSet presAssocID="{3C4FD4D7-4845-4688-9BA6-56DB780B449A}" presName="tx1" presStyleLbl="revTx" presStyleIdx="5" presStyleCnt="6"/>
      <dgm:spPr/>
    </dgm:pt>
    <dgm:pt modelId="{CE5CB830-DA81-4479-8CA8-F2F79E9EB6BC}" type="pres">
      <dgm:prSet presAssocID="{3C4FD4D7-4845-4688-9BA6-56DB780B449A}" presName="vert1" presStyleCnt="0"/>
      <dgm:spPr/>
    </dgm:pt>
  </dgm:ptLst>
  <dgm:cxnLst>
    <dgm:cxn modelId="{F0F34400-76E1-4CD8-B65B-C22D836935BE}" type="presOf" srcId="{99E9E47B-1689-416C-B134-45A6EBB8F99A}" destId="{D4CFA416-2998-4BD5-8290-E6FD54BCF370}" srcOrd="0" destOrd="0" presId="urn:microsoft.com/office/officeart/2008/layout/LinedList"/>
    <dgm:cxn modelId="{A2094C21-E9B7-4DB8-AFF3-AA4BCAD5D99A}" type="presOf" srcId="{D7F3DA56-FD31-4B2C-9659-7901A6172E16}" destId="{8F7CA7ED-7974-4722-8577-D8F094C1BF4F}" srcOrd="0" destOrd="0" presId="urn:microsoft.com/office/officeart/2008/layout/LinedList"/>
    <dgm:cxn modelId="{8E601F27-6705-4CC7-82EF-7FE99C97E780}" type="presOf" srcId="{596364FC-BC5F-4DF7-A1EA-1F1664B24B50}" destId="{E2D5631E-9675-4D1C-A237-02F311E4D382}" srcOrd="0" destOrd="0" presId="urn:microsoft.com/office/officeart/2008/layout/LinedList"/>
    <dgm:cxn modelId="{F2963832-57EE-4790-8C6E-94C35C4FD360}" srcId="{7767EA62-7794-41EC-9BF3-7B1A41F4DBCC}" destId="{99E9E47B-1689-416C-B134-45A6EBB8F99A}" srcOrd="1" destOrd="0" parTransId="{0E1BCABD-E348-4DC3-98A6-6AA6021EC2FB}" sibTransId="{C6C7701C-053E-46C6-BE22-322B31FEB126}"/>
    <dgm:cxn modelId="{188F1E3A-5BF8-4F3C-BCCB-AAF5CB8A6509}" srcId="{7767EA62-7794-41EC-9BF3-7B1A41F4DBCC}" destId="{86B3CDD3-516B-4F63-B9A0-612510923480}" srcOrd="0" destOrd="0" parTransId="{A39302A3-9200-4B2F-A25A-90DD406E8EFA}" sibTransId="{42BC55D7-CFE3-49EE-9CB7-65764151E6A0}"/>
    <dgm:cxn modelId="{0414433C-89A4-40FF-B487-38C5BCD90268}" srcId="{7767EA62-7794-41EC-9BF3-7B1A41F4DBCC}" destId="{3C4FD4D7-4845-4688-9BA6-56DB780B449A}" srcOrd="5" destOrd="0" parTransId="{8FD438ED-645B-4218-8286-2FB002E57122}" sibTransId="{CF0A0DF9-9011-49DC-9E63-58DEB87B3E39}"/>
    <dgm:cxn modelId="{11126B4E-EDD6-4FCB-AD35-B37BB681D25D}" type="presOf" srcId="{7BD2EE5F-D45A-4A7F-A6EC-DAC9539AED2D}" destId="{DC2A3E31-E539-4306-9579-C8001873C659}" srcOrd="0" destOrd="0" presId="urn:microsoft.com/office/officeart/2008/layout/LinedList"/>
    <dgm:cxn modelId="{8B58A558-A8F8-45C7-80E7-013050F13466}" type="presOf" srcId="{7767EA62-7794-41EC-9BF3-7B1A41F4DBCC}" destId="{99181621-7195-4EF1-A747-C5E740480E22}" srcOrd="0" destOrd="0" presId="urn:microsoft.com/office/officeart/2008/layout/LinedList"/>
    <dgm:cxn modelId="{439D9891-1E38-468A-8CDB-0A24AF29CC3A}" type="presOf" srcId="{86B3CDD3-516B-4F63-B9A0-612510923480}" destId="{81032FAE-84EC-4AB2-98E9-FC4257E4FC88}" srcOrd="0" destOrd="0" presId="urn:microsoft.com/office/officeart/2008/layout/LinedList"/>
    <dgm:cxn modelId="{2BA594AD-4AC3-4AA5-BC6B-3EAFEFFD6E9C}" srcId="{7767EA62-7794-41EC-9BF3-7B1A41F4DBCC}" destId="{D7F3DA56-FD31-4B2C-9659-7901A6172E16}" srcOrd="4" destOrd="0" parTransId="{3234F8F6-1A64-4184-9780-D378FA850C76}" sibTransId="{7D885A45-6456-41F2-B329-A1960D849998}"/>
    <dgm:cxn modelId="{7E5EF1CC-203A-4986-B223-02C8219D55AB}" srcId="{7767EA62-7794-41EC-9BF3-7B1A41F4DBCC}" destId="{7BD2EE5F-D45A-4A7F-A6EC-DAC9539AED2D}" srcOrd="2" destOrd="0" parTransId="{9FFBC00F-F3AE-4BF1-B4F8-3237C764A127}" sibTransId="{B4691B63-13FF-4F8E-A6B7-40342F82D88C}"/>
    <dgm:cxn modelId="{BE5418E4-6841-46E6-A0FE-70CF8E1A4698}" srcId="{7767EA62-7794-41EC-9BF3-7B1A41F4DBCC}" destId="{596364FC-BC5F-4DF7-A1EA-1F1664B24B50}" srcOrd="3" destOrd="0" parTransId="{8336CE97-04A5-4856-9A3E-D5825794DE2F}" sibTransId="{34E1D955-5155-4BE7-911A-CC9ED75E44D7}"/>
    <dgm:cxn modelId="{205EFCE5-620F-459D-AD73-284218F40720}" type="presOf" srcId="{3C4FD4D7-4845-4688-9BA6-56DB780B449A}" destId="{94D88B4A-70EE-46B8-9C0A-DEDC54AA0E8D}" srcOrd="0" destOrd="0" presId="urn:microsoft.com/office/officeart/2008/layout/LinedList"/>
    <dgm:cxn modelId="{85548F37-87B5-4684-801D-B5D76A23AC72}" type="presParOf" srcId="{99181621-7195-4EF1-A747-C5E740480E22}" destId="{DF224886-1F05-4D63-9063-CCE52022EFE6}" srcOrd="0" destOrd="0" presId="urn:microsoft.com/office/officeart/2008/layout/LinedList"/>
    <dgm:cxn modelId="{7A4D82C7-27BA-4583-BA32-B88154B09F44}" type="presParOf" srcId="{99181621-7195-4EF1-A747-C5E740480E22}" destId="{33BF6B01-8E4F-4C88-83E4-575E7085FABC}" srcOrd="1" destOrd="0" presId="urn:microsoft.com/office/officeart/2008/layout/LinedList"/>
    <dgm:cxn modelId="{6B097E92-836D-4637-8C2B-87E87EB1B322}" type="presParOf" srcId="{33BF6B01-8E4F-4C88-83E4-575E7085FABC}" destId="{81032FAE-84EC-4AB2-98E9-FC4257E4FC88}" srcOrd="0" destOrd="0" presId="urn:microsoft.com/office/officeart/2008/layout/LinedList"/>
    <dgm:cxn modelId="{3D8B34FC-E60F-46D3-A408-811F826A4CC2}" type="presParOf" srcId="{33BF6B01-8E4F-4C88-83E4-575E7085FABC}" destId="{00EE744B-3B68-4021-A1E6-B70F11504D38}" srcOrd="1" destOrd="0" presId="urn:microsoft.com/office/officeart/2008/layout/LinedList"/>
    <dgm:cxn modelId="{BBF6B2E5-091A-491E-A1EA-B70445FFF347}" type="presParOf" srcId="{99181621-7195-4EF1-A747-C5E740480E22}" destId="{D8C8BF5F-A665-413E-8700-DA40B480F9E3}" srcOrd="2" destOrd="0" presId="urn:microsoft.com/office/officeart/2008/layout/LinedList"/>
    <dgm:cxn modelId="{6517AF7A-286E-4E4A-B0B5-B7902E7A71C8}" type="presParOf" srcId="{99181621-7195-4EF1-A747-C5E740480E22}" destId="{B0C20869-AABB-4766-B00D-528CB597ED61}" srcOrd="3" destOrd="0" presId="urn:microsoft.com/office/officeart/2008/layout/LinedList"/>
    <dgm:cxn modelId="{8D378A8E-58CA-4DF1-B007-E0A2DD6EC3BA}" type="presParOf" srcId="{B0C20869-AABB-4766-B00D-528CB597ED61}" destId="{D4CFA416-2998-4BD5-8290-E6FD54BCF370}" srcOrd="0" destOrd="0" presId="urn:microsoft.com/office/officeart/2008/layout/LinedList"/>
    <dgm:cxn modelId="{B37D163C-BEA7-44DD-8F1E-4DFE243ADB2A}" type="presParOf" srcId="{B0C20869-AABB-4766-B00D-528CB597ED61}" destId="{CC323EB5-7E5D-44A3-9E9A-1B2592C6D2FF}" srcOrd="1" destOrd="0" presId="urn:microsoft.com/office/officeart/2008/layout/LinedList"/>
    <dgm:cxn modelId="{3928D68A-2919-4DBC-ACF5-1DB0A846B5FE}" type="presParOf" srcId="{99181621-7195-4EF1-A747-C5E740480E22}" destId="{040266D0-91A3-4CF1-90EB-D5BECCC829F2}" srcOrd="4" destOrd="0" presId="urn:microsoft.com/office/officeart/2008/layout/LinedList"/>
    <dgm:cxn modelId="{6D690B91-1DCA-4913-AC9B-BCE8B3081F1B}" type="presParOf" srcId="{99181621-7195-4EF1-A747-C5E740480E22}" destId="{E862035A-7952-44A0-83B7-48F5C674C059}" srcOrd="5" destOrd="0" presId="urn:microsoft.com/office/officeart/2008/layout/LinedList"/>
    <dgm:cxn modelId="{4589E3A9-70F0-4F42-93DD-D1AD6F54B837}" type="presParOf" srcId="{E862035A-7952-44A0-83B7-48F5C674C059}" destId="{DC2A3E31-E539-4306-9579-C8001873C659}" srcOrd="0" destOrd="0" presId="urn:microsoft.com/office/officeart/2008/layout/LinedList"/>
    <dgm:cxn modelId="{0FDBFEA6-C92A-444D-9AE9-5B86F08CA6AF}" type="presParOf" srcId="{E862035A-7952-44A0-83B7-48F5C674C059}" destId="{32430BCA-FE05-4799-976F-984A813E6B09}" srcOrd="1" destOrd="0" presId="urn:microsoft.com/office/officeart/2008/layout/LinedList"/>
    <dgm:cxn modelId="{F68A3742-F6FD-43A6-8584-D205E5DD1E74}" type="presParOf" srcId="{99181621-7195-4EF1-A747-C5E740480E22}" destId="{96F10A73-5452-4702-9919-F4BAB2BCF276}" srcOrd="6" destOrd="0" presId="urn:microsoft.com/office/officeart/2008/layout/LinedList"/>
    <dgm:cxn modelId="{176D2769-F9FB-4764-8894-E694023DEE63}" type="presParOf" srcId="{99181621-7195-4EF1-A747-C5E740480E22}" destId="{2931F30F-ACE3-40D8-B82D-351B7F65BEC0}" srcOrd="7" destOrd="0" presId="urn:microsoft.com/office/officeart/2008/layout/LinedList"/>
    <dgm:cxn modelId="{687EBC88-3C92-45D2-AD2E-B271459B6903}" type="presParOf" srcId="{2931F30F-ACE3-40D8-B82D-351B7F65BEC0}" destId="{E2D5631E-9675-4D1C-A237-02F311E4D382}" srcOrd="0" destOrd="0" presId="urn:microsoft.com/office/officeart/2008/layout/LinedList"/>
    <dgm:cxn modelId="{C9070E74-D7FD-4627-8BFA-A005258BD07F}" type="presParOf" srcId="{2931F30F-ACE3-40D8-B82D-351B7F65BEC0}" destId="{4B561647-31F1-4749-A385-170AD3A02532}" srcOrd="1" destOrd="0" presId="urn:microsoft.com/office/officeart/2008/layout/LinedList"/>
    <dgm:cxn modelId="{79F0794C-E51F-4BCB-AEE9-1F565DEE7BB4}" type="presParOf" srcId="{99181621-7195-4EF1-A747-C5E740480E22}" destId="{3F1AC527-5DB0-44F3-AD1B-44565101D7CC}" srcOrd="8" destOrd="0" presId="urn:microsoft.com/office/officeart/2008/layout/LinedList"/>
    <dgm:cxn modelId="{7CEE75B9-B2C6-49F3-95F7-7E10E5EF140A}" type="presParOf" srcId="{99181621-7195-4EF1-A747-C5E740480E22}" destId="{ABED3687-E50A-4D56-8136-6C0F03AD65A2}" srcOrd="9" destOrd="0" presId="urn:microsoft.com/office/officeart/2008/layout/LinedList"/>
    <dgm:cxn modelId="{A8207FB0-6923-4F84-8E13-2A09E45DDBED}" type="presParOf" srcId="{ABED3687-E50A-4D56-8136-6C0F03AD65A2}" destId="{8F7CA7ED-7974-4722-8577-D8F094C1BF4F}" srcOrd="0" destOrd="0" presId="urn:microsoft.com/office/officeart/2008/layout/LinedList"/>
    <dgm:cxn modelId="{155FD51D-C107-4147-9130-7A3CA2367CD3}" type="presParOf" srcId="{ABED3687-E50A-4D56-8136-6C0F03AD65A2}" destId="{0EB5E76C-BF4B-40E7-B95B-38D0639F2B0E}" srcOrd="1" destOrd="0" presId="urn:microsoft.com/office/officeart/2008/layout/LinedList"/>
    <dgm:cxn modelId="{044B1FAB-73DF-4215-A77A-29E931752A18}" type="presParOf" srcId="{99181621-7195-4EF1-A747-C5E740480E22}" destId="{D1D61C76-6105-4823-A310-F09E745BA63E}" srcOrd="10" destOrd="0" presId="urn:microsoft.com/office/officeart/2008/layout/LinedList"/>
    <dgm:cxn modelId="{83C89FF1-352F-45E4-81D1-88D99BC02A96}" type="presParOf" srcId="{99181621-7195-4EF1-A747-C5E740480E22}" destId="{F2078DE9-863C-4051-9BAA-80C8D6524376}" srcOrd="11" destOrd="0" presId="urn:microsoft.com/office/officeart/2008/layout/LinedList"/>
    <dgm:cxn modelId="{D94E4E51-54A9-4F9D-97B8-C295AAE018F1}" type="presParOf" srcId="{F2078DE9-863C-4051-9BAA-80C8D6524376}" destId="{94D88B4A-70EE-46B8-9C0A-DEDC54AA0E8D}" srcOrd="0" destOrd="0" presId="urn:microsoft.com/office/officeart/2008/layout/LinedList"/>
    <dgm:cxn modelId="{8C29503B-F978-4816-B763-0EE46A8C5EBA}" type="presParOf" srcId="{F2078DE9-863C-4051-9BAA-80C8D6524376}" destId="{CE5CB830-DA81-4479-8CA8-F2F79E9EB6BC}"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17AE79-C535-4914-BC34-7C8F92514AA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GB"/>
        </a:p>
      </dgm:t>
    </dgm:pt>
    <dgm:pt modelId="{34C68931-3004-4ED5-B819-5D6BE3C03B3F}">
      <dgm:prSet phldrT="[Text]" phldr="0"/>
      <dgm:spPr/>
      <dgm:t>
        <a:bodyPr/>
        <a:lstStyle/>
        <a:p>
          <a:r>
            <a:rPr lang="en-GB" dirty="0"/>
            <a:t>Multiple Source Systems</a:t>
          </a:r>
        </a:p>
      </dgm:t>
    </dgm:pt>
    <dgm:pt modelId="{22BD5D18-A6DD-4B8C-B2D3-789FF427C276}" type="parTrans" cxnId="{2F977E2D-7130-4FD0-A9D2-5D0D8C495D3C}">
      <dgm:prSet/>
      <dgm:spPr/>
      <dgm:t>
        <a:bodyPr/>
        <a:lstStyle/>
        <a:p>
          <a:endParaRPr lang="en-GB"/>
        </a:p>
      </dgm:t>
    </dgm:pt>
    <dgm:pt modelId="{E62F5C9A-B6FB-4ED8-B09D-A132C7126C86}" type="sibTrans" cxnId="{2F977E2D-7130-4FD0-A9D2-5D0D8C495D3C}">
      <dgm:prSet/>
      <dgm:spPr/>
      <dgm:t>
        <a:bodyPr/>
        <a:lstStyle/>
        <a:p>
          <a:endParaRPr lang="en-GB"/>
        </a:p>
      </dgm:t>
    </dgm:pt>
    <dgm:pt modelId="{3AB91D44-2A68-4B65-899F-D566EEA1E812}">
      <dgm:prSet phldrT="[Text]" phldr="0"/>
      <dgm:spPr/>
      <dgm:t>
        <a:bodyPr/>
        <a:lstStyle/>
        <a:p>
          <a:r>
            <a:rPr lang="en-GB" dirty="0"/>
            <a:t>Integrated Data Repository</a:t>
          </a:r>
        </a:p>
      </dgm:t>
    </dgm:pt>
    <dgm:pt modelId="{3CF32078-E9A4-4DFB-A877-633D504CE245}" type="parTrans" cxnId="{0FAF0B94-CC59-41A6-8CFC-EDD019C0EAA2}">
      <dgm:prSet/>
      <dgm:spPr/>
      <dgm:t>
        <a:bodyPr/>
        <a:lstStyle/>
        <a:p>
          <a:endParaRPr lang="en-GB"/>
        </a:p>
      </dgm:t>
    </dgm:pt>
    <dgm:pt modelId="{DAB28287-C708-4BE2-AA42-732C0611F007}" type="sibTrans" cxnId="{0FAF0B94-CC59-41A6-8CFC-EDD019C0EAA2}">
      <dgm:prSet/>
      <dgm:spPr/>
      <dgm:t>
        <a:bodyPr/>
        <a:lstStyle/>
        <a:p>
          <a:endParaRPr lang="en-GB"/>
        </a:p>
      </dgm:t>
    </dgm:pt>
    <dgm:pt modelId="{D0137FD2-5F31-4A60-A08C-B7B508E9F131}">
      <dgm:prSet phldrT="[Text]" phldr="0"/>
      <dgm:spPr/>
      <dgm:t>
        <a:bodyPr/>
        <a:lstStyle/>
        <a:p>
          <a:r>
            <a:rPr lang="en-GB" dirty="0"/>
            <a:t>Decision Support Dashboard</a:t>
          </a:r>
        </a:p>
      </dgm:t>
    </dgm:pt>
    <dgm:pt modelId="{035B7853-2A59-433F-8E71-DA959960EFFF}" type="parTrans" cxnId="{9F332993-0A77-494D-8C94-069453AD0708}">
      <dgm:prSet/>
      <dgm:spPr/>
      <dgm:t>
        <a:bodyPr/>
        <a:lstStyle/>
        <a:p>
          <a:endParaRPr lang="en-GB"/>
        </a:p>
      </dgm:t>
    </dgm:pt>
    <dgm:pt modelId="{261AD1E2-0842-4784-BEB0-9780490CCAB0}" type="sibTrans" cxnId="{9F332993-0A77-494D-8C94-069453AD0708}">
      <dgm:prSet/>
      <dgm:spPr/>
      <dgm:t>
        <a:bodyPr/>
        <a:lstStyle/>
        <a:p>
          <a:endParaRPr lang="en-GB"/>
        </a:p>
      </dgm:t>
    </dgm:pt>
    <dgm:pt modelId="{7430A02F-4871-43B0-9B26-C42E176E2542}" type="pres">
      <dgm:prSet presAssocID="{2B17AE79-C535-4914-BC34-7C8F92514AA9}" presName="Name0" presStyleCnt="0">
        <dgm:presLayoutVars>
          <dgm:dir/>
          <dgm:resizeHandles val="exact"/>
        </dgm:presLayoutVars>
      </dgm:prSet>
      <dgm:spPr/>
    </dgm:pt>
    <dgm:pt modelId="{1D8CF3E9-01A4-47FA-A64B-9B51923E8699}" type="pres">
      <dgm:prSet presAssocID="{34C68931-3004-4ED5-B819-5D6BE3C03B3F}" presName="node" presStyleLbl="node1" presStyleIdx="0" presStyleCnt="3">
        <dgm:presLayoutVars>
          <dgm:bulletEnabled val="1"/>
        </dgm:presLayoutVars>
      </dgm:prSet>
      <dgm:spPr/>
    </dgm:pt>
    <dgm:pt modelId="{D3A922DF-7CEE-430C-87DA-E6A9CBD82A9B}" type="pres">
      <dgm:prSet presAssocID="{E62F5C9A-B6FB-4ED8-B09D-A132C7126C86}" presName="sibTrans" presStyleLbl="sibTrans2D1" presStyleIdx="0" presStyleCnt="2"/>
      <dgm:spPr/>
    </dgm:pt>
    <dgm:pt modelId="{5F7AB415-9665-4001-8744-A762DF141A32}" type="pres">
      <dgm:prSet presAssocID="{E62F5C9A-B6FB-4ED8-B09D-A132C7126C86}" presName="connectorText" presStyleLbl="sibTrans2D1" presStyleIdx="0" presStyleCnt="2"/>
      <dgm:spPr/>
    </dgm:pt>
    <dgm:pt modelId="{D8A7C8A7-CB5B-40D1-A405-B25D462C0E33}" type="pres">
      <dgm:prSet presAssocID="{3AB91D44-2A68-4B65-899F-D566EEA1E812}" presName="node" presStyleLbl="node1" presStyleIdx="1" presStyleCnt="3">
        <dgm:presLayoutVars>
          <dgm:bulletEnabled val="1"/>
        </dgm:presLayoutVars>
      </dgm:prSet>
      <dgm:spPr/>
    </dgm:pt>
    <dgm:pt modelId="{A2EFA103-7CFA-4796-8348-9F59C3F452E2}" type="pres">
      <dgm:prSet presAssocID="{DAB28287-C708-4BE2-AA42-732C0611F007}" presName="sibTrans" presStyleLbl="sibTrans2D1" presStyleIdx="1" presStyleCnt="2"/>
      <dgm:spPr/>
    </dgm:pt>
    <dgm:pt modelId="{630317C9-677E-4B44-B096-35E5459EC872}" type="pres">
      <dgm:prSet presAssocID="{DAB28287-C708-4BE2-AA42-732C0611F007}" presName="connectorText" presStyleLbl="sibTrans2D1" presStyleIdx="1" presStyleCnt="2"/>
      <dgm:spPr/>
    </dgm:pt>
    <dgm:pt modelId="{E8D91DA6-19A5-494B-AF7D-933E6101D738}" type="pres">
      <dgm:prSet presAssocID="{D0137FD2-5F31-4A60-A08C-B7B508E9F131}" presName="node" presStyleLbl="node1" presStyleIdx="2" presStyleCnt="3">
        <dgm:presLayoutVars>
          <dgm:bulletEnabled val="1"/>
        </dgm:presLayoutVars>
      </dgm:prSet>
      <dgm:spPr/>
    </dgm:pt>
  </dgm:ptLst>
  <dgm:cxnLst>
    <dgm:cxn modelId="{6629530C-2AF2-44A2-AFF9-5ACCC60D2A47}" type="presOf" srcId="{E62F5C9A-B6FB-4ED8-B09D-A132C7126C86}" destId="{5F7AB415-9665-4001-8744-A762DF141A32}" srcOrd="1" destOrd="0" presId="urn:microsoft.com/office/officeart/2005/8/layout/process1"/>
    <dgm:cxn modelId="{7DB5EB13-4E57-41A0-BB54-2CE7EA2F9417}" type="presOf" srcId="{DAB28287-C708-4BE2-AA42-732C0611F007}" destId="{630317C9-677E-4B44-B096-35E5459EC872}" srcOrd="1" destOrd="0" presId="urn:microsoft.com/office/officeart/2005/8/layout/process1"/>
    <dgm:cxn modelId="{2F977E2D-7130-4FD0-A9D2-5D0D8C495D3C}" srcId="{2B17AE79-C535-4914-BC34-7C8F92514AA9}" destId="{34C68931-3004-4ED5-B819-5D6BE3C03B3F}" srcOrd="0" destOrd="0" parTransId="{22BD5D18-A6DD-4B8C-B2D3-789FF427C276}" sibTransId="{E62F5C9A-B6FB-4ED8-B09D-A132C7126C86}"/>
    <dgm:cxn modelId="{8B341D5C-195F-46C3-A7E9-15753E7D3FB5}" type="presOf" srcId="{34C68931-3004-4ED5-B819-5D6BE3C03B3F}" destId="{1D8CF3E9-01A4-47FA-A64B-9B51923E8699}" srcOrd="0" destOrd="0" presId="urn:microsoft.com/office/officeart/2005/8/layout/process1"/>
    <dgm:cxn modelId="{D896166D-D26B-4F88-9D5A-AA713461456D}" type="presOf" srcId="{D0137FD2-5F31-4A60-A08C-B7B508E9F131}" destId="{E8D91DA6-19A5-494B-AF7D-933E6101D738}" srcOrd="0" destOrd="0" presId="urn:microsoft.com/office/officeart/2005/8/layout/process1"/>
    <dgm:cxn modelId="{59EB8855-683E-4EA3-ACB9-80F2492F464F}" type="presOf" srcId="{2B17AE79-C535-4914-BC34-7C8F92514AA9}" destId="{7430A02F-4871-43B0-9B26-C42E176E2542}" srcOrd="0" destOrd="0" presId="urn:microsoft.com/office/officeart/2005/8/layout/process1"/>
    <dgm:cxn modelId="{E3433C7D-A687-4D98-9008-DFC789ABB459}" type="presOf" srcId="{E62F5C9A-B6FB-4ED8-B09D-A132C7126C86}" destId="{D3A922DF-7CEE-430C-87DA-E6A9CBD82A9B}" srcOrd="0" destOrd="0" presId="urn:microsoft.com/office/officeart/2005/8/layout/process1"/>
    <dgm:cxn modelId="{9F332993-0A77-494D-8C94-069453AD0708}" srcId="{2B17AE79-C535-4914-BC34-7C8F92514AA9}" destId="{D0137FD2-5F31-4A60-A08C-B7B508E9F131}" srcOrd="2" destOrd="0" parTransId="{035B7853-2A59-433F-8E71-DA959960EFFF}" sibTransId="{261AD1E2-0842-4784-BEB0-9780490CCAB0}"/>
    <dgm:cxn modelId="{0FAF0B94-CC59-41A6-8CFC-EDD019C0EAA2}" srcId="{2B17AE79-C535-4914-BC34-7C8F92514AA9}" destId="{3AB91D44-2A68-4B65-899F-D566EEA1E812}" srcOrd="1" destOrd="0" parTransId="{3CF32078-E9A4-4DFB-A877-633D504CE245}" sibTransId="{DAB28287-C708-4BE2-AA42-732C0611F007}"/>
    <dgm:cxn modelId="{9D2587C2-45F7-45C4-AB90-C2BB1A00A7EE}" type="presOf" srcId="{DAB28287-C708-4BE2-AA42-732C0611F007}" destId="{A2EFA103-7CFA-4796-8348-9F59C3F452E2}" srcOrd="0" destOrd="0" presId="urn:microsoft.com/office/officeart/2005/8/layout/process1"/>
    <dgm:cxn modelId="{351468C9-12A0-4491-9FDF-8195AD527E9F}" type="presOf" srcId="{3AB91D44-2A68-4B65-899F-D566EEA1E812}" destId="{D8A7C8A7-CB5B-40D1-A405-B25D462C0E33}" srcOrd="0" destOrd="0" presId="urn:microsoft.com/office/officeart/2005/8/layout/process1"/>
    <dgm:cxn modelId="{8F471571-5C97-43E2-A894-F7CC1683BBF2}" type="presParOf" srcId="{7430A02F-4871-43B0-9B26-C42E176E2542}" destId="{1D8CF3E9-01A4-47FA-A64B-9B51923E8699}" srcOrd="0" destOrd="0" presId="urn:microsoft.com/office/officeart/2005/8/layout/process1"/>
    <dgm:cxn modelId="{BC262E8F-D139-4ED6-AE64-EEFF0F54CA7E}" type="presParOf" srcId="{7430A02F-4871-43B0-9B26-C42E176E2542}" destId="{D3A922DF-7CEE-430C-87DA-E6A9CBD82A9B}" srcOrd="1" destOrd="0" presId="urn:microsoft.com/office/officeart/2005/8/layout/process1"/>
    <dgm:cxn modelId="{CF3E0DA8-B557-4CB9-9BFF-523C66E38C3F}" type="presParOf" srcId="{D3A922DF-7CEE-430C-87DA-E6A9CBD82A9B}" destId="{5F7AB415-9665-4001-8744-A762DF141A32}" srcOrd="0" destOrd="0" presId="urn:microsoft.com/office/officeart/2005/8/layout/process1"/>
    <dgm:cxn modelId="{4A889210-5D01-46A2-AEC8-508CD930E6E0}" type="presParOf" srcId="{7430A02F-4871-43B0-9B26-C42E176E2542}" destId="{D8A7C8A7-CB5B-40D1-A405-B25D462C0E33}" srcOrd="2" destOrd="0" presId="urn:microsoft.com/office/officeart/2005/8/layout/process1"/>
    <dgm:cxn modelId="{B9EEC9B3-7F01-467E-AD6B-6AEC43114FC1}" type="presParOf" srcId="{7430A02F-4871-43B0-9B26-C42E176E2542}" destId="{A2EFA103-7CFA-4796-8348-9F59C3F452E2}" srcOrd="3" destOrd="0" presId="urn:microsoft.com/office/officeart/2005/8/layout/process1"/>
    <dgm:cxn modelId="{6AC156D3-2649-4E87-BB8B-424AE8BB34DD}" type="presParOf" srcId="{A2EFA103-7CFA-4796-8348-9F59C3F452E2}" destId="{630317C9-677E-4B44-B096-35E5459EC872}" srcOrd="0" destOrd="0" presId="urn:microsoft.com/office/officeart/2005/8/layout/process1"/>
    <dgm:cxn modelId="{90A59FC8-C9CB-4F4A-91ED-472FB8F25587}" type="presParOf" srcId="{7430A02F-4871-43B0-9B26-C42E176E2542}" destId="{E8D91DA6-19A5-494B-AF7D-933E6101D738}"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D2F406-C573-4C3D-999D-7FD2EC539740}" type="doc">
      <dgm:prSet loTypeId="urn:microsoft.com/office/officeart/2016/7/layout/VerticalDownArrowProcess" loCatId="process" qsTypeId="urn:microsoft.com/office/officeart/2005/8/quickstyle/simple1" qsCatId="simple" csTypeId="urn:microsoft.com/office/officeart/2005/8/colors/colorful2" csCatId="colorful"/>
      <dgm:spPr/>
      <dgm:t>
        <a:bodyPr/>
        <a:lstStyle/>
        <a:p>
          <a:endParaRPr lang="en-US"/>
        </a:p>
      </dgm:t>
    </dgm:pt>
    <dgm:pt modelId="{97771A67-F717-433B-83BD-9CF140C3F6AE}">
      <dgm:prSet/>
      <dgm:spPr/>
      <dgm:t>
        <a:bodyPr/>
        <a:lstStyle/>
        <a:p>
          <a:r>
            <a:rPr lang="en-US" dirty="0"/>
            <a:t>Identify</a:t>
          </a:r>
        </a:p>
      </dgm:t>
    </dgm:pt>
    <dgm:pt modelId="{386C13EE-9C29-4C04-8BA4-CAB03D898CDF}" type="parTrans" cxnId="{A1BBE204-ACCC-483C-A4EE-336BFC5EDCC2}">
      <dgm:prSet/>
      <dgm:spPr/>
      <dgm:t>
        <a:bodyPr/>
        <a:lstStyle/>
        <a:p>
          <a:endParaRPr lang="en-US"/>
        </a:p>
      </dgm:t>
    </dgm:pt>
    <dgm:pt modelId="{DCB78F1D-DDA9-4D32-B3BE-145B173A6E54}" type="sibTrans" cxnId="{A1BBE204-ACCC-483C-A4EE-336BFC5EDCC2}">
      <dgm:prSet/>
      <dgm:spPr/>
      <dgm:t>
        <a:bodyPr/>
        <a:lstStyle/>
        <a:p>
          <a:endParaRPr lang="en-US"/>
        </a:p>
      </dgm:t>
    </dgm:pt>
    <dgm:pt modelId="{A5F4075F-9A7A-410A-ABEE-466C9CB5D245}">
      <dgm:prSet/>
      <dgm:spPr/>
      <dgm:t>
        <a:bodyPr/>
        <a:lstStyle/>
        <a:p>
          <a:r>
            <a:rPr lang="en-US"/>
            <a:t>Identify post-MDT delays</a:t>
          </a:r>
        </a:p>
      </dgm:t>
    </dgm:pt>
    <dgm:pt modelId="{6DEC5189-AEC8-400F-9452-15B39EFFA08D}" type="parTrans" cxnId="{1606A707-6D90-4F55-89D0-2BF87EA8A6E2}">
      <dgm:prSet/>
      <dgm:spPr/>
      <dgm:t>
        <a:bodyPr/>
        <a:lstStyle/>
        <a:p>
          <a:endParaRPr lang="en-US"/>
        </a:p>
      </dgm:t>
    </dgm:pt>
    <dgm:pt modelId="{D126A29C-010F-4328-96A1-410211B015B6}" type="sibTrans" cxnId="{1606A707-6D90-4F55-89D0-2BF87EA8A6E2}">
      <dgm:prSet/>
      <dgm:spPr/>
      <dgm:t>
        <a:bodyPr/>
        <a:lstStyle/>
        <a:p>
          <a:endParaRPr lang="en-US"/>
        </a:p>
      </dgm:t>
    </dgm:pt>
    <dgm:pt modelId="{0A353887-AA1A-4519-8FB4-236893A1A550}">
      <dgm:prSet/>
      <dgm:spPr/>
      <dgm:t>
        <a:bodyPr/>
        <a:lstStyle/>
        <a:p>
          <a:r>
            <a:rPr lang="en-US"/>
            <a:t>Analyse</a:t>
          </a:r>
        </a:p>
      </dgm:t>
    </dgm:pt>
    <dgm:pt modelId="{9D0E6531-B76A-4D2B-8088-1A04889C17B6}" type="parTrans" cxnId="{1C47D34F-A60C-4CC4-8D3A-DBBC4496491F}">
      <dgm:prSet/>
      <dgm:spPr/>
      <dgm:t>
        <a:bodyPr/>
        <a:lstStyle/>
        <a:p>
          <a:endParaRPr lang="en-US"/>
        </a:p>
      </dgm:t>
    </dgm:pt>
    <dgm:pt modelId="{B46A801C-F7DE-4149-9EB5-5C6C96064F51}" type="sibTrans" cxnId="{1C47D34F-A60C-4CC4-8D3A-DBBC4496491F}">
      <dgm:prSet/>
      <dgm:spPr/>
      <dgm:t>
        <a:bodyPr/>
        <a:lstStyle/>
        <a:p>
          <a:endParaRPr lang="en-US"/>
        </a:p>
      </dgm:t>
    </dgm:pt>
    <dgm:pt modelId="{541E0DD2-C62F-4F6B-8172-C9BF9922B88E}">
      <dgm:prSet/>
      <dgm:spPr/>
      <dgm:t>
        <a:bodyPr/>
        <a:lstStyle/>
        <a:p>
          <a:r>
            <a:rPr lang="en-US"/>
            <a:t>Analyse operational factors</a:t>
          </a:r>
        </a:p>
      </dgm:t>
    </dgm:pt>
    <dgm:pt modelId="{B4563643-B909-441A-994A-9177344636C6}" type="parTrans" cxnId="{D1AD5059-4C04-4992-9A06-12B2D358ED82}">
      <dgm:prSet/>
      <dgm:spPr/>
      <dgm:t>
        <a:bodyPr/>
        <a:lstStyle/>
        <a:p>
          <a:endParaRPr lang="en-US"/>
        </a:p>
      </dgm:t>
    </dgm:pt>
    <dgm:pt modelId="{98CA75A1-3C79-45BD-911C-6F55D9D6E3F7}" type="sibTrans" cxnId="{D1AD5059-4C04-4992-9A06-12B2D358ED82}">
      <dgm:prSet/>
      <dgm:spPr/>
      <dgm:t>
        <a:bodyPr/>
        <a:lstStyle/>
        <a:p>
          <a:endParaRPr lang="en-US"/>
        </a:p>
      </dgm:t>
    </dgm:pt>
    <dgm:pt modelId="{65331479-412F-43FB-8AF3-3BB7082D825C}">
      <dgm:prSet/>
      <dgm:spPr/>
      <dgm:t>
        <a:bodyPr/>
        <a:lstStyle/>
        <a:p>
          <a:r>
            <a:rPr lang="en-US"/>
            <a:t>Design</a:t>
          </a:r>
        </a:p>
      </dgm:t>
    </dgm:pt>
    <dgm:pt modelId="{FE7DBEA1-8448-4DCC-ACFF-6DA0868E6B71}" type="parTrans" cxnId="{288ABB9A-4035-4DA4-88EF-7BE97B9D6149}">
      <dgm:prSet/>
      <dgm:spPr/>
      <dgm:t>
        <a:bodyPr/>
        <a:lstStyle/>
        <a:p>
          <a:endParaRPr lang="en-US"/>
        </a:p>
      </dgm:t>
    </dgm:pt>
    <dgm:pt modelId="{3EE73C12-B6CF-4B3E-AC04-4A7966010EDE}" type="sibTrans" cxnId="{288ABB9A-4035-4DA4-88EF-7BE97B9D6149}">
      <dgm:prSet/>
      <dgm:spPr/>
      <dgm:t>
        <a:bodyPr/>
        <a:lstStyle/>
        <a:p>
          <a:endParaRPr lang="en-US"/>
        </a:p>
      </dgm:t>
    </dgm:pt>
    <dgm:pt modelId="{183F7EF7-91D2-4CDA-B70D-3B0F36F484D2}">
      <dgm:prSet/>
      <dgm:spPr/>
      <dgm:t>
        <a:bodyPr/>
        <a:lstStyle/>
        <a:p>
          <a:r>
            <a:rPr lang="en-US"/>
            <a:t>Design integrated data architecture</a:t>
          </a:r>
        </a:p>
      </dgm:t>
    </dgm:pt>
    <dgm:pt modelId="{B55A3CE2-39A8-4F7B-B470-A4257C330ABC}" type="parTrans" cxnId="{77FB2968-FDED-42A8-902C-F339B8E597FA}">
      <dgm:prSet/>
      <dgm:spPr/>
      <dgm:t>
        <a:bodyPr/>
        <a:lstStyle/>
        <a:p>
          <a:endParaRPr lang="en-US"/>
        </a:p>
      </dgm:t>
    </dgm:pt>
    <dgm:pt modelId="{83290AFE-CC15-4064-B18C-443C371B5ACC}" type="sibTrans" cxnId="{77FB2968-FDED-42A8-902C-F339B8E597FA}">
      <dgm:prSet/>
      <dgm:spPr/>
      <dgm:t>
        <a:bodyPr/>
        <a:lstStyle/>
        <a:p>
          <a:endParaRPr lang="en-US"/>
        </a:p>
      </dgm:t>
    </dgm:pt>
    <dgm:pt modelId="{48B4375C-A938-45A8-A421-532BC3F4B7C2}">
      <dgm:prSet/>
      <dgm:spPr/>
      <dgm:t>
        <a:bodyPr/>
        <a:lstStyle/>
        <a:p>
          <a:r>
            <a:rPr lang="en-US"/>
            <a:t>Build</a:t>
          </a:r>
        </a:p>
      </dgm:t>
    </dgm:pt>
    <dgm:pt modelId="{63CA2657-0D4C-4784-ADCD-0BEFFE7B1F8E}" type="parTrans" cxnId="{C5DC843A-81FA-4F35-BBB4-3D6EDCA8BDFA}">
      <dgm:prSet/>
      <dgm:spPr/>
      <dgm:t>
        <a:bodyPr/>
        <a:lstStyle/>
        <a:p>
          <a:endParaRPr lang="en-US"/>
        </a:p>
      </dgm:t>
    </dgm:pt>
    <dgm:pt modelId="{B1D8EB2B-2F13-4697-88FA-E8291C310312}" type="sibTrans" cxnId="{C5DC843A-81FA-4F35-BBB4-3D6EDCA8BDFA}">
      <dgm:prSet/>
      <dgm:spPr/>
      <dgm:t>
        <a:bodyPr/>
        <a:lstStyle/>
        <a:p>
          <a:endParaRPr lang="en-US"/>
        </a:p>
      </dgm:t>
    </dgm:pt>
    <dgm:pt modelId="{D631811B-42E5-4B58-8EFA-D17D77701C29}">
      <dgm:prSet/>
      <dgm:spPr/>
      <dgm:t>
        <a:bodyPr/>
        <a:lstStyle/>
        <a:p>
          <a:r>
            <a:rPr lang="en-US"/>
            <a:t>Build user-centred dashboards</a:t>
          </a:r>
        </a:p>
      </dgm:t>
    </dgm:pt>
    <dgm:pt modelId="{47454134-7A57-401D-BC0D-E0B7D28A031F}" type="parTrans" cxnId="{43CF2104-732C-4BD5-872D-7DC932957E1D}">
      <dgm:prSet/>
      <dgm:spPr/>
      <dgm:t>
        <a:bodyPr/>
        <a:lstStyle/>
        <a:p>
          <a:endParaRPr lang="en-US"/>
        </a:p>
      </dgm:t>
    </dgm:pt>
    <dgm:pt modelId="{FD199434-A9AD-4528-9137-D09A80843442}" type="sibTrans" cxnId="{43CF2104-732C-4BD5-872D-7DC932957E1D}">
      <dgm:prSet/>
      <dgm:spPr/>
      <dgm:t>
        <a:bodyPr/>
        <a:lstStyle/>
        <a:p>
          <a:endParaRPr lang="en-US"/>
        </a:p>
      </dgm:t>
    </dgm:pt>
    <dgm:pt modelId="{AF8F3710-3EC3-49CA-A7C1-91ED96465D0F}">
      <dgm:prSet/>
      <dgm:spPr/>
      <dgm:t>
        <a:bodyPr/>
        <a:lstStyle/>
        <a:p>
          <a:r>
            <a:rPr lang="en-US"/>
            <a:t>Evaluate</a:t>
          </a:r>
        </a:p>
      </dgm:t>
    </dgm:pt>
    <dgm:pt modelId="{A04CC2C0-7737-497E-8DF2-98F09B329580}" type="parTrans" cxnId="{3471100E-B948-4041-9BC5-C797123DF39E}">
      <dgm:prSet/>
      <dgm:spPr/>
      <dgm:t>
        <a:bodyPr/>
        <a:lstStyle/>
        <a:p>
          <a:endParaRPr lang="en-US"/>
        </a:p>
      </dgm:t>
    </dgm:pt>
    <dgm:pt modelId="{FDFDA964-E497-45B4-8363-E7E100039B71}" type="sibTrans" cxnId="{3471100E-B948-4041-9BC5-C797123DF39E}">
      <dgm:prSet/>
      <dgm:spPr/>
      <dgm:t>
        <a:bodyPr/>
        <a:lstStyle/>
        <a:p>
          <a:endParaRPr lang="en-US"/>
        </a:p>
      </dgm:t>
    </dgm:pt>
    <dgm:pt modelId="{1A6D82FC-5EFD-40C3-B922-66DBEC60EA8A}">
      <dgm:prSet/>
      <dgm:spPr/>
      <dgm:t>
        <a:bodyPr/>
        <a:lstStyle/>
        <a:p>
          <a:r>
            <a:rPr lang="en-US"/>
            <a:t>Evaluate usability &amp; utility</a:t>
          </a:r>
        </a:p>
      </dgm:t>
    </dgm:pt>
    <dgm:pt modelId="{55D3C0BE-4022-4E17-B68C-7C4E44F80F56}" type="parTrans" cxnId="{27A603C3-EA03-4BEE-9C41-AB392F064AC3}">
      <dgm:prSet/>
      <dgm:spPr/>
      <dgm:t>
        <a:bodyPr/>
        <a:lstStyle/>
        <a:p>
          <a:endParaRPr lang="en-US"/>
        </a:p>
      </dgm:t>
    </dgm:pt>
    <dgm:pt modelId="{B038C04A-E80B-45BC-8E27-3DF4AAE5D857}" type="sibTrans" cxnId="{27A603C3-EA03-4BEE-9C41-AB392F064AC3}">
      <dgm:prSet/>
      <dgm:spPr/>
      <dgm:t>
        <a:bodyPr/>
        <a:lstStyle/>
        <a:p>
          <a:endParaRPr lang="en-US"/>
        </a:p>
      </dgm:t>
    </dgm:pt>
    <dgm:pt modelId="{78D3841F-5BAA-44C8-B7C4-38F9F56F1DEE}">
      <dgm:prSet/>
      <dgm:spPr/>
      <dgm:t>
        <a:bodyPr/>
        <a:lstStyle/>
        <a:p>
          <a:r>
            <a:rPr lang="en-US"/>
            <a:t>Derive</a:t>
          </a:r>
        </a:p>
      </dgm:t>
    </dgm:pt>
    <dgm:pt modelId="{3AAFE865-EB86-4786-957A-82488A6AAE55}" type="parTrans" cxnId="{84439A6E-28A7-43F9-AB98-A9F9A2D9FD6D}">
      <dgm:prSet/>
      <dgm:spPr/>
      <dgm:t>
        <a:bodyPr/>
        <a:lstStyle/>
        <a:p>
          <a:endParaRPr lang="en-US"/>
        </a:p>
      </dgm:t>
    </dgm:pt>
    <dgm:pt modelId="{D8977DD1-86D5-4EB1-9A33-236CAF0BDA77}" type="sibTrans" cxnId="{84439A6E-28A7-43F9-AB98-A9F9A2D9FD6D}">
      <dgm:prSet/>
      <dgm:spPr/>
      <dgm:t>
        <a:bodyPr/>
        <a:lstStyle/>
        <a:p>
          <a:endParaRPr lang="en-US"/>
        </a:p>
      </dgm:t>
    </dgm:pt>
    <dgm:pt modelId="{6C14E0C0-69FB-4BC6-9FED-767EB10BC848}">
      <dgm:prSet/>
      <dgm:spPr/>
      <dgm:t>
        <a:bodyPr/>
        <a:lstStyle/>
        <a:p>
          <a:r>
            <a:rPr lang="en-US"/>
            <a:t>Derive design principles</a:t>
          </a:r>
        </a:p>
      </dgm:t>
    </dgm:pt>
    <dgm:pt modelId="{BAA913C9-159E-4361-9718-E8E5678BC8E3}" type="parTrans" cxnId="{900FB756-42C0-40BF-BDD2-5BF9EC267F7F}">
      <dgm:prSet/>
      <dgm:spPr/>
      <dgm:t>
        <a:bodyPr/>
        <a:lstStyle/>
        <a:p>
          <a:endParaRPr lang="en-US"/>
        </a:p>
      </dgm:t>
    </dgm:pt>
    <dgm:pt modelId="{2AC3E874-112B-47AA-BE48-32595BA7C215}" type="sibTrans" cxnId="{900FB756-42C0-40BF-BDD2-5BF9EC267F7F}">
      <dgm:prSet/>
      <dgm:spPr/>
      <dgm:t>
        <a:bodyPr/>
        <a:lstStyle/>
        <a:p>
          <a:endParaRPr lang="en-US"/>
        </a:p>
      </dgm:t>
    </dgm:pt>
    <dgm:pt modelId="{84C4748C-68E2-4079-9C33-7C3D26AD0F5E}" type="pres">
      <dgm:prSet presAssocID="{D1D2F406-C573-4C3D-999D-7FD2EC539740}" presName="Name0" presStyleCnt="0">
        <dgm:presLayoutVars>
          <dgm:dir/>
          <dgm:animLvl val="lvl"/>
          <dgm:resizeHandles val="exact"/>
        </dgm:presLayoutVars>
      </dgm:prSet>
      <dgm:spPr/>
    </dgm:pt>
    <dgm:pt modelId="{2EDB5DEF-F0E0-47B4-A466-A4EC91D0FF57}" type="pres">
      <dgm:prSet presAssocID="{78D3841F-5BAA-44C8-B7C4-38F9F56F1DEE}" presName="boxAndChildren" presStyleCnt="0"/>
      <dgm:spPr/>
    </dgm:pt>
    <dgm:pt modelId="{7CCDC2FA-6BC9-4D17-8C7B-D46BCA682B04}" type="pres">
      <dgm:prSet presAssocID="{78D3841F-5BAA-44C8-B7C4-38F9F56F1DEE}" presName="parentTextBox" presStyleLbl="alignNode1" presStyleIdx="0" presStyleCnt="6"/>
      <dgm:spPr/>
    </dgm:pt>
    <dgm:pt modelId="{62DFB027-55C0-4793-8889-5F3B59FD02F0}" type="pres">
      <dgm:prSet presAssocID="{78D3841F-5BAA-44C8-B7C4-38F9F56F1DEE}" presName="descendantBox" presStyleLbl="bgAccFollowNode1" presStyleIdx="0" presStyleCnt="6"/>
      <dgm:spPr/>
    </dgm:pt>
    <dgm:pt modelId="{30195508-E01D-4EF9-BF2A-6171D11EB1B5}" type="pres">
      <dgm:prSet presAssocID="{FDFDA964-E497-45B4-8363-E7E100039B71}" presName="sp" presStyleCnt="0"/>
      <dgm:spPr/>
    </dgm:pt>
    <dgm:pt modelId="{E4844444-D85A-40F6-8532-15D5F18548AA}" type="pres">
      <dgm:prSet presAssocID="{AF8F3710-3EC3-49CA-A7C1-91ED96465D0F}" presName="arrowAndChildren" presStyleCnt="0"/>
      <dgm:spPr/>
    </dgm:pt>
    <dgm:pt modelId="{126C9B35-3B56-4BF0-A7DB-E58D63B805B0}" type="pres">
      <dgm:prSet presAssocID="{AF8F3710-3EC3-49CA-A7C1-91ED96465D0F}" presName="parentTextArrow" presStyleLbl="node1" presStyleIdx="0" presStyleCnt="0"/>
      <dgm:spPr/>
    </dgm:pt>
    <dgm:pt modelId="{C37EA96B-2EE6-470E-80D2-FA8A1AF42439}" type="pres">
      <dgm:prSet presAssocID="{AF8F3710-3EC3-49CA-A7C1-91ED96465D0F}" presName="arrow" presStyleLbl="alignNode1" presStyleIdx="1" presStyleCnt="6"/>
      <dgm:spPr/>
    </dgm:pt>
    <dgm:pt modelId="{28AE8682-FAD5-4C57-AEA8-C32EB1EB93FD}" type="pres">
      <dgm:prSet presAssocID="{AF8F3710-3EC3-49CA-A7C1-91ED96465D0F}" presName="descendantArrow" presStyleLbl="bgAccFollowNode1" presStyleIdx="1" presStyleCnt="6"/>
      <dgm:spPr/>
    </dgm:pt>
    <dgm:pt modelId="{9C7689BB-587C-4996-99D3-76F50A1BCDE0}" type="pres">
      <dgm:prSet presAssocID="{B1D8EB2B-2F13-4697-88FA-E8291C310312}" presName="sp" presStyleCnt="0"/>
      <dgm:spPr/>
    </dgm:pt>
    <dgm:pt modelId="{DA2C393E-F7DD-40F0-9ECE-82DE7D19366A}" type="pres">
      <dgm:prSet presAssocID="{48B4375C-A938-45A8-A421-532BC3F4B7C2}" presName="arrowAndChildren" presStyleCnt="0"/>
      <dgm:spPr/>
    </dgm:pt>
    <dgm:pt modelId="{35E3575B-7E5F-49F7-B38A-43E32FEE292F}" type="pres">
      <dgm:prSet presAssocID="{48B4375C-A938-45A8-A421-532BC3F4B7C2}" presName="parentTextArrow" presStyleLbl="node1" presStyleIdx="0" presStyleCnt="0"/>
      <dgm:spPr/>
    </dgm:pt>
    <dgm:pt modelId="{D204E4AC-099F-4E21-A18A-E5061E416708}" type="pres">
      <dgm:prSet presAssocID="{48B4375C-A938-45A8-A421-532BC3F4B7C2}" presName="arrow" presStyleLbl="alignNode1" presStyleIdx="2" presStyleCnt="6"/>
      <dgm:spPr/>
    </dgm:pt>
    <dgm:pt modelId="{9694E9C7-25AF-44FE-AC8E-F2F8150F1D57}" type="pres">
      <dgm:prSet presAssocID="{48B4375C-A938-45A8-A421-532BC3F4B7C2}" presName="descendantArrow" presStyleLbl="bgAccFollowNode1" presStyleIdx="2" presStyleCnt="6"/>
      <dgm:spPr/>
    </dgm:pt>
    <dgm:pt modelId="{9A5E1745-1C04-447F-A804-5C35EF8A7C61}" type="pres">
      <dgm:prSet presAssocID="{3EE73C12-B6CF-4B3E-AC04-4A7966010EDE}" presName="sp" presStyleCnt="0"/>
      <dgm:spPr/>
    </dgm:pt>
    <dgm:pt modelId="{38A62A81-71EF-42BA-A571-6F2C4323644C}" type="pres">
      <dgm:prSet presAssocID="{65331479-412F-43FB-8AF3-3BB7082D825C}" presName="arrowAndChildren" presStyleCnt="0"/>
      <dgm:spPr/>
    </dgm:pt>
    <dgm:pt modelId="{30C446BF-BAFF-4005-9FB4-4DB51A609DFC}" type="pres">
      <dgm:prSet presAssocID="{65331479-412F-43FB-8AF3-3BB7082D825C}" presName="parentTextArrow" presStyleLbl="node1" presStyleIdx="0" presStyleCnt="0"/>
      <dgm:spPr/>
    </dgm:pt>
    <dgm:pt modelId="{7AD7E114-97FA-48B2-8E03-0AF8FF828D58}" type="pres">
      <dgm:prSet presAssocID="{65331479-412F-43FB-8AF3-3BB7082D825C}" presName="arrow" presStyleLbl="alignNode1" presStyleIdx="3" presStyleCnt="6"/>
      <dgm:spPr/>
    </dgm:pt>
    <dgm:pt modelId="{64B28F46-A994-416D-9576-30D7A4F1A23F}" type="pres">
      <dgm:prSet presAssocID="{65331479-412F-43FB-8AF3-3BB7082D825C}" presName="descendantArrow" presStyleLbl="bgAccFollowNode1" presStyleIdx="3" presStyleCnt="6"/>
      <dgm:spPr/>
    </dgm:pt>
    <dgm:pt modelId="{8B74FED0-0BC5-41A6-AF8A-58C55336B23A}" type="pres">
      <dgm:prSet presAssocID="{B46A801C-F7DE-4149-9EB5-5C6C96064F51}" presName="sp" presStyleCnt="0"/>
      <dgm:spPr/>
    </dgm:pt>
    <dgm:pt modelId="{CBB8A804-6411-4786-9D34-6677044D25A1}" type="pres">
      <dgm:prSet presAssocID="{0A353887-AA1A-4519-8FB4-236893A1A550}" presName="arrowAndChildren" presStyleCnt="0"/>
      <dgm:spPr/>
    </dgm:pt>
    <dgm:pt modelId="{2EA32351-D445-4E84-82DB-3309FF7B3D2D}" type="pres">
      <dgm:prSet presAssocID="{0A353887-AA1A-4519-8FB4-236893A1A550}" presName="parentTextArrow" presStyleLbl="node1" presStyleIdx="0" presStyleCnt="0"/>
      <dgm:spPr/>
    </dgm:pt>
    <dgm:pt modelId="{F380B1CC-269C-491F-9B90-0293F8CE17EB}" type="pres">
      <dgm:prSet presAssocID="{0A353887-AA1A-4519-8FB4-236893A1A550}" presName="arrow" presStyleLbl="alignNode1" presStyleIdx="4" presStyleCnt="6"/>
      <dgm:spPr/>
    </dgm:pt>
    <dgm:pt modelId="{D80AA639-5318-45E0-A0AD-96E4027217F8}" type="pres">
      <dgm:prSet presAssocID="{0A353887-AA1A-4519-8FB4-236893A1A550}" presName="descendantArrow" presStyleLbl="bgAccFollowNode1" presStyleIdx="4" presStyleCnt="6"/>
      <dgm:spPr/>
    </dgm:pt>
    <dgm:pt modelId="{CE140CFA-1B54-4475-A93C-022A8EA58407}" type="pres">
      <dgm:prSet presAssocID="{DCB78F1D-DDA9-4D32-B3BE-145B173A6E54}" presName="sp" presStyleCnt="0"/>
      <dgm:spPr/>
    </dgm:pt>
    <dgm:pt modelId="{D12749F6-760F-41E2-9FA4-A7C9118D534F}" type="pres">
      <dgm:prSet presAssocID="{97771A67-F717-433B-83BD-9CF140C3F6AE}" presName="arrowAndChildren" presStyleCnt="0"/>
      <dgm:spPr/>
    </dgm:pt>
    <dgm:pt modelId="{2A388E42-92B5-484E-8813-7207811E7028}" type="pres">
      <dgm:prSet presAssocID="{97771A67-F717-433B-83BD-9CF140C3F6AE}" presName="parentTextArrow" presStyleLbl="node1" presStyleIdx="0" presStyleCnt="0"/>
      <dgm:spPr/>
    </dgm:pt>
    <dgm:pt modelId="{6AD795A6-B95E-4506-B8E0-06CC34E0016C}" type="pres">
      <dgm:prSet presAssocID="{97771A67-F717-433B-83BD-9CF140C3F6AE}" presName="arrow" presStyleLbl="alignNode1" presStyleIdx="5" presStyleCnt="6"/>
      <dgm:spPr/>
    </dgm:pt>
    <dgm:pt modelId="{13FFB56F-F589-433D-9E82-D6C7CFB40CC6}" type="pres">
      <dgm:prSet presAssocID="{97771A67-F717-433B-83BD-9CF140C3F6AE}" presName="descendantArrow" presStyleLbl="bgAccFollowNode1" presStyleIdx="5" presStyleCnt="6"/>
      <dgm:spPr/>
    </dgm:pt>
  </dgm:ptLst>
  <dgm:cxnLst>
    <dgm:cxn modelId="{43CF2104-732C-4BD5-872D-7DC932957E1D}" srcId="{48B4375C-A938-45A8-A421-532BC3F4B7C2}" destId="{D631811B-42E5-4B58-8EFA-D17D77701C29}" srcOrd="0" destOrd="0" parTransId="{47454134-7A57-401D-BC0D-E0B7D28A031F}" sibTransId="{FD199434-A9AD-4528-9137-D09A80843442}"/>
    <dgm:cxn modelId="{A1BBE204-ACCC-483C-A4EE-336BFC5EDCC2}" srcId="{D1D2F406-C573-4C3D-999D-7FD2EC539740}" destId="{97771A67-F717-433B-83BD-9CF140C3F6AE}" srcOrd="0" destOrd="0" parTransId="{386C13EE-9C29-4C04-8BA4-CAB03D898CDF}" sibTransId="{DCB78F1D-DDA9-4D32-B3BE-145B173A6E54}"/>
    <dgm:cxn modelId="{1606A707-6D90-4F55-89D0-2BF87EA8A6E2}" srcId="{97771A67-F717-433B-83BD-9CF140C3F6AE}" destId="{A5F4075F-9A7A-410A-ABEE-466C9CB5D245}" srcOrd="0" destOrd="0" parTransId="{6DEC5189-AEC8-400F-9452-15B39EFFA08D}" sibTransId="{D126A29C-010F-4328-96A1-410211B015B6}"/>
    <dgm:cxn modelId="{F27B880C-49BF-42A7-B0BD-0C8A1DB1FDCD}" type="presOf" srcId="{97771A67-F717-433B-83BD-9CF140C3F6AE}" destId="{6AD795A6-B95E-4506-B8E0-06CC34E0016C}" srcOrd="1" destOrd="0" presId="urn:microsoft.com/office/officeart/2016/7/layout/VerticalDownArrowProcess"/>
    <dgm:cxn modelId="{3471100E-B948-4041-9BC5-C797123DF39E}" srcId="{D1D2F406-C573-4C3D-999D-7FD2EC539740}" destId="{AF8F3710-3EC3-49CA-A7C1-91ED96465D0F}" srcOrd="4" destOrd="0" parTransId="{A04CC2C0-7737-497E-8DF2-98F09B329580}" sibTransId="{FDFDA964-E497-45B4-8363-E7E100039B71}"/>
    <dgm:cxn modelId="{0E8B8C11-817F-40F7-BFD6-C34CDC8C18D7}" type="presOf" srcId="{97771A67-F717-433B-83BD-9CF140C3F6AE}" destId="{2A388E42-92B5-484E-8813-7207811E7028}" srcOrd="0" destOrd="0" presId="urn:microsoft.com/office/officeart/2016/7/layout/VerticalDownArrowProcess"/>
    <dgm:cxn modelId="{8627431F-A3CD-487B-9176-B1442DDE2BBE}" type="presOf" srcId="{A5F4075F-9A7A-410A-ABEE-466C9CB5D245}" destId="{13FFB56F-F589-433D-9E82-D6C7CFB40CC6}" srcOrd="0" destOrd="0" presId="urn:microsoft.com/office/officeart/2016/7/layout/VerticalDownArrowProcess"/>
    <dgm:cxn modelId="{E4F83424-A1B3-4DE8-B696-73179D2CD5C3}" type="presOf" srcId="{48B4375C-A938-45A8-A421-532BC3F4B7C2}" destId="{D204E4AC-099F-4E21-A18A-E5061E416708}" srcOrd="1" destOrd="0" presId="urn:microsoft.com/office/officeart/2016/7/layout/VerticalDownArrowProcess"/>
    <dgm:cxn modelId="{C2BB9024-B752-4DD3-BB42-B28D9CE50BDD}" type="presOf" srcId="{541E0DD2-C62F-4F6B-8172-C9BF9922B88E}" destId="{D80AA639-5318-45E0-A0AD-96E4027217F8}" srcOrd="0" destOrd="0" presId="urn:microsoft.com/office/officeart/2016/7/layout/VerticalDownArrowProcess"/>
    <dgm:cxn modelId="{0D34CC39-C1A7-4B2C-BF29-B0ECA1B6351D}" type="presOf" srcId="{0A353887-AA1A-4519-8FB4-236893A1A550}" destId="{F380B1CC-269C-491F-9B90-0293F8CE17EB}" srcOrd="1" destOrd="0" presId="urn:microsoft.com/office/officeart/2016/7/layout/VerticalDownArrowProcess"/>
    <dgm:cxn modelId="{C5DC843A-81FA-4F35-BBB4-3D6EDCA8BDFA}" srcId="{D1D2F406-C573-4C3D-999D-7FD2EC539740}" destId="{48B4375C-A938-45A8-A421-532BC3F4B7C2}" srcOrd="3" destOrd="0" parTransId="{63CA2657-0D4C-4784-ADCD-0BEFFE7B1F8E}" sibTransId="{B1D8EB2B-2F13-4697-88FA-E8291C310312}"/>
    <dgm:cxn modelId="{092FE33A-18FB-48D4-BF65-EAA77C6521C8}" type="presOf" srcId="{6C14E0C0-69FB-4BC6-9FED-767EB10BC848}" destId="{62DFB027-55C0-4793-8889-5F3B59FD02F0}" srcOrd="0" destOrd="0" presId="urn:microsoft.com/office/officeart/2016/7/layout/VerticalDownArrowProcess"/>
    <dgm:cxn modelId="{D46DBF61-A815-433F-94AD-D6248BF74D38}" type="presOf" srcId="{AF8F3710-3EC3-49CA-A7C1-91ED96465D0F}" destId="{C37EA96B-2EE6-470E-80D2-FA8A1AF42439}" srcOrd="1" destOrd="0" presId="urn:microsoft.com/office/officeart/2016/7/layout/VerticalDownArrowProcess"/>
    <dgm:cxn modelId="{0E0E2164-F8A0-4EB0-9816-F41173B48CA4}" type="presOf" srcId="{1A6D82FC-5EFD-40C3-B922-66DBEC60EA8A}" destId="{28AE8682-FAD5-4C57-AEA8-C32EB1EB93FD}" srcOrd="0" destOrd="0" presId="urn:microsoft.com/office/officeart/2016/7/layout/VerticalDownArrowProcess"/>
    <dgm:cxn modelId="{50170D46-1FAA-43A3-9BF4-39FC1A74D603}" type="presOf" srcId="{48B4375C-A938-45A8-A421-532BC3F4B7C2}" destId="{35E3575B-7E5F-49F7-B38A-43E32FEE292F}" srcOrd="0" destOrd="0" presId="urn:microsoft.com/office/officeart/2016/7/layout/VerticalDownArrowProcess"/>
    <dgm:cxn modelId="{77FB2968-FDED-42A8-902C-F339B8E597FA}" srcId="{65331479-412F-43FB-8AF3-3BB7082D825C}" destId="{183F7EF7-91D2-4CDA-B70D-3B0F36F484D2}" srcOrd="0" destOrd="0" parTransId="{B55A3CE2-39A8-4F7B-B470-A4257C330ABC}" sibTransId="{83290AFE-CC15-4064-B18C-443C371B5ACC}"/>
    <dgm:cxn modelId="{84439A6E-28A7-43F9-AB98-A9F9A2D9FD6D}" srcId="{D1D2F406-C573-4C3D-999D-7FD2EC539740}" destId="{78D3841F-5BAA-44C8-B7C4-38F9F56F1DEE}" srcOrd="5" destOrd="0" parTransId="{3AAFE865-EB86-4786-957A-82488A6AAE55}" sibTransId="{D8977DD1-86D5-4EB1-9A33-236CAF0BDA77}"/>
    <dgm:cxn modelId="{1C47D34F-A60C-4CC4-8D3A-DBBC4496491F}" srcId="{D1D2F406-C573-4C3D-999D-7FD2EC539740}" destId="{0A353887-AA1A-4519-8FB4-236893A1A550}" srcOrd="1" destOrd="0" parTransId="{9D0E6531-B76A-4D2B-8088-1A04889C17B6}" sibTransId="{B46A801C-F7DE-4149-9EB5-5C6C96064F51}"/>
    <dgm:cxn modelId="{78A15374-4D73-486D-BAE1-735C191EB95B}" type="presOf" srcId="{D631811B-42E5-4B58-8EFA-D17D77701C29}" destId="{9694E9C7-25AF-44FE-AC8E-F2F8150F1D57}" srcOrd="0" destOrd="0" presId="urn:microsoft.com/office/officeart/2016/7/layout/VerticalDownArrowProcess"/>
    <dgm:cxn modelId="{900FB756-42C0-40BF-BDD2-5BF9EC267F7F}" srcId="{78D3841F-5BAA-44C8-B7C4-38F9F56F1DEE}" destId="{6C14E0C0-69FB-4BC6-9FED-767EB10BC848}" srcOrd="0" destOrd="0" parTransId="{BAA913C9-159E-4361-9718-E8E5678BC8E3}" sibTransId="{2AC3E874-112B-47AA-BE48-32595BA7C215}"/>
    <dgm:cxn modelId="{D1AD5059-4C04-4992-9A06-12B2D358ED82}" srcId="{0A353887-AA1A-4519-8FB4-236893A1A550}" destId="{541E0DD2-C62F-4F6B-8172-C9BF9922B88E}" srcOrd="0" destOrd="0" parTransId="{B4563643-B909-441A-994A-9177344636C6}" sibTransId="{98CA75A1-3C79-45BD-911C-6F55D9D6E3F7}"/>
    <dgm:cxn modelId="{A8B71E7D-5502-47FE-81E3-D3DF10EA0012}" type="presOf" srcId="{65331479-412F-43FB-8AF3-3BB7082D825C}" destId="{30C446BF-BAFF-4005-9FB4-4DB51A609DFC}" srcOrd="0" destOrd="0" presId="urn:microsoft.com/office/officeart/2016/7/layout/VerticalDownArrowProcess"/>
    <dgm:cxn modelId="{7FBE5892-54F5-4A6F-A5F6-CA363A61B315}" type="presOf" srcId="{AF8F3710-3EC3-49CA-A7C1-91ED96465D0F}" destId="{126C9B35-3B56-4BF0-A7DB-E58D63B805B0}" srcOrd="0" destOrd="0" presId="urn:microsoft.com/office/officeart/2016/7/layout/VerticalDownArrowProcess"/>
    <dgm:cxn modelId="{22B48B94-AA14-4842-90F2-C3F957CFA40E}" type="presOf" srcId="{0A353887-AA1A-4519-8FB4-236893A1A550}" destId="{2EA32351-D445-4E84-82DB-3309FF7B3D2D}" srcOrd="0" destOrd="0" presId="urn:microsoft.com/office/officeart/2016/7/layout/VerticalDownArrowProcess"/>
    <dgm:cxn modelId="{288ABB9A-4035-4DA4-88EF-7BE97B9D6149}" srcId="{D1D2F406-C573-4C3D-999D-7FD2EC539740}" destId="{65331479-412F-43FB-8AF3-3BB7082D825C}" srcOrd="2" destOrd="0" parTransId="{FE7DBEA1-8448-4DCC-ACFF-6DA0868E6B71}" sibTransId="{3EE73C12-B6CF-4B3E-AC04-4A7966010EDE}"/>
    <dgm:cxn modelId="{AF5F85A0-1DB4-483E-B269-B6120E3F1ED6}" type="presOf" srcId="{65331479-412F-43FB-8AF3-3BB7082D825C}" destId="{7AD7E114-97FA-48B2-8E03-0AF8FF828D58}" srcOrd="1" destOrd="0" presId="urn:microsoft.com/office/officeart/2016/7/layout/VerticalDownArrowProcess"/>
    <dgm:cxn modelId="{6B50B8B3-FB86-4E15-8F0C-FFCE26C16462}" type="presOf" srcId="{D1D2F406-C573-4C3D-999D-7FD2EC539740}" destId="{84C4748C-68E2-4079-9C33-7C3D26AD0F5E}" srcOrd="0" destOrd="0" presId="urn:microsoft.com/office/officeart/2016/7/layout/VerticalDownArrowProcess"/>
    <dgm:cxn modelId="{27A603C3-EA03-4BEE-9C41-AB392F064AC3}" srcId="{AF8F3710-3EC3-49CA-A7C1-91ED96465D0F}" destId="{1A6D82FC-5EFD-40C3-B922-66DBEC60EA8A}" srcOrd="0" destOrd="0" parTransId="{55D3C0BE-4022-4E17-B68C-7C4E44F80F56}" sibTransId="{B038C04A-E80B-45BC-8E27-3DF4AAE5D857}"/>
    <dgm:cxn modelId="{D6E49CD2-7860-4EC1-B24E-35AF25A599E6}" type="presOf" srcId="{183F7EF7-91D2-4CDA-B70D-3B0F36F484D2}" destId="{64B28F46-A994-416D-9576-30D7A4F1A23F}" srcOrd="0" destOrd="0" presId="urn:microsoft.com/office/officeart/2016/7/layout/VerticalDownArrowProcess"/>
    <dgm:cxn modelId="{C2B516E6-D092-4DF9-81B7-B0DBB860234E}" type="presOf" srcId="{78D3841F-5BAA-44C8-B7C4-38F9F56F1DEE}" destId="{7CCDC2FA-6BC9-4D17-8C7B-D46BCA682B04}" srcOrd="0" destOrd="0" presId="urn:microsoft.com/office/officeart/2016/7/layout/VerticalDownArrowProcess"/>
    <dgm:cxn modelId="{4FDF7C4E-FD59-4AB8-ABB1-C43E77159782}" type="presParOf" srcId="{84C4748C-68E2-4079-9C33-7C3D26AD0F5E}" destId="{2EDB5DEF-F0E0-47B4-A466-A4EC91D0FF57}" srcOrd="0" destOrd="0" presId="urn:microsoft.com/office/officeart/2016/7/layout/VerticalDownArrowProcess"/>
    <dgm:cxn modelId="{AFF8E4A0-70F3-4E04-B2F5-D943BDCE5147}" type="presParOf" srcId="{2EDB5DEF-F0E0-47B4-A466-A4EC91D0FF57}" destId="{7CCDC2FA-6BC9-4D17-8C7B-D46BCA682B04}" srcOrd="0" destOrd="0" presId="urn:microsoft.com/office/officeart/2016/7/layout/VerticalDownArrowProcess"/>
    <dgm:cxn modelId="{C93BF065-B0F2-493D-9F8F-9ACEC44B1A0B}" type="presParOf" srcId="{2EDB5DEF-F0E0-47B4-A466-A4EC91D0FF57}" destId="{62DFB027-55C0-4793-8889-5F3B59FD02F0}" srcOrd="1" destOrd="0" presId="urn:microsoft.com/office/officeart/2016/7/layout/VerticalDownArrowProcess"/>
    <dgm:cxn modelId="{3DDFCD1C-86DA-42BF-BD2D-78A3B1620917}" type="presParOf" srcId="{84C4748C-68E2-4079-9C33-7C3D26AD0F5E}" destId="{30195508-E01D-4EF9-BF2A-6171D11EB1B5}" srcOrd="1" destOrd="0" presId="urn:microsoft.com/office/officeart/2016/7/layout/VerticalDownArrowProcess"/>
    <dgm:cxn modelId="{905FF0CE-7B55-4C2F-9767-EEC514532ABF}" type="presParOf" srcId="{84C4748C-68E2-4079-9C33-7C3D26AD0F5E}" destId="{E4844444-D85A-40F6-8532-15D5F18548AA}" srcOrd="2" destOrd="0" presId="urn:microsoft.com/office/officeart/2016/7/layout/VerticalDownArrowProcess"/>
    <dgm:cxn modelId="{0FEFC66C-31AD-4A65-B8E6-69DED7C2903D}" type="presParOf" srcId="{E4844444-D85A-40F6-8532-15D5F18548AA}" destId="{126C9B35-3B56-4BF0-A7DB-E58D63B805B0}" srcOrd="0" destOrd="0" presId="urn:microsoft.com/office/officeart/2016/7/layout/VerticalDownArrowProcess"/>
    <dgm:cxn modelId="{DEFA5BA9-7597-467E-8013-A1AF8B4544E4}" type="presParOf" srcId="{E4844444-D85A-40F6-8532-15D5F18548AA}" destId="{C37EA96B-2EE6-470E-80D2-FA8A1AF42439}" srcOrd="1" destOrd="0" presId="urn:microsoft.com/office/officeart/2016/7/layout/VerticalDownArrowProcess"/>
    <dgm:cxn modelId="{BCA20B4E-5DB1-42AD-8036-00C4CAC447D7}" type="presParOf" srcId="{E4844444-D85A-40F6-8532-15D5F18548AA}" destId="{28AE8682-FAD5-4C57-AEA8-C32EB1EB93FD}" srcOrd="2" destOrd="0" presId="urn:microsoft.com/office/officeart/2016/7/layout/VerticalDownArrowProcess"/>
    <dgm:cxn modelId="{313AFA2A-1356-411D-805A-80A16D0B26C7}" type="presParOf" srcId="{84C4748C-68E2-4079-9C33-7C3D26AD0F5E}" destId="{9C7689BB-587C-4996-99D3-76F50A1BCDE0}" srcOrd="3" destOrd="0" presId="urn:microsoft.com/office/officeart/2016/7/layout/VerticalDownArrowProcess"/>
    <dgm:cxn modelId="{521CB9F9-1407-4AA3-8095-C3D0612FDFAB}" type="presParOf" srcId="{84C4748C-68E2-4079-9C33-7C3D26AD0F5E}" destId="{DA2C393E-F7DD-40F0-9ECE-82DE7D19366A}" srcOrd="4" destOrd="0" presId="urn:microsoft.com/office/officeart/2016/7/layout/VerticalDownArrowProcess"/>
    <dgm:cxn modelId="{7CD7723C-58BE-4BE0-A45F-D480EAFC410C}" type="presParOf" srcId="{DA2C393E-F7DD-40F0-9ECE-82DE7D19366A}" destId="{35E3575B-7E5F-49F7-B38A-43E32FEE292F}" srcOrd="0" destOrd="0" presId="urn:microsoft.com/office/officeart/2016/7/layout/VerticalDownArrowProcess"/>
    <dgm:cxn modelId="{77BE5AF9-300F-4844-A25A-E95A332F2242}" type="presParOf" srcId="{DA2C393E-F7DD-40F0-9ECE-82DE7D19366A}" destId="{D204E4AC-099F-4E21-A18A-E5061E416708}" srcOrd="1" destOrd="0" presId="urn:microsoft.com/office/officeart/2016/7/layout/VerticalDownArrowProcess"/>
    <dgm:cxn modelId="{E20AEF52-FD1C-4A98-900D-6D5CB4E566B6}" type="presParOf" srcId="{DA2C393E-F7DD-40F0-9ECE-82DE7D19366A}" destId="{9694E9C7-25AF-44FE-AC8E-F2F8150F1D57}" srcOrd="2" destOrd="0" presId="urn:microsoft.com/office/officeart/2016/7/layout/VerticalDownArrowProcess"/>
    <dgm:cxn modelId="{2F8C04B3-215B-4077-A9D0-52A35F93C696}" type="presParOf" srcId="{84C4748C-68E2-4079-9C33-7C3D26AD0F5E}" destId="{9A5E1745-1C04-447F-A804-5C35EF8A7C61}" srcOrd="5" destOrd="0" presId="urn:microsoft.com/office/officeart/2016/7/layout/VerticalDownArrowProcess"/>
    <dgm:cxn modelId="{00885201-A96C-4F70-A766-CA3B777855DE}" type="presParOf" srcId="{84C4748C-68E2-4079-9C33-7C3D26AD0F5E}" destId="{38A62A81-71EF-42BA-A571-6F2C4323644C}" srcOrd="6" destOrd="0" presId="urn:microsoft.com/office/officeart/2016/7/layout/VerticalDownArrowProcess"/>
    <dgm:cxn modelId="{6834BA0E-8581-4D47-92B5-B550B60B79AA}" type="presParOf" srcId="{38A62A81-71EF-42BA-A571-6F2C4323644C}" destId="{30C446BF-BAFF-4005-9FB4-4DB51A609DFC}" srcOrd="0" destOrd="0" presId="urn:microsoft.com/office/officeart/2016/7/layout/VerticalDownArrowProcess"/>
    <dgm:cxn modelId="{A014C3B3-90AB-4820-8721-53B290954DFD}" type="presParOf" srcId="{38A62A81-71EF-42BA-A571-6F2C4323644C}" destId="{7AD7E114-97FA-48B2-8E03-0AF8FF828D58}" srcOrd="1" destOrd="0" presId="urn:microsoft.com/office/officeart/2016/7/layout/VerticalDownArrowProcess"/>
    <dgm:cxn modelId="{380FB1E9-BB79-482C-A527-EFD3ADDA26A1}" type="presParOf" srcId="{38A62A81-71EF-42BA-A571-6F2C4323644C}" destId="{64B28F46-A994-416D-9576-30D7A4F1A23F}" srcOrd="2" destOrd="0" presId="urn:microsoft.com/office/officeart/2016/7/layout/VerticalDownArrowProcess"/>
    <dgm:cxn modelId="{2932A6E7-8673-43EE-98D9-7BFC3347E205}" type="presParOf" srcId="{84C4748C-68E2-4079-9C33-7C3D26AD0F5E}" destId="{8B74FED0-0BC5-41A6-AF8A-58C55336B23A}" srcOrd="7" destOrd="0" presId="urn:microsoft.com/office/officeart/2016/7/layout/VerticalDownArrowProcess"/>
    <dgm:cxn modelId="{C6080A40-6CB7-4502-ACD7-5396DC56EE8B}" type="presParOf" srcId="{84C4748C-68E2-4079-9C33-7C3D26AD0F5E}" destId="{CBB8A804-6411-4786-9D34-6677044D25A1}" srcOrd="8" destOrd="0" presId="urn:microsoft.com/office/officeart/2016/7/layout/VerticalDownArrowProcess"/>
    <dgm:cxn modelId="{53B4F8AC-9BC9-4290-9D86-4402E6942E15}" type="presParOf" srcId="{CBB8A804-6411-4786-9D34-6677044D25A1}" destId="{2EA32351-D445-4E84-82DB-3309FF7B3D2D}" srcOrd="0" destOrd="0" presId="urn:microsoft.com/office/officeart/2016/7/layout/VerticalDownArrowProcess"/>
    <dgm:cxn modelId="{DBC3AC7F-A1F2-4E12-BE2A-74B76075F4AA}" type="presParOf" srcId="{CBB8A804-6411-4786-9D34-6677044D25A1}" destId="{F380B1CC-269C-491F-9B90-0293F8CE17EB}" srcOrd="1" destOrd="0" presId="urn:microsoft.com/office/officeart/2016/7/layout/VerticalDownArrowProcess"/>
    <dgm:cxn modelId="{9AD94FFC-7471-4F21-8199-1FEDB14F0147}" type="presParOf" srcId="{CBB8A804-6411-4786-9D34-6677044D25A1}" destId="{D80AA639-5318-45E0-A0AD-96E4027217F8}" srcOrd="2" destOrd="0" presId="urn:microsoft.com/office/officeart/2016/7/layout/VerticalDownArrowProcess"/>
    <dgm:cxn modelId="{576EE8E5-B4D6-494E-BBDA-B04F344CDCE8}" type="presParOf" srcId="{84C4748C-68E2-4079-9C33-7C3D26AD0F5E}" destId="{CE140CFA-1B54-4475-A93C-022A8EA58407}" srcOrd="9" destOrd="0" presId="urn:microsoft.com/office/officeart/2016/7/layout/VerticalDownArrowProcess"/>
    <dgm:cxn modelId="{BB9BD15B-5E78-44F8-87C4-AE49C1F78014}" type="presParOf" srcId="{84C4748C-68E2-4079-9C33-7C3D26AD0F5E}" destId="{D12749F6-760F-41E2-9FA4-A7C9118D534F}" srcOrd="10" destOrd="0" presId="urn:microsoft.com/office/officeart/2016/7/layout/VerticalDownArrowProcess"/>
    <dgm:cxn modelId="{52A3DAFB-658A-4828-9680-4EA1FACE7EB7}" type="presParOf" srcId="{D12749F6-760F-41E2-9FA4-A7C9118D534F}" destId="{2A388E42-92B5-484E-8813-7207811E7028}" srcOrd="0" destOrd="0" presId="urn:microsoft.com/office/officeart/2016/7/layout/VerticalDownArrowProcess"/>
    <dgm:cxn modelId="{9DB96A70-F17C-4C91-A3E0-FC637D8C5E2F}" type="presParOf" srcId="{D12749F6-760F-41E2-9FA4-A7C9118D534F}" destId="{6AD795A6-B95E-4506-B8E0-06CC34E0016C}" srcOrd="1" destOrd="0" presId="urn:microsoft.com/office/officeart/2016/7/layout/VerticalDownArrowProcess"/>
    <dgm:cxn modelId="{8D9F6C5E-8061-4759-8A6B-D6C8CE6968C3}" type="presParOf" srcId="{D12749F6-760F-41E2-9FA4-A7C9118D534F}" destId="{13FFB56F-F589-433D-9E82-D6C7CFB40CC6}"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62878D1-FA5D-408A-BBCC-03DB2A701A87}" type="doc">
      <dgm:prSet loTypeId="urn:microsoft.com/office/officeart/2016/7/layout/LinearBlockProcessNumbered" loCatId="process" qsTypeId="urn:microsoft.com/office/officeart/2005/8/quickstyle/simple1" qsCatId="simple" csTypeId="urn:microsoft.com/office/officeart/2005/8/colors/colorful5" csCatId="colorful"/>
      <dgm:spPr/>
      <dgm:t>
        <a:bodyPr/>
        <a:lstStyle/>
        <a:p>
          <a:endParaRPr lang="en-US"/>
        </a:p>
      </dgm:t>
    </dgm:pt>
    <dgm:pt modelId="{1C8F82B4-CCF1-4454-9FC2-F26CBFF74C5D}">
      <dgm:prSet/>
      <dgm:spPr/>
      <dgm:t>
        <a:bodyPr/>
        <a:lstStyle/>
        <a:p>
          <a:r>
            <a:rPr lang="en-GB"/>
            <a:t>Surface breach risks early</a:t>
          </a:r>
          <a:endParaRPr lang="en-US"/>
        </a:p>
      </dgm:t>
    </dgm:pt>
    <dgm:pt modelId="{A17F1046-F663-468F-9F2D-95CBED7FF9E1}" type="parTrans" cxnId="{97711E6D-A93D-46CC-AA29-371AFDA729D2}">
      <dgm:prSet/>
      <dgm:spPr/>
      <dgm:t>
        <a:bodyPr/>
        <a:lstStyle/>
        <a:p>
          <a:endParaRPr lang="en-US"/>
        </a:p>
      </dgm:t>
    </dgm:pt>
    <dgm:pt modelId="{3CB8E2A7-0671-43AE-A43C-A2B5C48719BD}" type="sibTrans" cxnId="{97711E6D-A93D-46CC-AA29-371AFDA729D2}">
      <dgm:prSet phldrT="01" phldr="0"/>
      <dgm:spPr/>
      <dgm:t>
        <a:bodyPr/>
        <a:lstStyle/>
        <a:p>
          <a:r>
            <a:rPr lang="en-US"/>
            <a:t>01</a:t>
          </a:r>
        </a:p>
      </dgm:t>
    </dgm:pt>
    <dgm:pt modelId="{015CB278-27AD-4A29-B65D-EE71D058F8B2}">
      <dgm:prSet/>
      <dgm:spPr/>
      <dgm:t>
        <a:bodyPr/>
        <a:lstStyle/>
        <a:p>
          <a:r>
            <a:rPr lang="en-GB"/>
            <a:t>Pair risks with capacity</a:t>
          </a:r>
          <a:endParaRPr lang="en-US"/>
        </a:p>
      </dgm:t>
    </dgm:pt>
    <dgm:pt modelId="{D2D3B67A-E4D6-4136-8D75-BAB3E63FCF64}" type="parTrans" cxnId="{39907ECC-533A-426C-AA94-3E9F9ACCC671}">
      <dgm:prSet/>
      <dgm:spPr/>
      <dgm:t>
        <a:bodyPr/>
        <a:lstStyle/>
        <a:p>
          <a:endParaRPr lang="en-US"/>
        </a:p>
      </dgm:t>
    </dgm:pt>
    <dgm:pt modelId="{FCABE807-8E45-4F53-A811-00DA7AAD1126}" type="sibTrans" cxnId="{39907ECC-533A-426C-AA94-3E9F9ACCC671}">
      <dgm:prSet phldrT="02" phldr="0"/>
      <dgm:spPr/>
      <dgm:t>
        <a:bodyPr/>
        <a:lstStyle/>
        <a:p>
          <a:r>
            <a:rPr lang="en-US"/>
            <a:t>02</a:t>
          </a:r>
        </a:p>
      </dgm:t>
    </dgm:pt>
    <dgm:pt modelId="{90D0A2B8-F9A2-4EE6-A036-AF2BC04047F9}">
      <dgm:prSet/>
      <dgm:spPr/>
      <dgm:t>
        <a:bodyPr/>
        <a:lstStyle/>
        <a:p>
          <a:r>
            <a:rPr lang="en-GB"/>
            <a:t>Use canonical pathway events</a:t>
          </a:r>
          <a:endParaRPr lang="en-US"/>
        </a:p>
      </dgm:t>
    </dgm:pt>
    <dgm:pt modelId="{0B0760D1-539F-45EE-8139-C373B85DD823}" type="parTrans" cxnId="{02981927-1F09-48A2-8D38-10A00C5D8EF4}">
      <dgm:prSet/>
      <dgm:spPr/>
      <dgm:t>
        <a:bodyPr/>
        <a:lstStyle/>
        <a:p>
          <a:endParaRPr lang="en-US"/>
        </a:p>
      </dgm:t>
    </dgm:pt>
    <dgm:pt modelId="{78C08C29-2C7E-4563-A26F-07867AACEABB}" type="sibTrans" cxnId="{02981927-1F09-48A2-8D38-10A00C5D8EF4}">
      <dgm:prSet phldrT="03" phldr="0"/>
      <dgm:spPr/>
      <dgm:t>
        <a:bodyPr/>
        <a:lstStyle/>
        <a:p>
          <a:r>
            <a:rPr lang="en-US"/>
            <a:t>03</a:t>
          </a:r>
        </a:p>
      </dgm:t>
    </dgm:pt>
    <dgm:pt modelId="{638905A2-E290-4FD6-8780-F24E2FE32E36}">
      <dgm:prSet/>
      <dgm:spPr/>
      <dgm:t>
        <a:bodyPr/>
        <a:lstStyle/>
        <a:p>
          <a:r>
            <a:rPr lang="en-GB"/>
            <a:t>Refresh at operational cadence</a:t>
          </a:r>
          <a:endParaRPr lang="en-US"/>
        </a:p>
      </dgm:t>
    </dgm:pt>
    <dgm:pt modelId="{9E818C80-8791-4945-96F8-8A7A5F8BA991}" type="parTrans" cxnId="{A5CE27BB-7B11-4420-8123-4E5781595D6F}">
      <dgm:prSet/>
      <dgm:spPr/>
      <dgm:t>
        <a:bodyPr/>
        <a:lstStyle/>
        <a:p>
          <a:endParaRPr lang="en-US"/>
        </a:p>
      </dgm:t>
    </dgm:pt>
    <dgm:pt modelId="{57A0A095-8181-4156-86FF-9178DE2EE99A}" type="sibTrans" cxnId="{A5CE27BB-7B11-4420-8123-4E5781595D6F}">
      <dgm:prSet phldrT="04" phldr="0"/>
      <dgm:spPr/>
      <dgm:t>
        <a:bodyPr/>
        <a:lstStyle/>
        <a:p>
          <a:r>
            <a:rPr lang="en-US"/>
            <a:t>04</a:t>
          </a:r>
        </a:p>
      </dgm:t>
    </dgm:pt>
    <dgm:pt modelId="{D7D00F0C-C007-4CE2-B13C-2F6A8EA7F14B}">
      <dgm:prSet/>
      <dgm:spPr/>
      <dgm:t>
        <a:bodyPr/>
        <a:lstStyle/>
        <a:p>
          <a:r>
            <a:rPr lang="en-GB"/>
            <a:t>Preserve provenance</a:t>
          </a:r>
          <a:endParaRPr lang="en-US"/>
        </a:p>
      </dgm:t>
    </dgm:pt>
    <dgm:pt modelId="{9A4DDA17-6901-48B3-A2D8-776D90F959C0}" type="parTrans" cxnId="{562FB97A-B163-4CBC-8D4D-74954E61B5E9}">
      <dgm:prSet/>
      <dgm:spPr/>
      <dgm:t>
        <a:bodyPr/>
        <a:lstStyle/>
        <a:p>
          <a:endParaRPr lang="en-US"/>
        </a:p>
      </dgm:t>
    </dgm:pt>
    <dgm:pt modelId="{C707DDA7-06E3-48F2-BA39-E81150868430}" type="sibTrans" cxnId="{562FB97A-B163-4CBC-8D4D-74954E61B5E9}">
      <dgm:prSet phldrT="05" phldr="0"/>
      <dgm:spPr/>
      <dgm:t>
        <a:bodyPr/>
        <a:lstStyle/>
        <a:p>
          <a:r>
            <a:rPr lang="en-US"/>
            <a:t>05</a:t>
          </a:r>
        </a:p>
      </dgm:t>
    </dgm:pt>
    <dgm:pt modelId="{B5DED6E0-B4AD-4977-83B6-BF9610490946}">
      <dgm:prSet/>
      <dgm:spPr/>
      <dgm:t>
        <a:bodyPr/>
        <a:lstStyle/>
        <a:p>
          <a:r>
            <a:rPr lang="en-GB"/>
            <a:t>Align dashboards with real tasks</a:t>
          </a:r>
          <a:endParaRPr lang="en-US"/>
        </a:p>
      </dgm:t>
    </dgm:pt>
    <dgm:pt modelId="{26161910-306F-4D40-BCA6-76A2A67F2C74}" type="parTrans" cxnId="{8A290631-3994-499F-B16D-8BDD1DA89F82}">
      <dgm:prSet/>
      <dgm:spPr/>
      <dgm:t>
        <a:bodyPr/>
        <a:lstStyle/>
        <a:p>
          <a:endParaRPr lang="en-US"/>
        </a:p>
      </dgm:t>
    </dgm:pt>
    <dgm:pt modelId="{2810BF4E-C257-478C-93E4-98770E6EDB49}" type="sibTrans" cxnId="{8A290631-3994-499F-B16D-8BDD1DA89F82}">
      <dgm:prSet phldrT="06" phldr="0"/>
      <dgm:spPr/>
      <dgm:t>
        <a:bodyPr/>
        <a:lstStyle/>
        <a:p>
          <a:r>
            <a:rPr lang="en-US"/>
            <a:t>06</a:t>
          </a:r>
        </a:p>
      </dgm:t>
    </dgm:pt>
    <dgm:pt modelId="{DE34A956-0884-42D4-A8BF-52C51BCF0EF0}" type="pres">
      <dgm:prSet presAssocID="{462878D1-FA5D-408A-BBCC-03DB2A701A87}" presName="Name0" presStyleCnt="0">
        <dgm:presLayoutVars>
          <dgm:animLvl val="lvl"/>
          <dgm:resizeHandles val="exact"/>
        </dgm:presLayoutVars>
      </dgm:prSet>
      <dgm:spPr/>
    </dgm:pt>
    <dgm:pt modelId="{2B95DEDB-91A0-48F4-998D-B3CD2E7C17D1}" type="pres">
      <dgm:prSet presAssocID="{1C8F82B4-CCF1-4454-9FC2-F26CBFF74C5D}" presName="compositeNode" presStyleCnt="0">
        <dgm:presLayoutVars>
          <dgm:bulletEnabled val="1"/>
        </dgm:presLayoutVars>
      </dgm:prSet>
      <dgm:spPr/>
    </dgm:pt>
    <dgm:pt modelId="{E3AB3B61-1A80-4A7F-86E7-8FD0127C7B5C}" type="pres">
      <dgm:prSet presAssocID="{1C8F82B4-CCF1-4454-9FC2-F26CBFF74C5D}" presName="bgRect" presStyleLbl="alignNode1" presStyleIdx="0" presStyleCnt="6"/>
      <dgm:spPr/>
    </dgm:pt>
    <dgm:pt modelId="{EC5AD160-8398-4CAC-82EF-0BB408EDCFFD}" type="pres">
      <dgm:prSet presAssocID="{3CB8E2A7-0671-43AE-A43C-A2B5C48719BD}" presName="sibTransNodeRect" presStyleLbl="alignNode1" presStyleIdx="0" presStyleCnt="6">
        <dgm:presLayoutVars>
          <dgm:chMax val="0"/>
          <dgm:bulletEnabled val="1"/>
        </dgm:presLayoutVars>
      </dgm:prSet>
      <dgm:spPr/>
    </dgm:pt>
    <dgm:pt modelId="{2F66A73C-7405-4010-9238-41B1BF2C3B4F}" type="pres">
      <dgm:prSet presAssocID="{1C8F82B4-CCF1-4454-9FC2-F26CBFF74C5D}" presName="nodeRect" presStyleLbl="alignNode1" presStyleIdx="0" presStyleCnt="6">
        <dgm:presLayoutVars>
          <dgm:bulletEnabled val="1"/>
        </dgm:presLayoutVars>
      </dgm:prSet>
      <dgm:spPr/>
    </dgm:pt>
    <dgm:pt modelId="{9E681956-B07A-4F4F-9241-1320D598AC6D}" type="pres">
      <dgm:prSet presAssocID="{3CB8E2A7-0671-43AE-A43C-A2B5C48719BD}" presName="sibTrans" presStyleCnt="0"/>
      <dgm:spPr/>
    </dgm:pt>
    <dgm:pt modelId="{4B12B4BF-7214-4953-A07F-7967046646DF}" type="pres">
      <dgm:prSet presAssocID="{015CB278-27AD-4A29-B65D-EE71D058F8B2}" presName="compositeNode" presStyleCnt="0">
        <dgm:presLayoutVars>
          <dgm:bulletEnabled val="1"/>
        </dgm:presLayoutVars>
      </dgm:prSet>
      <dgm:spPr/>
    </dgm:pt>
    <dgm:pt modelId="{BE9341D6-6A87-4607-BBC2-A5DC8822148C}" type="pres">
      <dgm:prSet presAssocID="{015CB278-27AD-4A29-B65D-EE71D058F8B2}" presName="bgRect" presStyleLbl="alignNode1" presStyleIdx="1" presStyleCnt="6"/>
      <dgm:spPr/>
    </dgm:pt>
    <dgm:pt modelId="{4F36F98D-188B-413A-925E-126CAAD4E28A}" type="pres">
      <dgm:prSet presAssocID="{FCABE807-8E45-4F53-A811-00DA7AAD1126}" presName="sibTransNodeRect" presStyleLbl="alignNode1" presStyleIdx="1" presStyleCnt="6">
        <dgm:presLayoutVars>
          <dgm:chMax val="0"/>
          <dgm:bulletEnabled val="1"/>
        </dgm:presLayoutVars>
      </dgm:prSet>
      <dgm:spPr/>
    </dgm:pt>
    <dgm:pt modelId="{1AE9FB98-36F7-46C2-8651-AE20923703C0}" type="pres">
      <dgm:prSet presAssocID="{015CB278-27AD-4A29-B65D-EE71D058F8B2}" presName="nodeRect" presStyleLbl="alignNode1" presStyleIdx="1" presStyleCnt="6">
        <dgm:presLayoutVars>
          <dgm:bulletEnabled val="1"/>
        </dgm:presLayoutVars>
      </dgm:prSet>
      <dgm:spPr/>
    </dgm:pt>
    <dgm:pt modelId="{08A21340-258B-49EE-BD9E-4CBDF9CBA36B}" type="pres">
      <dgm:prSet presAssocID="{FCABE807-8E45-4F53-A811-00DA7AAD1126}" presName="sibTrans" presStyleCnt="0"/>
      <dgm:spPr/>
    </dgm:pt>
    <dgm:pt modelId="{1F4F0CC5-781A-407C-BE36-E8C74F08C5ED}" type="pres">
      <dgm:prSet presAssocID="{90D0A2B8-F9A2-4EE6-A036-AF2BC04047F9}" presName="compositeNode" presStyleCnt="0">
        <dgm:presLayoutVars>
          <dgm:bulletEnabled val="1"/>
        </dgm:presLayoutVars>
      </dgm:prSet>
      <dgm:spPr/>
    </dgm:pt>
    <dgm:pt modelId="{2CF9968F-4421-4B44-A85F-8F6C36B1E4E1}" type="pres">
      <dgm:prSet presAssocID="{90D0A2B8-F9A2-4EE6-A036-AF2BC04047F9}" presName="bgRect" presStyleLbl="alignNode1" presStyleIdx="2" presStyleCnt="6"/>
      <dgm:spPr/>
    </dgm:pt>
    <dgm:pt modelId="{3BBFE501-EE79-4851-AC54-BCC7E2A6894D}" type="pres">
      <dgm:prSet presAssocID="{78C08C29-2C7E-4563-A26F-07867AACEABB}" presName="sibTransNodeRect" presStyleLbl="alignNode1" presStyleIdx="2" presStyleCnt="6">
        <dgm:presLayoutVars>
          <dgm:chMax val="0"/>
          <dgm:bulletEnabled val="1"/>
        </dgm:presLayoutVars>
      </dgm:prSet>
      <dgm:spPr/>
    </dgm:pt>
    <dgm:pt modelId="{92336030-E107-4413-B8BA-D354DEF56699}" type="pres">
      <dgm:prSet presAssocID="{90D0A2B8-F9A2-4EE6-A036-AF2BC04047F9}" presName="nodeRect" presStyleLbl="alignNode1" presStyleIdx="2" presStyleCnt="6">
        <dgm:presLayoutVars>
          <dgm:bulletEnabled val="1"/>
        </dgm:presLayoutVars>
      </dgm:prSet>
      <dgm:spPr/>
    </dgm:pt>
    <dgm:pt modelId="{476CCB13-868C-410A-BC02-C4D84B819D79}" type="pres">
      <dgm:prSet presAssocID="{78C08C29-2C7E-4563-A26F-07867AACEABB}" presName="sibTrans" presStyleCnt="0"/>
      <dgm:spPr/>
    </dgm:pt>
    <dgm:pt modelId="{FB7EFB0E-4204-46FF-8BC6-2778774646FC}" type="pres">
      <dgm:prSet presAssocID="{638905A2-E290-4FD6-8780-F24E2FE32E36}" presName="compositeNode" presStyleCnt="0">
        <dgm:presLayoutVars>
          <dgm:bulletEnabled val="1"/>
        </dgm:presLayoutVars>
      </dgm:prSet>
      <dgm:spPr/>
    </dgm:pt>
    <dgm:pt modelId="{092F293F-6C23-4DE8-8635-0D892B148AB0}" type="pres">
      <dgm:prSet presAssocID="{638905A2-E290-4FD6-8780-F24E2FE32E36}" presName="bgRect" presStyleLbl="alignNode1" presStyleIdx="3" presStyleCnt="6"/>
      <dgm:spPr/>
    </dgm:pt>
    <dgm:pt modelId="{2336EC19-087E-401E-A518-7DE085883450}" type="pres">
      <dgm:prSet presAssocID="{57A0A095-8181-4156-86FF-9178DE2EE99A}" presName="sibTransNodeRect" presStyleLbl="alignNode1" presStyleIdx="3" presStyleCnt="6">
        <dgm:presLayoutVars>
          <dgm:chMax val="0"/>
          <dgm:bulletEnabled val="1"/>
        </dgm:presLayoutVars>
      </dgm:prSet>
      <dgm:spPr/>
    </dgm:pt>
    <dgm:pt modelId="{C5BE5B81-F9B6-49FC-AB6A-A10FB24F7FA7}" type="pres">
      <dgm:prSet presAssocID="{638905A2-E290-4FD6-8780-F24E2FE32E36}" presName="nodeRect" presStyleLbl="alignNode1" presStyleIdx="3" presStyleCnt="6">
        <dgm:presLayoutVars>
          <dgm:bulletEnabled val="1"/>
        </dgm:presLayoutVars>
      </dgm:prSet>
      <dgm:spPr/>
    </dgm:pt>
    <dgm:pt modelId="{F26757CD-65F2-47F4-9D3A-B3E0B174B511}" type="pres">
      <dgm:prSet presAssocID="{57A0A095-8181-4156-86FF-9178DE2EE99A}" presName="sibTrans" presStyleCnt="0"/>
      <dgm:spPr/>
    </dgm:pt>
    <dgm:pt modelId="{6D190869-11B3-45D4-AE35-EA9693443BFC}" type="pres">
      <dgm:prSet presAssocID="{D7D00F0C-C007-4CE2-B13C-2F6A8EA7F14B}" presName="compositeNode" presStyleCnt="0">
        <dgm:presLayoutVars>
          <dgm:bulletEnabled val="1"/>
        </dgm:presLayoutVars>
      </dgm:prSet>
      <dgm:spPr/>
    </dgm:pt>
    <dgm:pt modelId="{E7C436FA-0430-464E-841D-89E48BAC83DB}" type="pres">
      <dgm:prSet presAssocID="{D7D00F0C-C007-4CE2-B13C-2F6A8EA7F14B}" presName="bgRect" presStyleLbl="alignNode1" presStyleIdx="4" presStyleCnt="6"/>
      <dgm:spPr/>
    </dgm:pt>
    <dgm:pt modelId="{AC2B16D0-3D33-40D3-8B78-27EC225AB3C1}" type="pres">
      <dgm:prSet presAssocID="{C707DDA7-06E3-48F2-BA39-E81150868430}" presName="sibTransNodeRect" presStyleLbl="alignNode1" presStyleIdx="4" presStyleCnt="6">
        <dgm:presLayoutVars>
          <dgm:chMax val="0"/>
          <dgm:bulletEnabled val="1"/>
        </dgm:presLayoutVars>
      </dgm:prSet>
      <dgm:spPr/>
    </dgm:pt>
    <dgm:pt modelId="{44C49E5B-AD5D-46B6-9BA0-09C4A3F7A63F}" type="pres">
      <dgm:prSet presAssocID="{D7D00F0C-C007-4CE2-B13C-2F6A8EA7F14B}" presName="nodeRect" presStyleLbl="alignNode1" presStyleIdx="4" presStyleCnt="6">
        <dgm:presLayoutVars>
          <dgm:bulletEnabled val="1"/>
        </dgm:presLayoutVars>
      </dgm:prSet>
      <dgm:spPr/>
    </dgm:pt>
    <dgm:pt modelId="{94E27A61-6899-4031-92B4-2CAA6AABB6D4}" type="pres">
      <dgm:prSet presAssocID="{C707DDA7-06E3-48F2-BA39-E81150868430}" presName="sibTrans" presStyleCnt="0"/>
      <dgm:spPr/>
    </dgm:pt>
    <dgm:pt modelId="{D8E95183-627A-49B7-A3F4-18A0CCE31236}" type="pres">
      <dgm:prSet presAssocID="{B5DED6E0-B4AD-4977-83B6-BF9610490946}" presName="compositeNode" presStyleCnt="0">
        <dgm:presLayoutVars>
          <dgm:bulletEnabled val="1"/>
        </dgm:presLayoutVars>
      </dgm:prSet>
      <dgm:spPr/>
    </dgm:pt>
    <dgm:pt modelId="{E1170AD4-6C23-461F-8F53-92C01D123599}" type="pres">
      <dgm:prSet presAssocID="{B5DED6E0-B4AD-4977-83B6-BF9610490946}" presName="bgRect" presStyleLbl="alignNode1" presStyleIdx="5" presStyleCnt="6"/>
      <dgm:spPr/>
    </dgm:pt>
    <dgm:pt modelId="{331C899B-8DA3-4E93-8769-01CAFBC620A3}" type="pres">
      <dgm:prSet presAssocID="{2810BF4E-C257-478C-93E4-98770E6EDB49}" presName="sibTransNodeRect" presStyleLbl="alignNode1" presStyleIdx="5" presStyleCnt="6">
        <dgm:presLayoutVars>
          <dgm:chMax val="0"/>
          <dgm:bulletEnabled val="1"/>
        </dgm:presLayoutVars>
      </dgm:prSet>
      <dgm:spPr/>
    </dgm:pt>
    <dgm:pt modelId="{50A26E06-1DD2-480B-B206-217366F34DDA}" type="pres">
      <dgm:prSet presAssocID="{B5DED6E0-B4AD-4977-83B6-BF9610490946}" presName="nodeRect" presStyleLbl="alignNode1" presStyleIdx="5" presStyleCnt="6">
        <dgm:presLayoutVars>
          <dgm:bulletEnabled val="1"/>
        </dgm:presLayoutVars>
      </dgm:prSet>
      <dgm:spPr/>
    </dgm:pt>
  </dgm:ptLst>
  <dgm:cxnLst>
    <dgm:cxn modelId="{19F39E1A-58A0-40E8-8A7D-7140281617BD}" type="presOf" srcId="{D7D00F0C-C007-4CE2-B13C-2F6A8EA7F14B}" destId="{44C49E5B-AD5D-46B6-9BA0-09C4A3F7A63F}" srcOrd="1" destOrd="0" presId="urn:microsoft.com/office/officeart/2016/7/layout/LinearBlockProcessNumbered"/>
    <dgm:cxn modelId="{02981927-1F09-48A2-8D38-10A00C5D8EF4}" srcId="{462878D1-FA5D-408A-BBCC-03DB2A701A87}" destId="{90D0A2B8-F9A2-4EE6-A036-AF2BC04047F9}" srcOrd="2" destOrd="0" parTransId="{0B0760D1-539F-45EE-8139-C373B85DD823}" sibTransId="{78C08C29-2C7E-4563-A26F-07867AACEABB}"/>
    <dgm:cxn modelId="{0C687A2B-B297-44AA-82D2-D5685B3EB3B9}" type="presOf" srcId="{D7D00F0C-C007-4CE2-B13C-2F6A8EA7F14B}" destId="{E7C436FA-0430-464E-841D-89E48BAC83DB}" srcOrd="0" destOrd="0" presId="urn:microsoft.com/office/officeart/2016/7/layout/LinearBlockProcessNumbered"/>
    <dgm:cxn modelId="{8FAD432D-258E-4DDE-BC9D-A703B84B29F5}" type="presOf" srcId="{015CB278-27AD-4A29-B65D-EE71D058F8B2}" destId="{BE9341D6-6A87-4607-BBC2-A5DC8822148C}" srcOrd="0" destOrd="0" presId="urn:microsoft.com/office/officeart/2016/7/layout/LinearBlockProcessNumbered"/>
    <dgm:cxn modelId="{8A290631-3994-499F-B16D-8BDD1DA89F82}" srcId="{462878D1-FA5D-408A-BBCC-03DB2A701A87}" destId="{B5DED6E0-B4AD-4977-83B6-BF9610490946}" srcOrd="5" destOrd="0" parTransId="{26161910-306F-4D40-BCA6-76A2A67F2C74}" sibTransId="{2810BF4E-C257-478C-93E4-98770E6EDB49}"/>
    <dgm:cxn modelId="{59FF7F63-DB84-488E-A73B-88C94490B986}" type="presOf" srcId="{78C08C29-2C7E-4563-A26F-07867AACEABB}" destId="{3BBFE501-EE79-4851-AC54-BCC7E2A6894D}" srcOrd="0" destOrd="0" presId="urn:microsoft.com/office/officeart/2016/7/layout/LinearBlockProcessNumbered"/>
    <dgm:cxn modelId="{4E5CA848-2989-4F09-A936-E6AAC10A29A2}" type="presOf" srcId="{B5DED6E0-B4AD-4977-83B6-BF9610490946}" destId="{E1170AD4-6C23-461F-8F53-92C01D123599}" srcOrd="0" destOrd="0" presId="urn:microsoft.com/office/officeart/2016/7/layout/LinearBlockProcessNumbered"/>
    <dgm:cxn modelId="{48FB0D6B-7736-4381-AA15-B0CE6090287D}" type="presOf" srcId="{90D0A2B8-F9A2-4EE6-A036-AF2BC04047F9}" destId="{2CF9968F-4421-4B44-A85F-8F6C36B1E4E1}" srcOrd="0" destOrd="0" presId="urn:microsoft.com/office/officeart/2016/7/layout/LinearBlockProcessNumbered"/>
    <dgm:cxn modelId="{86356C4C-4EA6-4F85-A980-FFAE28C2A281}" type="presOf" srcId="{3CB8E2A7-0671-43AE-A43C-A2B5C48719BD}" destId="{EC5AD160-8398-4CAC-82EF-0BB408EDCFFD}" srcOrd="0" destOrd="0" presId="urn:microsoft.com/office/officeart/2016/7/layout/LinearBlockProcessNumbered"/>
    <dgm:cxn modelId="{97711E6D-A93D-46CC-AA29-371AFDA729D2}" srcId="{462878D1-FA5D-408A-BBCC-03DB2A701A87}" destId="{1C8F82B4-CCF1-4454-9FC2-F26CBFF74C5D}" srcOrd="0" destOrd="0" parTransId="{A17F1046-F663-468F-9F2D-95CBED7FF9E1}" sibTransId="{3CB8E2A7-0671-43AE-A43C-A2B5C48719BD}"/>
    <dgm:cxn modelId="{8D858E4F-1EEF-43B0-8710-3296914EEF10}" type="presOf" srcId="{1C8F82B4-CCF1-4454-9FC2-F26CBFF74C5D}" destId="{2F66A73C-7405-4010-9238-41B1BF2C3B4F}" srcOrd="1" destOrd="0" presId="urn:microsoft.com/office/officeart/2016/7/layout/LinearBlockProcessNumbered"/>
    <dgm:cxn modelId="{B8377750-3386-4C23-85F2-4D4320784402}" type="presOf" srcId="{57A0A095-8181-4156-86FF-9178DE2EE99A}" destId="{2336EC19-087E-401E-A518-7DE085883450}" srcOrd="0" destOrd="0" presId="urn:microsoft.com/office/officeart/2016/7/layout/LinearBlockProcessNumbered"/>
    <dgm:cxn modelId="{82C3A575-EDE6-43C5-B809-B7D94A3E450B}" type="presOf" srcId="{2810BF4E-C257-478C-93E4-98770E6EDB49}" destId="{331C899B-8DA3-4E93-8769-01CAFBC620A3}" srcOrd="0" destOrd="0" presId="urn:microsoft.com/office/officeart/2016/7/layout/LinearBlockProcessNumbered"/>
    <dgm:cxn modelId="{562FB97A-B163-4CBC-8D4D-74954E61B5E9}" srcId="{462878D1-FA5D-408A-BBCC-03DB2A701A87}" destId="{D7D00F0C-C007-4CE2-B13C-2F6A8EA7F14B}" srcOrd="4" destOrd="0" parTransId="{9A4DDA17-6901-48B3-A2D8-776D90F959C0}" sibTransId="{C707DDA7-06E3-48F2-BA39-E81150868430}"/>
    <dgm:cxn modelId="{6188C67A-F311-4299-A873-BE85BE61F4A9}" type="presOf" srcId="{FCABE807-8E45-4F53-A811-00DA7AAD1126}" destId="{4F36F98D-188B-413A-925E-126CAAD4E28A}" srcOrd="0" destOrd="0" presId="urn:microsoft.com/office/officeart/2016/7/layout/LinearBlockProcessNumbered"/>
    <dgm:cxn modelId="{A17A5D84-D410-45DE-90F1-FCFFAA27C905}" type="presOf" srcId="{462878D1-FA5D-408A-BBCC-03DB2A701A87}" destId="{DE34A956-0884-42D4-A8BF-52C51BCF0EF0}" srcOrd="0" destOrd="0" presId="urn:microsoft.com/office/officeart/2016/7/layout/LinearBlockProcessNumbered"/>
    <dgm:cxn modelId="{88A4C29C-CA08-4606-BD21-77ACFBFA8D40}" type="presOf" srcId="{1C8F82B4-CCF1-4454-9FC2-F26CBFF74C5D}" destId="{E3AB3B61-1A80-4A7F-86E7-8FD0127C7B5C}" srcOrd="0" destOrd="0" presId="urn:microsoft.com/office/officeart/2016/7/layout/LinearBlockProcessNumbered"/>
    <dgm:cxn modelId="{A90F2CA2-DDB3-4A70-85ED-5C9B0DB4378F}" type="presOf" srcId="{B5DED6E0-B4AD-4977-83B6-BF9610490946}" destId="{50A26E06-1DD2-480B-B206-217366F34DDA}" srcOrd="1" destOrd="0" presId="urn:microsoft.com/office/officeart/2016/7/layout/LinearBlockProcessNumbered"/>
    <dgm:cxn modelId="{0DDAE1AB-9763-413F-BAF9-135EE761D0C7}" type="presOf" srcId="{638905A2-E290-4FD6-8780-F24E2FE32E36}" destId="{C5BE5B81-F9B6-49FC-AB6A-A10FB24F7FA7}" srcOrd="1" destOrd="0" presId="urn:microsoft.com/office/officeart/2016/7/layout/LinearBlockProcessNumbered"/>
    <dgm:cxn modelId="{A5CE27BB-7B11-4420-8123-4E5781595D6F}" srcId="{462878D1-FA5D-408A-BBCC-03DB2A701A87}" destId="{638905A2-E290-4FD6-8780-F24E2FE32E36}" srcOrd="3" destOrd="0" parTransId="{9E818C80-8791-4945-96F8-8A7A5F8BA991}" sibTransId="{57A0A095-8181-4156-86FF-9178DE2EE99A}"/>
    <dgm:cxn modelId="{ED2FC9C1-FF48-4968-AF0C-2102CB639E43}" type="presOf" srcId="{015CB278-27AD-4A29-B65D-EE71D058F8B2}" destId="{1AE9FB98-36F7-46C2-8651-AE20923703C0}" srcOrd="1" destOrd="0" presId="urn:microsoft.com/office/officeart/2016/7/layout/LinearBlockProcessNumbered"/>
    <dgm:cxn modelId="{BBFB2DC5-4504-40DB-883F-AF5F8AF57870}" type="presOf" srcId="{90D0A2B8-F9A2-4EE6-A036-AF2BC04047F9}" destId="{92336030-E107-4413-B8BA-D354DEF56699}" srcOrd="1" destOrd="0" presId="urn:microsoft.com/office/officeart/2016/7/layout/LinearBlockProcessNumbered"/>
    <dgm:cxn modelId="{BEDA7FCA-7F63-4727-B20C-0C4559E5C5DF}" type="presOf" srcId="{C707DDA7-06E3-48F2-BA39-E81150868430}" destId="{AC2B16D0-3D33-40D3-8B78-27EC225AB3C1}" srcOrd="0" destOrd="0" presId="urn:microsoft.com/office/officeart/2016/7/layout/LinearBlockProcessNumbered"/>
    <dgm:cxn modelId="{39907ECC-533A-426C-AA94-3E9F9ACCC671}" srcId="{462878D1-FA5D-408A-BBCC-03DB2A701A87}" destId="{015CB278-27AD-4A29-B65D-EE71D058F8B2}" srcOrd="1" destOrd="0" parTransId="{D2D3B67A-E4D6-4136-8D75-BAB3E63FCF64}" sibTransId="{FCABE807-8E45-4F53-A811-00DA7AAD1126}"/>
    <dgm:cxn modelId="{322784E6-32A1-487E-A2EF-240064CEF2D9}" type="presOf" srcId="{638905A2-E290-4FD6-8780-F24E2FE32E36}" destId="{092F293F-6C23-4DE8-8635-0D892B148AB0}" srcOrd="0" destOrd="0" presId="urn:microsoft.com/office/officeart/2016/7/layout/LinearBlockProcessNumbered"/>
    <dgm:cxn modelId="{85BB9E3F-51BE-4A77-A964-51D0063868F6}" type="presParOf" srcId="{DE34A956-0884-42D4-A8BF-52C51BCF0EF0}" destId="{2B95DEDB-91A0-48F4-998D-B3CD2E7C17D1}" srcOrd="0" destOrd="0" presId="urn:microsoft.com/office/officeart/2016/7/layout/LinearBlockProcessNumbered"/>
    <dgm:cxn modelId="{0461A679-1B8E-40C5-81A0-CA70E01550F5}" type="presParOf" srcId="{2B95DEDB-91A0-48F4-998D-B3CD2E7C17D1}" destId="{E3AB3B61-1A80-4A7F-86E7-8FD0127C7B5C}" srcOrd="0" destOrd="0" presId="urn:microsoft.com/office/officeart/2016/7/layout/LinearBlockProcessNumbered"/>
    <dgm:cxn modelId="{49C1EF4B-5CD2-43F3-805A-B8DEED002259}" type="presParOf" srcId="{2B95DEDB-91A0-48F4-998D-B3CD2E7C17D1}" destId="{EC5AD160-8398-4CAC-82EF-0BB408EDCFFD}" srcOrd="1" destOrd="0" presId="urn:microsoft.com/office/officeart/2016/7/layout/LinearBlockProcessNumbered"/>
    <dgm:cxn modelId="{7E6490AB-6FD8-4C9A-B509-4422D6F0F98F}" type="presParOf" srcId="{2B95DEDB-91A0-48F4-998D-B3CD2E7C17D1}" destId="{2F66A73C-7405-4010-9238-41B1BF2C3B4F}" srcOrd="2" destOrd="0" presId="urn:microsoft.com/office/officeart/2016/7/layout/LinearBlockProcessNumbered"/>
    <dgm:cxn modelId="{AA749F87-C889-4039-B943-DCA053C2550E}" type="presParOf" srcId="{DE34A956-0884-42D4-A8BF-52C51BCF0EF0}" destId="{9E681956-B07A-4F4F-9241-1320D598AC6D}" srcOrd="1" destOrd="0" presId="urn:microsoft.com/office/officeart/2016/7/layout/LinearBlockProcessNumbered"/>
    <dgm:cxn modelId="{CBB4DA55-64CF-4165-963B-6E4DCBBFCB6F}" type="presParOf" srcId="{DE34A956-0884-42D4-A8BF-52C51BCF0EF0}" destId="{4B12B4BF-7214-4953-A07F-7967046646DF}" srcOrd="2" destOrd="0" presId="urn:microsoft.com/office/officeart/2016/7/layout/LinearBlockProcessNumbered"/>
    <dgm:cxn modelId="{01FC00EA-23AD-4711-9BA2-A4D19861C715}" type="presParOf" srcId="{4B12B4BF-7214-4953-A07F-7967046646DF}" destId="{BE9341D6-6A87-4607-BBC2-A5DC8822148C}" srcOrd="0" destOrd="0" presId="urn:microsoft.com/office/officeart/2016/7/layout/LinearBlockProcessNumbered"/>
    <dgm:cxn modelId="{097894B6-DD09-4750-BBFB-5DF0DFA435B4}" type="presParOf" srcId="{4B12B4BF-7214-4953-A07F-7967046646DF}" destId="{4F36F98D-188B-413A-925E-126CAAD4E28A}" srcOrd="1" destOrd="0" presId="urn:microsoft.com/office/officeart/2016/7/layout/LinearBlockProcessNumbered"/>
    <dgm:cxn modelId="{D7CCDA61-9367-4D47-8E4A-FE587EF2CDA7}" type="presParOf" srcId="{4B12B4BF-7214-4953-A07F-7967046646DF}" destId="{1AE9FB98-36F7-46C2-8651-AE20923703C0}" srcOrd="2" destOrd="0" presId="urn:microsoft.com/office/officeart/2016/7/layout/LinearBlockProcessNumbered"/>
    <dgm:cxn modelId="{2D51447C-52B8-4E63-82E7-E837C8784838}" type="presParOf" srcId="{DE34A956-0884-42D4-A8BF-52C51BCF0EF0}" destId="{08A21340-258B-49EE-BD9E-4CBDF9CBA36B}" srcOrd="3" destOrd="0" presId="urn:microsoft.com/office/officeart/2016/7/layout/LinearBlockProcessNumbered"/>
    <dgm:cxn modelId="{2D22D035-42E6-4904-AFB0-5B136C1F2A3B}" type="presParOf" srcId="{DE34A956-0884-42D4-A8BF-52C51BCF0EF0}" destId="{1F4F0CC5-781A-407C-BE36-E8C74F08C5ED}" srcOrd="4" destOrd="0" presId="urn:microsoft.com/office/officeart/2016/7/layout/LinearBlockProcessNumbered"/>
    <dgm:cxn modelId="{0E8F14B3-AD90-48A3-B204-11AEC3999F52}" type="presParOf" srcId="{1F4F0CC5-781A-407C-BE36-E8C74F08C5ED}" destId="{2CF9968F-4421-4B44-A85F-8F6C36B1E4E1}" srcOrd="0" destOrd="0" presId="urn:microsoft.com/office/officeart/2016/7/layout/LinearBlockProcessNumbered"/>
    <dgm:cxn modelId="{8B7C7818-D263-4090-A956-F51E1AE85DBE}" type="presParOf" srcId="{1F4F0CC5-781A-407C-BE36-E8C74F08C5ED}" destId="{3BBFE501-EE79-4851-AC54-BCC7E2A6894D}" srcOrd="1" destOrd="0" presId="urn:microsoft.com/office/officeart/2016/7/layout/LinearBlockProcessNumbered"/>
    <dgm:cxn modelId="{9686723C-EFFD-4FBC-8EF6-4E6B297EC884}" type="presParOf" srcId="{1F4F0CC5-781A-407C-BE36-E8C74F08C5ED}" destId="{92336030-E107-4413-B8BA-D354DEF56699}" srcOrd="2" destOrd="0" presId="urn:microsoft.com/office/officeart/2016/7/layout/LinearBlockProcessNumbered"/>
    <dgm:cxn modelId="{00F39B63-C9A9-49D7-8781-82DB396235B2}" type="presParOf" srcId="{DE34A956-0884-42D4-A8BF-52C51BCF0EF0}" destId="{476CCB13-868C-410A-BC02-C4D84B819D79}" srcOrd="5" destOrd="0" presId="urn:microsoft.com/office/officeart/2016/7/layout/LinearBlockProcessNumbered"/>
    <dgm:cxn modelId="{51DB6567-55FE-4F4C-89FA-17201E8FD23E}" type="presParOf" srcId="{DE34A956-0884-42D4-A8BF-52C51BCF0EF0}" destId="{FB7EFB0E-4204-46FF-8BC6-2778774646FC}" srcOrd="6" destOrd="0" presId="urn:microsoft.com/office/officeart/2016/7/layout/LinearBlockProcessNumbered"/>
    <dgm:cxn modelId="{16028D68-0EA0-428C-B120-C189D04DF1F8}" type="presParOf" srcId="{FB7EFB0E-4204-46FF-8BC6-2778774646FC}" destId="{092F293F-6C23-4DE8-8635-0D892B148AB0}" srcOrd="0" destOrd="0" presId="urn:microsoft.com/office/officeart/2016/7/layout/LinearBlockProcessNumbered"/>
    <dgm:cxn modelId="{5398E0AD-6BCD-4792-935B-F03032DFC6AF}" type="presParOf" srcId="{FB7EFB0E-4204-46FF-8BC6-2778774646FC}" destId="{2336EC19-087E-401E-A518-7DE085883450}" srcOrd="1" destOrd="0" presId="urn:microsoft.com/office/officeart/2016/7/layout/LinearBlockProcessNumbered"/>
    <dgm:cxn modelId="{82CADB8A-9E9C-4F11-B304-42651FC9DA8E}" type="presParOf" srcId="{FB7EFB0E-4204-46FF-8BC6-2778774646FC}" destId="{C5BE5B81-F9B6-49FC-AB6A-A10FB24F7FA7}" srcOrd="2" destOrd="0" presId="urn:microsoft.com/office/officeart/2016/7/layout/LinearBlockProcessNumbered"/>
    <dgm:cxn modelId="{C1D012B1-115D-4016-88C4-CBFD05BAD11C}" type="presParOf" srcId="{DE34A956-0884-42D4-A8BF-52C51BCF0EF0}" destId="{F26757CD-65F2-47F4-9D3A-B3E0B174B511}" srcOrd="7" destOrd="0" presId="urn:microsoft.com/office/officeart/2016/7/layout/LinearBlockProcessNumbered"/>
    <dgm:cxn modelId="{16A8551A-FEA7-4E3A-BE58-F639C9D2563C}" type="presParOf" srcId="{DE34A956-0884-42D4-A8BF-52C51BCF0EF0}" destId="{6D190869-11B3-45D4-AE35-EA9693443BFC}" srcOrd="8" destOrd="0" presId="urn:microsoft.com/office/officeart/2016/7/layout/LinearBlockProcessNumbered"/>
    <dgm:cxn modelId="{D9AD4D24-154E-41A9-8124-80D0934C322E}" type="presParOf" srcId="{6D190869-11B3-45D4-AE35-EA9693443BFC}" destId="{E7C436FA-0430-464E-841D-89E48BAC83DB}" srcOrd="0" destOrd="0" presId="urn:microsoft.com/office/officeart/2016/7/layout/LinearBlockProcessNumbered"/>
    <dgm:cxn modelId="{C3771379-7A0E-4433-B5DB-07B6787387D5}" type="presParOf" srcId="{6D190869-11B3-45D4-AE35-EA9693443BFC}" destId="{AC2B16D0-3D33-40D3-8B78-27EC225AB3C1}" srcOrd="1" destOrd="0" presId="urn:microsoft.com/office/officeart/2016/7/layout/LinearBlockProcessNumbered"/>
    <dgm:cxn modelId="{23E38989-275F-46AB-B07C-00DDE8452EB5}" type="presParOf" srcId="{6D190869-11B3-45D4-AE35-EA9693443BFC}" destId="{44C49E5B-AD5D-46B6-9BA0-09C4A3F7A63F}" srcOrd="2" destOrd="0" presId="urn:microsoft.com/office/officeart/2016/7/layout/LinearBlockProcessNumbered"/>
    <dgm:cxn modelId="{E14506DB-20EE-4743-910A-CC3E888D5291}" type="presParOf" srcId="{DE34A956-0884-42D4-A8BF-52C51BCF0EF0}" destId="{94E27A61-6899-4031-92B4-2CAA6AABB6D4}" srcOrd="9" destOrd="0" presId="urn:microsoft.com/office/officeart/2016/7/layout/LinearBlockProcessNumbered"/>
    <dgm:cxn modelId="{2F3F0174-2432-4A8A-A349-8618EFC5F60B}" type="presParOf" srcId="{DE34A956-0884-42D4-A8BF-52C51BCF0EF0}" destId="{D8E95183-627A-49B7-A3F4-18A0CCE31236}" srcOrd="10" destOrd="0" presId="urn:microsoft.com/office/officeart/2016/7/layout/LinearBlockProcessNumbered"/>
    <dgm:cxn modelId="{F68E2E5E-D798-4C62-82CF-61955AAD24C1}" type="presParOf" srcId="{D8E95183-627A-49B7-A3F4-18A0CCE31236}" destId="{E1170AD4-6C23-461F-8F53-92C01D123599}" srcOrd="0" destOrd="0" presId="urn:microsoft.com/office/officeart/2016/7/layout/LinearBlockProcessNumbered"/>
    <dgm:cxn modelId="{2BF95C1D-1684-4FA7-9EF6-B9DB4FE16942}" type="presParOf" srcId="{D8E95183-627A-49B7-A3F4-18A0CCE31236}" destId="{331C899B-8DA3-4E93-8769-01CAFBC620A3}" srcOrd="1" destOrd="0" presId="urn:microsoft.com/office/officeart/2016/7/layout/LinearBlockProcessNumbered"/>
    <dgm:cxn modelId="{FB70256B-8964-4C12-B6D9-362E61C25046}" type="presParOf" srcId="{D8E95183-627A-49B7-A3F4-18A0CCE31236}" destId="{50A26E06-1DD2-480B-B206-217366F34DD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0EB40BE-D6AE-4290-98DC-B7ABCD6F3EB6}"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01C98C82-51F0-4ED1-9AA1-4E83227C45CC}">
      <dgm:prSet/>
      <dgm:spPr/>
      <dgm:t>
        <a:bodyPr/>
        <a:lstStyle/>
        <a:p>
          <a:pPr>
            <a:lnSpc>
              <a:spcPct val="100000"/>
            </a:lnSpc>
            <a:defRPr b="1"/>
          </a:pPr>
          <a:r>
            <a:rPr lang="en-GB" b="1"/>
            <a:t>Practical Contribution</a:t>
          </a:r>
          <a:endParaRPr lang="en-US"/>
        </a:p>
      </dgm:t>
    </dgm:pt>
    <dgm:pt modelId="{48AD5CB6-2F26-4713-993B-43E95B402BDE}" type="parTrans" cxnId="{05EDA5FC-80C8-4C40-AB8D-0CA8FD57D150}">
      <dgm:prSet/>
      <dgm:spPr/>
      <dgm:t>
        <a:bodyPr/>
        <a:lstStyle/>
        <a:p>
          <a:endParaRPr lang="en-US"/>
        </a:p>
      </dgm:t>
    </dgm:pt>
    <dgm:pt modelId="{7EA18D4D-85A9-4FA5-A1DF-3F1915B09662}" type="sibTrans" cxnId="{05EDA5FC-80C8-4C40-AB8D-0CA8FD57D150}">
      <dgm:prSet/>
      <dgm:spPr/>
      <dgm:t>
        <a:bodyPr/>
        <a:lstStyle/>
        <a:p>
          <a:endParaRPr lang="en-US"/>
        </a:p>
      </dgm:t>
    </dgm:pt>
    <dgm:pt modelId="{761CBABC-DF72-424B-B874-CEC33F9D5C8B}">
      <dgm:prSet/>
      <dgm:spPr/>
      <dgm:t>
        <a:bodyPr/>
        <a:lstStyle/>
        <a:p>
          <a:pPr>
            <a:lnSpc>
              <a:spcPct val="100000"/>
            </a:lnSpc>
          </a:pPr>
          <a:r>
            <a:rPr lang="en-GB"/>
            <a:t>Integrated Data Repository for operational oncology workflows</a:t>
          </a:r>
          <a:endParaRPr lang="en-US"/>
        </a:p>
      </dgm:t>
    </dgm:pt>
    <dgm:pt modelId="{C8F71B06-4C36-498F-9A03-9DC836BDBCF0}" type="parTrans" cxnId="{22F56C12-1EB2-4721-B907-6AF7C50BAC90}">
      <dgm:prSet/>
      <dgm:spPr/>
      <dgm:t>
        <a:bodyPr/>
        <a:lstStyle/>
        <a:p>
          <a:endParaRPr lang="en-US"/>
        </a:p>
      </dgm:t>
    </dgm:pt>
    <dgm:pt modelId="{EEF0E7A0-E5A9-4583-B55C-ABE5189D8902}" type="sibTrans" cxnId="{22F56C12-1EB2-4721-B907-6AF7C50BAC90}">
      <dgm:prSet/>
      <dgm:spPr/>
      <dgm:t>
        <a:bodyPr/>
        <a:lstStyle/>
        <a:p>
          <a:endParaRPr lang="en-US"/>
        </a:p>
      </dgm:t>
    </dgm:pt>
    <dgm:pt modelId="{2C78AA2D-DF90-470F-8AEA-CFD13B0DC1B5}">
      <dgm:prSet/>
      <dgm:spPr/>
      <dgm:t>
        <a:bodyPr/>
        <a:lstStyle/>
        <a:p>
          <a:pPr>
            <a:lnSpc>
              <a:spcPct val="100000"/>
            </a:lnSpc>
          </a:pPr>
          <a:r>
            <a:rPr lang="en-GB"/>
            <a:t>Decision-Support dashboard suite</a:t>
          </a:r>
          <a:endParaRPr lang="en-US"/>
        </a:p>
      </dgm:t>
    </dgm:pt>
    <dgm:pt modelId="{44BF49E4-FDFE-483A-9F7D-902B627EB13C}" type="parTrans" cxnId="{5134E30E-F420-449A-B8BF-E6A7D1E5C0DA}">
      <dgm:prSet/>
      <dgm:spPr/>
      <dgm:t>
        <a:bodyPr/>
        <a:lstStyle/>
        <a:p>
          <a:endParaRPr lang="en-US"/>
        </a:p>
      </dgm:t>
    </dgm:pt>
    <dgm:pt modelId="{46511867-1EF0-4C20-BF08-60D940C58AF7}" type="sibTrans" cxnId="{5134E30E-F420-449A-B8BF-E6A7D1E5C0DA}">
      <dgm:prSet/>
      <dgm:spPr/>
      <dgm:t>
        <a:bodyPr/>
        <a:lstStyle/>
        <a:p>
          <a:endParaRPr lang="en-US"/>
        </a:p>
      </dgm:t>
    </dgm:pt>
    <dgm:pt modelId="{C8A7FD21-25DE-44F9-A26E-A36662FB85BF}">
      <dgm:prSet/>
      <dgm:spPr/>
      <dgm:t>
        <a:bodyPr/>
        <a:lstStyle/>
        <a:p>
          <a:pPr>
            <a:lnSpc>
              <a:spcPct val="100000"/>
            </a:lnSpc>
          </a:pPr>
          <a:r>
            <a:rPr lang="en-GB"/>
            <a:t>Improved visibility of post-MDT bottlenecks</a:t>
          </a:r>
          <a:endParaRPr lang="en-US"/>
        </a:p>
      </dgm:t>
    </dgm:pt>
    <dgm:pt modelId="{134CA3E6-B00E-41AD-B2B8-8BD4DB7A2671}" type="parTrans" cxnId="{6FB3A70C-CD58-4759-95CC-D69AE936370C}">
      <dgm:prSet/>
      <dgm:spPr/>
      <dgm:t>
        <a:bodyPr/>
        <a:lstStyle/>
        <a:p>
          <a:endParaRPr lang="en-US"/>
        </a:p>
      </dgm:t>
    </dgm:pt>
    <dgm:pt modelId="{C3E4EBAE-7A8A-4725-AC1B-5F5FA39384B5}" type="sibTrans" cxnId="{6FB3A70C-CD58-4759-95CC-D69AE936370C}">
      <dgm:prSet/>
      <dgm:spPr/>
      <dgm:t>
        <a:bodyPr/>
        <a:lstStyle/>
        <a:p>
          <a:endParaRPr lang="en-US"/>
        </a:p>
      </dgm:t>
    </dgm:pt>
    <dgm:pt modelId="{652C02FD-2AA9-4249-A3A9-CB783F7E8266}">
      <dgm:prSet/>
      <dgm:spPr/>
      <dgm:t>
        <a:bodyPr/>
        <a:lstStyle/>
        <a:p>
          <a:pPr>
            <a:lnSpc>
              <a:spcPct val="100000"/>
            </a:lnSpc>
          </a:pPr>
          <a:r>
            <a:rPr lang="en-GB"/>
            <a:t>Evidence-based baseline metrics for pathway performance</a:t>
          </a:r>
          <a:endParaRPr lang="en-US"/>
        </a:p>
      </dgm:t>
    </dgm:pt>
    <dgm:pt modelId="{36D2A6F2-4B31-4A8B-B7CA-DF70F74B301E}" type="parTrans" cxnId="{CEF77679-357C-4CE8-BCA4-E5575C86AF73}">
      <dgm:prSet/>
      <dgm:spPr/>
      <dgm:t>
        <a:bodyPr/>
        <a:lstStyle/>
        <a:p>
          <a:endParaRPr lang="en-US"/>
        </a:p>
      </dgm:t>
    </dgm:pt>
    <dgm:pt modelId="{5DD882C5-15D1-4E07-BBB8-ADA5C02B592B}" type="sibTrans" cxnId="{CEF77679-357C-4CE8-BCA4-E5575C86AF73}">
      <dgm:prSet/>
      <dgm:spPr/>
      <dgm:t>
        <a:bodyPr/>
        <a:lstStyle/>
        <a:p>
          <a:endParaRPr lang="en-US"/>
        </a:p>
      </dgm:t>
    </dgm:pt>
    <dgm:pt modelId="{9AFB3B82-364F-4F91-8662-0B63236E87AD}">
      <dgm:prSet/>
      <dgm:spPr/>
      <dgm:t>
        <a:bodyPr/>
        <a:lstStyle/>
        <a:p>
          <a:pPr>
            <a:lnSpc>
              <a:spcPct val="100000"/>
            </a:lnSpc>
            <a:defRPr b="1"/>
          </a:pPr>
          <a:r>
            <a:rPr lang="en-GB" b="1"/>
            <a:t>Academic Contribution</a:t>
          </a:r>
          <a:endParaRPr lang="en-US"/>
        </a:p>
      </dgm:t>
    </dgm:pt>
    <dgm:pt modelId="{23564303-0777-4578-8531-31FFC0DED7D8}" type="parTrans" cxnId="{38AAC658-2571-4DA9-9925-652BE2F449AE}">
      <dgm:prSet/>
      <dgm:spPr/>
      <dgm:t>
        <a:bodyPr/>
        <a:lstStyle/>
        <a:p>
          <a:endParaRPr lang="en-US"/>
        </a:p>
      </dgm:t>
    </dgm:pt>
    <dgm:pt modelId="{AC59C1BC-484B-44E2-A779-603C8BB5D1C3}" type="sibTrans" cxnId="{38AAC658-2571-4DA9-9925-652BE2F449AE}">
      <dgm:prSet/>
      <dgm:spPr/>
      <dgm:t>
        <a:bodyPr/>
        <a:lstStyle/>
        <a:p>
          <a:endParaRPr lang="en-US"/>
        </a:p>
      </dgm:t>
    </dgm:pt>
    <dgm:pt modelId="{73312E02-8660-440E-80DF-E47711FDFC2A}">
      <dgm:prSet/>
      <dgm:spPr/>
      <dgm:t>
        <a:bodyPr/>
        <a:lstStyle/>
        <a:p>
          <a:pPr>
            <a:lnSpc>
              <a:spcPct val="100000"/>
            </a:lnSpc>
          </a:pPr>
          <a:r>
            <a:rPr lang="en-GB"/>
            <a:t>Application of Design Science Research in NHS operational analytics</a:t>
          </a:r>
          <a:endParaRPr lang="en-US"/>
        </a:p>
      </dgm:t>
    </dgm:pt>
    <dgm:pt modelId="{752C1D62-54CB-4E61-AA90-8F4670680482}" type="parTrans" cxnId="{0D0DA4DD-D4BA-4730-892F-F28559C3C640}">
      <dgm:prSet/>
      <dgm:spPr/>
      <dgm:t>
        <a:bodyPr/>
        <a:lstStyle/>
        <a:p>
          <a:endParaRPr lang="en-US"/>
        </a:p>
      </dgm:t>
    </dgm:pt>
    <dgm:pt modelId="{E3AD5396-78FD-449C-A866-353A005876DB}" type="sibTrans" cxnId="{0D0DA4DD-D4BA-4730-892F-F28559C3C640}">
      <dgm:prSet/>
      <dgm:spPr/>
      <dgm:t>
        <a:bodyPr/>
        <a:lstStyle/>
        <a:p>
          <a:endParaRPr lang="en-US"/>
        </a:p>
      </dgm:t>
    </dgm:pt>
    <dgm:pt modelId="{227F308F-AA35-45ED-8CE0-72C38B17B1F0}">
      <dgm:prSet/>
      <dgm:spPr/>
      <dgm:t>
        <a:bodyPr/>
        <a:lstStyle/>
        <a:p>
          <a:pPr>
            <a:lnSpc>
              <a:spcPct val="100000"/>
            </a:lnSpc>
          </a:pPr>
          <a:r>
            <a:rPr lang="en-GB"/>
            <a:t>Six evaluated design principles for operational oncology analytics</a:t>
          </a:r>
          <a:endParaRPr lang="en-US"/>
        </a:p>
      </dgm:t>
    </dgm:pt>
    <dgm:pt modelId="{D18D30CB-7729-43BD-AFC6-31863D2A4ED1}" type="parTrans" cxnId="{64019589-696E-4487-A4C2-CDC043F231A3}">
      <dgm:prSet/>
      <dgm:spPr/>
      <dgm:t>
        <a:bodyPr/>
        <a:lstStyle/>
        <a:p>
          <a:endParaRPr lang="en-US"/>
        </a:p>
      </dgm:t>
    </dgm:pt>
    <dgm:pt modelId="{772F7974-415F-4C76-9232-30220239675E}" type="sibTrans" cxnId="{64019589-696E-4487-A4C2-CDC043F231A3}">
      <dgm:prSet/>
      <dgm:spPr/>
      <dgm:t>
        <a:bodyPr/>
        <a:lstStyle/>
        <a:p>
          <a:endParaRPr lang="en-US"/>
        </a:p>
      </dgm:t>
    </dgm:pt>
    <dgm:pt modelId="{EED0646A-D6EA-41B9-805B-8F06D970CBAF}">
      <dgm:prSet/>
      <dgm:spPr/>
      <dgm:t>
        <a:bodyPr/>
        <a:lstStyle/>
        <a:p>
          <a:pPr>
            <a:lnSpc>
              <a:spcPct val="100000"/>
            </a:lnSpc>
          </a:pPr>
          <a:r>
            <a:rPr lang="en-GB"/>
            <a:t>Evidence linking operational visibility, data quality, and manual administrative processes</a:t>
          </a:r>
          <a:endParaRPr lang="en-US"/>
        </a:p>
      </dgm:t>
    </dgm:pt>
    <dgm:pt modelId="{2C7F5635-18B1-4A60-BA03-403EF76DE3DA}" type="parTrans" cxnId="{D4D1A390-8CC2-4298-B6DB-92C94AAAB1A1}">
      <dgm:prSet/>
      <dgm:spPr/>
      <dgm:t>
        <a:bodyPr/>
        <a:lstStyle/>
        <a:p>
          <a:endParaRPr lang="en-US"/>
        </a:p>
      </dgm:t>
    </dgm:pt>
    <dgm:pt modelId="{A43F160B-06BD-4C47-91D7-E2BE7E90FC04}" type="sibTrans" cxnId="{D4D1A390-8CC2-4298-B6DB-92C94AAAB1A1}">
      <dgm:prSet/>
      <dgm:spPr/>
      <dgm:t>
        <a:bodyPr/>
        <a:lstStyle/>
        <a:p>
          <a:endParaRPr lang="en-US"/>
        </a:p>
      </dgm:t>
    </dgm:pt>
    <dgm:pt modelId="{05C15895-F081-4E3C-AFE8-4410896100B3}">
      <dgm:prSet/>
      <dgm:spPr/>
      <dgm:t>
        <a:bodyPr/>
        <a:lstStyle/>
        <a:p>
          <a:pPr>
            <a:lnSpc>
              <a:spcPct val="100000"/>
            </a:lnSpc>
            <a:defRPr b="1"/>
          </a:pPr>
          <a:r>
            <a:rPr lang="en-GB" b="1"/>
            <a:t>Strategic Contribution</a:t>
          </a:r>
          <a:endParaRPr lang="en-US"/>
        </a:p>
      </dgm:t>
    </dgm:pt>
    <dgm:pt modelId="{C3DE82EA-61D1-43ED-B76D-401CEA273C04}" type="parTrans" cxnId="{21886D59-18C1-4AAF-9A61-0664D5B3EDCC}">
      <dgm:prSet/>
      <dgm:spPr/>
      <dgm:t>
        <a:bodyPr/>
        <a:lstStyle/>
        <a:p>
          <a:endParaRPr lang="en-US"/>
        </a:p>
      </dgm:t>
    </dgm:pt>
    <dgm:pt modelId="{9ED6292C-C6EC-41CE-8E4D-283BB7502430}" type="sibTrans" cxnId="{21886D59-18C1-4AAF-9A61-0664D5B3EDCC}">
      <dgm:prSet/>
      <dgm:spPr/>
      <dgm:t>
        <a:bodyPr/>
        <a:lstStyle/>
        <a:p>
          <a:endParaRPr lang="en-US"/>
        </a:p>
      </dgm:t>
    </dgm:pt>
    <dgm:pt modelId="{CC54A89D-7F18-4DD6-A497-175E40CFF7E5}">
      <dgm:prSet/>
      <dgm:spPr/>
      <dgm:t>
        <a:bodyPr/>
        <a:lstStyle/>
        <a:p>
          <a:pPr>
            <a:lnSpc>
              <a:spcPct val="100000"/>
            </a:lnSpc>
          </a:pPr>
          <a:r>
            <a:rPr lang="en-GB"/>
            <a:t>Platform for evaluating digital referral transformation</a:t>
          </a:r>
          <a:endParaRPr lang="en-US"/>
        </a:p>
      </dgm:t>
    </dgm:pt>
    <dgm:pt modelId="{22845AF7-C781-49CA-A3F8-7CD9258168FD}" type="parTrans" cxnId="{76FDF7C6-EC30-4B8E-AADB-503F0FCCA46D}">
      <dgm:prSet/>
      <dgm:spPr/>
      <dgm:t>
        <a:bodyPr/>
        <a:lstStyle/>
        <a:p>
          <a:endParaRPr lang="en-US"/>
        </a:p>
      </dgm:t>
    </dgm:pt>
    <dgm:pt modelId="{20E9C946-338A-46BF-AC26-9F4866192838}" type="sibTrans" cxnId="{76FDF7C6-EC30-4B8E-AADB-503F0FCCA46D}">
      <dgm:prSet/>
      <dgm:spPr/>
      <dgm:t>
        <a:bodyPr/>
        <a:lstStyle/>
        <a:p>
          <a:endParaRPr lang="en-US"/>
        </a:p>
      </dgm:t>
    </dgm:pt>
    <dgm:pt modelId="{EB55A3E2-387A-43BB-8485-5BCE9DC39D6F}">
      <dgm:prSet/>
      <dgm:spPr/>
      <dgm:t>
        <a:bodyPr/>
        <a:lstStyle/>
        <a:p>
          <a:pPr>
            <a:lnSpc>
              <a:spcPct val="100000"/>
            </a:lnSpc>
          </a:pPr>
          <a:r>
            <a:rPr lang="en-GB"/>
            <a:t>Support NHS Shift from analogue to digital working</a:t>
          </a:r>
          <a:endParaRPr lang="en-US"/>
        </a:p>
      </dgm:t>
    </dgm:pt>
    <dgm:pt modelId="{22CE2394-C402-4313-90B6-980800E5EFFF}" type="parTrans" cxnId="{1D811D80-9A17-491F-886E-766728CCC3D4}">
      <dgm:prSet/>
      <dgm:spPr/>
      <dgm:t>
        <a:bodyPr/>
        <a:lstStyle/>
        <a:p>
          <a:endParaRPr lang="en-US"/>
        </a:p>
      </dgm:t>
    </dgm:pt>
    <dgm:pt modelId="{80CF0233-F7FF-43C8-BDB4-B3CC71CD665D}" type="sibTrans" cxnId="{1D811D80-9A17-491F-886E-766728CCC3D4}">
      <dgm:prSet/>
      <dgm:spPr/>
      <dgm:t>
        <a:bodyPr/>
        <a:lstStyle/>
        <a:p>
          <a:endParaRPr lang="en-US"/>
        </a:p>
      </dgm:t>
    </dgm:pt>
    <dgm:pt modelId="{5D6BC435-9B31-433B-8867-1625EB4AE840}" type="pres">
      <dgm:prSet presAssocID="{A0EB40BE-D6AE-4290-98DC-B7ABCD6F3EB6}" presName="root" presStyleCnt="0">
        <dgm:presLayoutVars>
          <dgm:dir/>
          <dgm:resizeHandles val="exact"/>
        </dgm:presLayoutVars>
      </dgm:prSet>
      <dgm:spPr/>
    </dgm:pt>
    <dgm:pt modelId="{DFCF9D36-48C5-4529-9F26-5BF68E7DEE96}" type="pres">
      <dgm:prSet presAssocID="{01C98C82-51F0-4ED1-9AA1-4E83227C45CC}" presName="compNode" presStyleCnt="0"/>
      <dgm:spPr/>
    </dgm:pt>
    <dgm:pt modelId="{B523D913-C6DD-44FD-BEDB-D601AD8F094F}" type="pres">
      <dgm:prSet presAssocID="{01C98C82-51F0-4ED1-9AA1-4E83227C45C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ar chart"/>
        </a:ext>
      </dgm:extLst>
    </dgm:pt>
    <dgm:pt modelId="{458DDB6E-5096-4B82-B7E6-301B42C490D0}" type="pres">
      <dgm:prSet presAssocID="{01C98C82-51F0-4ED1-9AA1-4E83227C45CC}" presName="iconSpace" presStyleCnt="0"/>
      <dgm:spPr/>
    </dgm:pt>
    <dgm:pt modelId="{FF689951-2497-4CAF-9BB0-13D59716DE81}" type="pres">
      <dgm:prSet presAssocID="{01C98C82-51F0-4ED1-9AA1-4E83227C45CC}" presName="parTx" presStyleLbl="revTx" presStyleIdx="0" presStyleCnt="6">
        <dgm:presLayoutVars>
          <dgm:chMax val="0"/>
          <dgm:chPref val="0"/>
        </dgm:presLayoutVars>
      </dgm:prSet>
      <dgm:spPr/>
    </dgm:pt>
    <dgm:pt modelId="{9911AA16-09D3-4C0A-BC14-8B0E90D8BF20}" type="pres">
      <dgm:prSet presAssocID="{01C98C82-51F0-4ED1-9AA1-4E83227C45CC}" presName="txSpace" presStyleCnt="0"/>
      <dgm:spPr/>
    </dgm:pt>
    <dgm:pt modelId="{D8CDA739-C4B2-4FF3-B507-55FBC81BED87}" type="pres">
      <dgm:prSet presAssocID="{01C98C82-51F0-4ED1-9AA1-4E83227C45CC}" presName="desTx" presStyleLbl="revTx" presStyleIdx="1" presStyleCnt="6">
        <dgm:presLayoutVars/>
      </dgm:prSet>
      <dgm:spPr/>
    </dgm:pt>
    <dgm:pt modelId="{A9066962-E820-43E8-AE56-EB711EF74E64}" type="pres">
      <dgm:prSet presAssocID="{7EA18D4D-85A9-4FA5-A1DF-3F1915B09662}" presName="sibTrans" presStyleCnt="0"/>
      <dgm:spPr/>
    </dgm:pt>
    <dgm:pt modelId="{8479B1CA-166A-406C-AF37-CC1CCD1AEBAB}" type="pres">
      <dgm:prSet presAssocID="{9AFB3B82-364F-4F91-8662-0B63236E87AD}" presName="compNode" presStyleCnt="0"/>
      <dgm:spPr/>
    </dgm:pt>
    <dgm:pt modelId="{9113B7F7-7294-40A4-87FE-DA4512187B96}" type="pres">
      <dgm:prSet presAssocID="{9AFB3B82-364F-4F91-8662-0B63236E87A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AA9E2DC5-49E2-4BC0-9E7E-5BB824914497}" type="pres">
      <dgm:prSet presAssocID="{9AFB3B82-364F-4F91-8662-0B63236E87AD}" presName="iconSpace" presStyleCnt="0"/>
      <dgm:spPr/>
    </dgm:pt>
    <dgm:pt modelId="{D4ABA06F-8B8C-4F5B-9190-38EACB532963}" type="pres">
      <dgm:prSet presAssocID="{9AFB3B82-364F-4F91-8662-0B63236E87AD}" presName="parTx" presStyleLbl="revTx" presStyleIdx="2" presStyleCnt="6">
        <dgm:presLayoutVars>
          <dgm:chMax val="0"/>
          <dgm:chPref val="0"/>
        </dgm:presLayoutVars>
      </dgm:prSet>
      <dgm:spPr/>
    </dgm:pt>
    <dgm:pt modelId="{6FAED676-1553-4985-9E43-4A048F74EF35}" type="pres">
      <dgm:prSet presAssocID="{9AFB3B82-364F-4F91-8662-0B63236E87AD}" presName="txSpace" presStyleCnt="0"/>
      <dgm:spPr/>
    </dgm:pt>
    <dgm:pt modelId="{6E1A92FA-B8D4-472A-B7C4-1AA7DFA3BAA9}" type="pres">
      <dgm:prSet presAssocID="{9AFB3B82-364F-4F91-8662-0B63236E87AD}" presName="desTx" presStyleLbl="revTx" presStyleIdx="3" presStyleCnt="6">
        <dgm:presLayoutVars/>
      </dgm:prSet>
      <dgm:spPr/>
    </dgm:pt>
    <dgm:pt modelId="{CF9CF184-F2FD-447D-ABA1-D7C17F73021C}" type="pres">
      <dgm:prSet presAssocID="{AC59C1BC-484B-44E2-A779-603C8BB5D1C3}" presName="sibTrans" presStyleCnt="0"/>
      <dgm:spPr/>
    </dgm:pt>
    <dgm:pt modelId="{6CD7FEA4-A705-491E-9808-12B9AF80B0E4}" type="pres">
      <dgm:prSet presAssocID="{05C15895-F081-4E3C-AFE8-4410896100B3}" presName="compNode" presStyleCnt="0"/>
      <dgm:spPr/>
    </dgm:pt>
    <dgm:pt modelId="{DB718047-8FFA-4F6F-8DA7-3CF82FF7A229}" type="pres">
      <dgm:prSet presAssocID="{05C15895-F081-4E3C-AFE8-4410896100B3}"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andshake"/>
        </a:ext>
      </dgm:extLst>
    </dgm:pt>
    <dgm:pt modelId="{F57C48B2-6F98-426F-8CB7-9469C7B4FDAD}" type="pres">
      <dgm:prSet presAssocID="{05C15895-F081-4E3C-AFE8-4410896100B3}" presName="iconSpace" presStyleCnt="0"/>
      <dgm:spPr/>
    </dgm:pt>
    <dgm:pt modelId="{C51AF327-238B-4F2E-AAD7-709FCE58D774}" type="pres">
      <dgm:prSet presAssocID="{05C15895-F081-4E3C-AFE8-4410896100B3}" presName="parTx" presStyleLbl="revTx" presStyleIdx="4" presStyleCnt="6">
        <dgm:presLayoutVars>
          <dgm:chMax val="0"/>
          <dgm:chPref val="0"/>
        </dgm:presLayoutVars>
      </dgm:prSet>
      <dgm:spPr/>
    </dgm:pt>
    <dgm:pt modelId="{14C3EF36-6B7E-42D3-B496-25A7B9258E36}" type="pres">
      <dgm:prSet presAssocID="{05C15895-F081-4E3C-AFE8-4410896100B3}" presName="txSpace" presStyleCnt="0"/>
      <dgm:spPr/>
    </dgm:pt>
    <dgm:pt modelId="{DA68E0C6-CBE1-44D0-80BC-C99D17E4E4BA}" type="pres">
      <dgm:prSet presAssocID="{05C15895-F081-4E3C-AFE8-4410896100B3}" presName="desTx" presStyleLbl="revTx" presStyleIdx="5" presStyleCnt="6">
        <dgm:presLayoutVars/>
      </dgm:prSet>
      <dgm:spPr/>
    </dgm:pt>
  </dgm:ptLst>
  <dgm:cxnLst>
    <dgm:cxn modelId="{6FB3A70C-CD58-4759-95CC-D69AE936370C}" srcId="{01C98C82-51F0-4ED1-9AA1-4E83227C45CC}" destId="{C8A7FD21-25DE-44F9-A26E-A36662FB85BF}" srcOrd="2" destOrd="0" parTransId="{134CA3E6-B00E-41AD-B2B8-8BD4DB7A2671}" sibTransId="{C3E4EBAE-7A8A-4725-AC1B-5F5FA39384B5}"/>
    <dgm:cxn modelId="{5134E30E-F420-449A-B8BF-E6A7D1E5C0DA}" srcId="{01C98C82-51F0-4ED1-9AA1-4E83227C45CC}" destId="{2C78AA2D-DF90-470F-8AEA-CFD13B0DC1B5}" srcOrd="1" destOrd="0" parTransId="{44BF49E4-FDFE-483A-9F7D-902B627EB13C}" sibTransId="{46511867-1EF0-4C20-BF08-60D940C58AF7}"/>
    <dgm:cxn modelId="{22F56C12-1EB2-4721-B907-6AF7C50BAC90}" srcId="{01C98C82-51F0-4ED1-9AA1-4E83227C45CC}" destId="{761CBABC-DF72-424B-B874-CEC33F9D5C8B}" srcOrd="0" destOrd="0" parTransId="{C8F71B06-4C36-498F-9A03-9DC836BDBCF0}" sibTransId="{EEF0E7A0-E5A9-4583-B55C-ABE5189D8902}"/>
    <dgm:cxn modelId="{6EB38013-E9EA-41FF-9D99-B057A63891D7}" type="presOf" srcId="{EED0646A-D6EA-41B9-805B-8F06D970CBAF}" destId="{6E1A92FA-B8D4-472A-B7C4-1AA7DFA3BAA9}" srcOrd="0" destOrd="2" presId="urn:microsoft.com/office/officeart/2018/2/layout/IconLabelDescriptionList"/>
    <dgm:cxn modelId="{14E3B315-F8D6-42AC-A7B6-F2DB28210F8F}" type="presOf" srcId="{227F308F-AA35-45ED-8CE0-72C38B17B1F0}" destId="{6E1A92FA-B8D4-472A-B7C4-1AA7DFA3BAA9}" srcOrd="0" destOrd="1" presId="urn:microsoft.com/office/officeart/2018/2/layout/IconLabelDescriptionList"/>
    <dgm:cxn modelId="{B327D72D-D16C-4F3A-A5DF-FB0B30B1078E}" type="presOf" srcId="{2C78AA2D-DF90-470F-8AEA-CFD13B0DC1B5}" destId="{D8CDA739-C4B2-4FF3-B507-55FBC81BED87}" srcOrd="0" destOrd="1" presId="urn:microsoft.com/office/officeart/2018/2/layout/IconLabelDescriptionList"/>
    <dgm:cxn modelId="{6171F139-1009-4C2F-B16A-1395EF6E582D}" type="presOf" srcId="{CC54A89D-7F18-4DD6-A497-175E40CFF7E5}" destId="{DA68E0C6-CBE1-44D0-80BC-C99D17E4E4BA}" srcOrd="0" destOrd="0" presId="urn:microsoft.com/office/officeart/2018/2/layout/IconLabelDescriptionList"/>
    <dgm:cxn modelId="{736A174A-AEAE-44BF-8FEC-7E288D6BE2CA}" type="presOf" srcId="{05C15895-F081-4E3C-AFE8-4410896100B3}" destId="{C51AF327-238B-4F2E-AAD7-709FCE58D774}" srcOrd="0" destOrd="0" presId="urn:microsoft.com/office/officeart/2018/2/layout/IconLabelDescriptionList"/>
    <dgm:cxn modelId="{FAC3A74C-A962-4A4F-AF65-3EDB072B663F}" type="presOf" srcId="{EB55A3E2-387A-43BB-8485-5BCE9DC39D6F}" destId="{DA68E0C6-CBE1-44D0-80BC-C99D17E4E4BA}" srcOrd="0" destOrd="1" presId="urn:microsoft.com/office/officeart/2018/2/layout/IconLabelDescriptionList"/>
    <dgm:cxn modelId="{DA5CBA6C-7E49-4B61-B06B-1CF8AA4B2E71}" type="presOf" srcId="{C8A7FD21-25DE-44F9-A26E-A36662FB85BF}" destId="{D8CDA739-C4B2-4FF3-B507-55FBC81BED87}" srcOrd="0" destOrd="2" presId="urn:microsoft.com/office/officeart/2018/2/layout/IconLabelDescriptionList"/>
    <dgm:cxn modelId="{38AAC658-2571-4DA9-9925-652BE2F449AE}" srcId="{A0EB40BE-D6AE-4290-98DC-B7ABCD6F3EB6}" destId="{9AFB3B82-364F-4F91-8662-0B63236E87AD}" srcOrd="1" destOrd="0" parTransId="{23564303-0777-4578-8531-31FFC0DED7D8}" sibTransId="{AC59C1BC-484B-44E2-A779-603C8BB5D1C3}"/>
    <dgm:cxn modelId="{21886D59-18C1-4AAF-9A61-0664D5B3EDCC}" srcId="{A0EB40BE-D6AE-4290-98DC-B7ABCD6F3EB6}" destId="{05C15895-F081-4E3C-AFE8-4410896100B3}" srcOrd="2" destOrd="0" parTransId="{C3DE82EA-61D1-43ED-B76D-401CEA273C04}" sibTransId="{9ED6292C-C6EC-41CE-8E4D-283BB7502430}"/>
    <dgm:cxn modelId="{CEF77679-357C-4CE8-BCA4-E5575C86AF73}" srcId="{01C98C82-51F0-4ED1-9AA1-4E83227C45CC}" destId="{652C02FD-2AA9-4249-A3A9-CB783F7E8266}" srcOrd="3" destOrd="0" parTransId="{36D2A6F2-4B31-4A8B-B7CA-DF70F74B301E}" sibTransId="{5DD882C5-15D1-4E07-BBB8-ADA5C02B592B}"/>
    <dgm:cxn modelId="{1D811D80-9A17-491F-886E-766728CCC3D4}" srcId="{05C15895-F081-4E3C-AFE8-4410896100B3}" destId="{EB55A3E2-387A-43BB-8485-5BCE9DC39D6F}" srcOrd="1" destOrd="0" parTransId="{22CE2394-C402-4313-90B6-980800E5EFFF}" sibTransId="{80CF0233-F7FF-43C8-BDB4-B3CC71CD665D}"/>
    <dgm:cxn modelId="{64019589-696E-4487-A4C2-CDC043F231A3}" srcId="{9AFB3B82-364F-4F91-8662-0B63236E87AD}" destId="{227F308F-AA35-45ED-8CE0-72C38B17B1F0}" srcOrd="1" destOrd="0" parTransId="{D18D30CB-7729-43BD-AFC6-31863D2A4ED1}" sibTransId="{772F7974-415F-4C76-9232-30220239675E}"/>
    <dgm:cxn modelId="{D4D1A390-8CC2-4298-B6DB-92C94AAAB1A1}" srcId="{9AFB3B82-364F-4F91-8662-0B63236E87AD}" destId="{EED0646A-D6EA-41B9-805B-8F06D970CBAF}" srcOrd="2" destOrd="0" parTransId="{2C7F5635-18B1-4A60-BA03-403EF76DE3DA}" sibTransId="{A43F160B-06BD-4C47-91D7-E2BE7E90FC04}"/>
    <dgm:cxn modelId="{BD78289E-CF79-4ED7-8698-39BC37489EB6}" type="presOf" srcId="{761CBABC-DF72-424B-B874-CEC33F9D5C8B}" destId="{D8CDA739-C4B2-4FF3-B507-55FBC81BED87}" srcOrd="0" destOrd="0" presId="urn:microsoft.com/office/officeart/2018/2/layout/IconLabelDescriptionList"/>
    <dgm:cxn modelId="{E0B84CB4-334F-4E63-AEAC-1C8D91394834}" type="presOf" srcId="{652C02FD-2AA9-4249-A3A9-CB783F7E8266}" destId="{D8CDA739-C4B2-4FF3-B507-55FBC81BED87}" srcOrd="0" destOrd="3" presId="urn:microsoft.com/office/officeart/2018/2/layout/IconLabelDescriptionList"/>
    <dgm:cxn modelId="{76FDF7C6-EC30-4B8E-AADB-503F0FCCA46D}" srcId="{05C15895-F081-4E3C-AFE8-4410896100B3}" destId="{CC54A89D-7F18-4DD6-A497-175E40CFF7E5}" srcOrd="0" destOrd="0" parTransId="{22845AF7-C781-49CA-A3F8-7CD9258168FD}" sibTransId="{20E9C946-338A-46BF-AC26-9F4866192838}"/>
    <dgm:cxn modelId="{D19DB4CF-0273-4DB6-9779-E622B19B5664}" type="presOf" srcId="{01C98C82-51F0-4ED1-9AA1-4E83227C45CC}" destId="{FF689951-2497-4CAF-9BB0-13D59716DE81}" srcOrd="0" destOrd="0" presId="urn:microsoft.com/office/officeart/2018/2/layout/IconLabelDescriptionList"/>
    <dgm:cxn modelId="{0D0DA4DD-D4BA-4730-892F-F28559C3C640}" srcId="{9AFB3B82-364F-4F91-8662-0B63236E87AD}" destId="{73312E02-8660-440E-80DF-E47711FDFC2A}" srcOrd="0" destOrd="0" parTransId="{752C1D62-54CB-4E61-AA90-8F4670680482}" sibTransId="{E3AD5396-78FD-449C-A866-353A005876DB}"/>
    <dgm:cxn modelId="{02A5A5DE-D3D1-4D0B-8A26-D6DF22563C17}" type="presOf" srcId="{73312E02-8660-440E-80DF-E47711FDFC2A}" destId="{6E1A92FA-B8D4-472A-B7C4-1AA7DFA3BAA9}" srcOrd="0" destOrd="0" presId="urn:microsoft.com/office/officeart/2018/2/layout/IconLabelDescriptionList"/>
    <dgm:cxn modelId="{F14B66F1-E4CA-4E87-93A3-85E1CB0295A7}" type="presOf" srcId="{9AFB3B82-364F-4F91-8662-0B63236E87AD}" destId="{D4ABA06F-8B8C-4F5B-9190-38EACB532963}" srcOrd="0" destOrd="0" presId="urn:microsoft.com/office/officeart/2018/2/layout/IconLabelDescriptionList"/>
    <dgm:cxn modelId="{8373B4F2-7FA2-4E9A-8B73-1E9BD43A6C24}" type="presOf" srcId="{A0EB40BE-D6AE-4290-98DC-B7ABCD6F3EB6}" destId="{5D6BC435-9B31-433B-8867-1625EB4AE840}" srcOrd="0" destOrd="0" presId="urn:microsoft.com/office/officeart/2018/2/layout/IconLabelDescriptionList"/>
    <dgm:cxn modelId="{05EDA5FC-80C8-4C40-AB8D-0CA8FD57D150}" srcId="{A0EB40BE-D6AE-4290-98DC-B7ABCD6F3EB6}" destId="{01C98C82-51F0-4ED1-9AA1-4E83227C45CC}" srcOrd="0" destOrd="0" parTransId="{48AD5CB6-2F26-4713-993B-43E95B402BDE}" sibTransId="{7EA18D4D-85A9-4FA5-A1DF-3F1915B09662}"/>
    <dgm:cxn modelId="{18FBA894-2C84-45E7-9B92-E53315B4F972}" type="presParOf" srcId="{5D6BC435-9B31-433B-8867-1625EB4AE840}" destId="{DFCF9D36-48C5-4529-9F26-5BF68E7DEE96}" srcOrd="0" destOrd="0" presId="urn:microsoft.com/office/officeart/2018/2/layout/IconLabelDescriptionList"/>
    <dgm:cxn modelId="{55B7BE61-44CD-4BEA-A330-E4D8064A9969}" type="presParOf" srcId="{DFCF9D36-48C5-4529-9F26-5BF68E7DEE96}" destId="{B523D913-C6DD-44FD-BEDB-D601AD8F094F}" srcOrd="0" destOrd="0" presId="urn:microsoft.com/office/officeart/2018/2/layout/IconLabelDescriptionList"/>
    <dgm:cxn modelId="{44CAE936-4E3A-4F1E-9D26-032E5EAA28D7}" type="presParOf" srcId="{DFCF9D36-48C5-4529-9F26-5BF68E7DEE96}" destId="{458DDB6E-5096-4B82-B7E6-301B42C490D0}" srcOrd="1" destOrd="0" presId="urn:microsoft.com/office/officeart/2018/2/layout/IconLabelDescriptionList"/>
    <dgm:cxn modelId="{F196A897-8952-4027-8A0C-903C2752BF78}" type="presParOf" srcId="{DFCF9D36-48C5-4529-9F26-5BF68E7DEE96}" destId="{FF689951-2497-4CAF-9BB0-13D59716DE81}" srcOrd="2" destOrd="0" presId="urn:microsoft.com/office/officeart/2018/2/layout/IconLabelDescriptionList"/>
    <dgm:cxn modelId="{89EC87A4-B77E-4F1B-9C21-E4D9C20A6C78}" type="presParOf" srcId="{DFCF9D36-48C5-4529-9F26-5BF68E7DEE96}" destId="{9911AA16-09D3-4C0A-BC14-8B0E90D8BF20}" srcOrd="3" destOrd="0" presId="urn:microsoft.com/office/officeart/2018/2/layout/IconLabelDescriptionList"/>
    <dgm:cxn modelId="{92547DF6-A89F-4788-A5BD-A06D98597B0A}" type="presParOf" srcId="{DFCF9D36-48C5-4529-9F26-5BF68E7DEE96}" destId="{D8CDA739-C4B2-4FF3-B507-55FBC81BED87}" srcOrd="4" destOrd="0" presId="urn:microsoft.com/office/officeart/2018/2/layout/IconLabelDescriptionList"/>
    <dgm:cxn modelId="{3EE26ECC-A416-44A4-A2FE-F94E1F306265}" type="presParOf" srcId="{5D6BC435-9B31-433B-8867-1625EB4AE840}" destId="{A9066962-E820-43E8-AE56-EB711EF74E64}" srcOrd="1" destOrd="0" presId="urn:microsoft.com/office/officeart/2018/2/layout/IconLabelDescriptionList"/>
    <dgm:cxn modelId="{405E9A2D-D873-45C9-9985-AC29B17267AA}" type="presParOf" srcId="{5D6BC435-9B31-433B-8867-1625EB4AE840}" destId="{8479B1CA-166A-406C-AF37-CC1CCD1AEBAB}" srcOrd="2" destOrd="0" presId="urn:microsoft.com/office/officeart/2018/2/layout/IconLabelDescriptionList"/>
    <dgm:cxn modelId="{23F0D4FE-DD92-4F62-BFDA-1285D4BE3F47}" type="presParOf" srcId="{8479B1CA-166A-406C-AF37-CC1CCD1AEBAB}" destId="{9113B7F7-7294-40A4-87FE-DA4512187B96}" srcOrd="0" destOrd="0" presId="urn:microsoft.com/office/officeart/2018/2/layout/IconLabelDescriptionList"/>
    <dgm:cxn modelId="{3E95896F-8C29-4F09-A3F7-29C6E6DB5069}" type="presParOf" srcId="{8479B1CA-166A-406C-AF37-CC1CCD1AEBAB}" destId="{AA9E2DC5-49E2-4BC0-9E7E-5BB824914497}" srcOrd="1" destOrd="0" presId="urn:microsoft.com/office/officeart/2018/2/layout/IconLabelDescriptionList"/>
    <dgm:cxn modelId="{BD61D501-1EA2-4DFF-84AC-55CD3A281195}" type="presParOf" srcId="{8479B1CA-166A-406C-AF37-CC1CCD1AEBAB}" destId="{D4ABA06F-8B8C-4F5B-9190-38EACB532963}" srcOrd="2" destOrd="0" presId="urn:microsoft.com/office/officeart/2018/2/layout/IconLabelDescriptionList"/>
    <dgm:cxn modelId="{2A963DAA-7FD3-4205-B942-B27C5CED7771}" type="presParOf" srcId="{8479B1CA-166A-406C-AF37-CC1CCD1AEBAB}" destId="{6FAED676-1553-4985-9E43-4A048F74EF35}" srcOrd="3" destOrd="0" presId="urn:microsoft.com/office/officeart/2018/2/layout/IconLabelDescriptionList"/>
    <dgm:cxn modelId="{373FD552-8558-4C39-A6B4-C0D71E3BE291}" type="presParOf" srcId="{8479B1CA-166A-406C-AF37-CC1CCD1AEBAB}" destId="{6E1A92FA-B8D4-472A-B7C4-1AA7DFA3BAA9}" srcOrd="4" destOrd="0" presId="urn:microsoft.com/office/officeart/2018/2/layout/IconLabelDescriptionList"/>
    <dgm:cxn modelId="{7074DEAB-106A-42E7-A521-E3967EAC8C71}" type="presParOf" srcId="{5D6BC435-9B31-433B-8867-1625EB4AE840}" destId="{CF9CF184-F2FD-447D-ABA1-D7C17F73021C}" srcOrd="3" destOrd="0" presId="urn:microsoft.com/office/officeart/2018/2/layout/IconLabelDescriptionList"/>
    <dgm:cxn modelId="{C8C52F71-5560-4FCE-9FB3-025B08FC6B53}" type="presParOf" srcId="{5D6BC435-9B31-433B-8867-1625EB4AE840}" destId="{6CD7FEA4-A705-491E-9808-12B9AF80B0E4}" srcOrd="4" destOrd="0" presId="urn:microsoft.com/office/officeart/2018/2/layout/IconLabelDescriptionList"/>
    <dgm:cxn modelId="{BAD98759-6FE8-4AB1-8F92-0CECE51409E1}" type="presParOf" srcId="{6CD7FEA4-A705-491E-9808-12B9AF80B0E4}" destId="{DB718047-8FFA-4F6F-8DA7-3CF82FF7A229}" srcOrd="0" destOrd="0" presId="urn:microsoft.com/office/officeart/2018/2/layout/IconLabelDescriptionList"/>
    <dgm:cxn modelId="{D8DE5987-BDE8-4C0C-BA7C-9CAEF2F72A13}" type="presParOf" srcId="{6CD7FEA4-A705-491E-9808-12B9AF80B0E4}" destId="{F57C48B2-6F98-426F-8CB7-9469C7B4FDAD}" srcOrd="1" destOrd="0" presId="urn:microsoft.com/office/officeart/2018/2/layout/IconLabelDescriptionList"/>
    <dgm:cxn modelId="{D3242F5D-5DC0-49B9-BE58-C05FB85A66A0}" type="presParOf" srcId="{6CD7FEA4-A705-491E-9808-12B9AF80B0E4}" destId="{C51AF327-238B-4F2E-AAD7-709FCE58D774}" srcOrd="2" destOrd="0" presId="urn:microsoft.com/office/officeart/2018/2/layout/IconLabelDescriptionList"/>
    <dgm:cxn modelId="{57875CCF-4416-48FE-91DE-0D98B365D4C6}" type="presParOf" srcId="{6CD7FEA4-A705-491E-9808-12B9AF80B0E4}" destId="{14C3EF36-6B7E-42D3-B496-25A7B9258E36}" srcOrd="3" destOrd="0" presId="urn:microsoft.com/office/officeart/2018/2/layout/IconLabelDescriptionList"/>
    <dgm:cxn modelId="{BBC9AFFF-FF8F-4604-A3CB-76A79AD721B4}" type="presParOf" srcId="{6CD7FEA4-A705-491E-9808-12B9AF80B0E4}" destId="{DA68E0C6-CBE1-44D0-80BC-C99D17E4E4BA}"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224886-1F05-4D63-9063-CCE52022EFE6}">
      <dsp:nvSpPr>
        <dsp:cNvPr id="0" name=""/>
        <dsp:cNvSpPr/>
      </dsp:nvSpPr>
      <dsp:spPr>
        <a:xfrm>
          <a:off x="0" y="2124"/>
          <a:ext cx="5181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032FAE-84EC-4AB2-98E9-FC4257E4FC88}">
      <dsp:nvSpPr>
        <dsp:cNvPr id="0" name=""/>
        <dsp:cNvSpPr/>
      </dsp:nvSpPr>
      <dsp:spPr>
        <a:xfrm>
          <a:off x="0" y="2124"/>
          <a:ext cx="5181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dirty="0"/>
            <a:t>Problem identification</a:t>
          </a:r>
          <a:endParaRPr lang="en-US" sz="3300" kern="1200" dirty="0"/>
        </a:p>
      </dsp:txBody>
      <dsp:txXfrm>
        <a:off x="0" y="2124"/>
        <a:ext cx="5181600" cy="724514"/>
      </dsp:txXfrm>
    </dsp:sp>
    <dsp:sp modelId="{D8C8BF5F-A665-413E-8700-DA40B480F9E3}">
      <dsp:nvSpPr>
        <dsp:cNvPr id="0" name=""/>
        <dsp:cNvSpPr/>
      </dsp:nvSpPr>
      <dsp:spPr>
        <a:xfrm>
          <a:off x="0" y="726639"/>
          <a:ext cx="5181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CFA416-2998-4BD5-8290-E6FD54BCF370}">
      <dsp:nvSpPr>
        <dsp:cNvPr id="0" name=""/>
        <dsp:cNvSpPr/>
      </dsp:nvSpPr>
      <dsp:spPr>
        <a:xfrm>
          <a:off x="0" y="726639"/>
          <a:ext cx="5181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dirty="0"/>
            <a:t>Objectives</a:t>
          </a:r>
          <a:endParaRPr lang="en-US" sz="3300" kern="1200" dirty="0"/>
        </a:p>
      </dsp:txBody>
      <dsp:txXfrm>
        <a:off x="0" y="726639"/>
        <a:ext cx="5181600" cy="724514"/>
      </dsp:txXfrm>
    </dsp:sp>
    <dsp:sp modelId="{040266D0-91A3-4CF1-90EB-D5BECCC829F2}">
      <dsp:nvSpPr>
        <dsp:cNvPr id="0" name=""/>
        <dsp:cNvSpPr/>
      </dsp:nvSpPr>
      <dsp:spPr>
        <a:xfrm>
          <a:off x="0" y="1451154"/>
          <a:ext cx="5181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2A3E31-E539-4306-9579-C8001873C659}">
      <dsp:nvSpPr>
        <dsp:cNvPr id="0" name=""/>
        <dsp:cNvSpPr/>
      </dsp:nvSpPr>
      <dsp:spPr>
        <a:xfrm>
          <a:off x="0" y="1451154"/>
          <a:ext cx="5181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t>Design &amp; development</a:t>
          </a:r>
          <a:endParaRPr lang="en-US" sz="3300" kern="1200"/>
        </a:p>
      </dsp:txBody>
      <dsp:txXfrm>
        <a:off x="0" y="1451154"/>
        <a:ext cx="5181600" cy="724514"/>
      </dsp:txXfrm>
    </dsp:sp>
    <dsp:sp modelId="{96F10A73-5452-4702-9919-F4BAB2BCF276}">
      <dsp:nvSpPr>
        <dsp:cNvPr id="0" name=""/>
        <dsp:cNvSpPr/>
      </dsp:nvSpPr>
      <dsp:spPr>
        <a:xfrm>
          <a:off x="0" y="2175669"/>
          <a:ext cx="5181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D5631E-9675-4D1C-A237-02F311E4D382}">
      <dsp:nvSpPr>
        <dsp:cNvPr id="0" name=""/>
        <dsp:cNvSpPr/>
      </dsp:nvSpPr>
      <dsp:spPr>
        <a:xfrm>
          <a:off x="0" y="2175669"/>
          <a:ext cx="5181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t>Demonstration</a:t>
          </a:r>
          <a:endParaRPr lang="en-US" sz="3300" kern="1200"/>
        </a:p>
      </dsp:txBody>
      <dsp:txXfrm>
        <a:off x="0" y="2175669"/>
        <a:ext cx="5181600" cy="724514"/>
      </dsp:txXfrm>
    </dsp:sp>
    <dsp:sp modelId="{3F1AC527-5DB0-44F3-AD1B-44565101D7CC}">
      <dsp:nvSpPr>
        <dsp:cNvPr id="0" name=""/>
        <dsp:cNvSpPr/>
      </dsp:nvSpPr>
      <dsp:spPr>
        <a:xfrm>
          <a:off x="0" y="2900183"/>
          <a:ext cx="5181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7CA7ED-7974-4722-8577-D8F094C1BF4F}">
      <dsp:nvSpPr>
        <dsp:cNvPr id="0" name=""/>
        <dsp:cNvSpPr/>
      </dsp:nvSpPr>
      <dsp:spPr>
        <a:xfrm>
          <a:off x="0" y="2900183"/>
          <a:ext cx="5181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t>Evaluation</a:t>
          </a:r>
          <a:endParaRPr lang="en-US" sz="3300" kern="1200"/>
        </a:p>
      </dsp:txBody>
      <dsp:txXfrm>
        <a:off x="0" y="2900183"/>
        <a:ext cx="5181600" cy="724514"/>
      </dsp:txXfrm>
    </dsp:sp>
    <dsp:sp modelId="{D1D61C76-6105-4823-A310-F09E745BA63E}">
      <dsp:nvSpPr>
        <dsp:cNvPr id="0" name=""/>
        <dsp:cNvSpPr/>
      </dsp:nvSpPr>
      <dsp:spPr>
        <a:xfrm>
          <a:off x="0" y="3624698"/>
          <a:ext cx="5181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D88B4A-70EE-46B8-9C0A-DEDC54AA0E8D}">
      <dsp:nvSpPr>
        <dsp:cNvPr id="0" name=""/>
        <dsp:cNvSpPr/>
      </dsp:nvSpPr>
      <dsp:spPr>
        <a:xfrm>
          <a:off x="0" y="3624698"/>
          <a:ext cx="5181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t>Communication</a:t>
          </a:r>
          <a:endParaRPr lang="en-US" sz="3300" kern="1200"/>
        </a:p>
      </dsp:txBody>
      <dsp:txXfrm>
        <a:off x="0" y="3624698"/>
        <a:ext cx="5181600" cy="7245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CF3E9-01A4-47FA-A64B-9B51923E8699}">
      <dsp:nvSpPr>
        <dsp:cNvPr id="0" name=""/>
        <dsp:cNvSpPr/>
      </dsp:nvSpPr>
      <dsp:spPr>
        <a:xfrm>
          <a:off x="4554" y="1690747"/>
          <a:ext cx="1361182" cy="9698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Multiple Source Systems</a:t>
          </a:r>
        </a:p>
      </dsp:txBody>
      <dsp:txXfrm>
        <a:off x="32960" y="1719153"/>
        <a:ext cx="1304370" cy="913030"/>
      </dsp:txXfrm>
    </dsp:sp>
    <dsp:sp modelId="{D3A922DF-7CEE-430C-87DA-E6A9CBD82A9B}">
      <dsp:nvSpPr>
        <dsp:cNvPr id="0" name=""/>
        <dsp:cNvSpPr/>
      </dsp:nvSpPr>
      <dsp:spPr>
        <a:xfrm>
          <a:off x="1501854" y="2006882"/>
          <a:ext cx="288570" cy="3375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1501854" y="2074397"/>
        <a:ext cx="201999" cy="202543"/>
      </dsp:txXfrm>
    </dsp:sp>
    <dsp:sp modelId="{D8A7C8A7-CB5B-40D1-A405-B25D462C0E33}">
      <dsp:nvSpPr>
        <dsp:cNvPr id="0" name=""/>
        <dsp:cNvSpPr/>
      </dsp:nvSpPr>
      <dsp:spPr>
        <a:xfrm>
          <a:off x="1910208" y="1690747"/>
          <a:ext cx="1361182" cy="9698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Integrated Data Repository</a:t>
          </a:r>
        </a:p>
      </dsp:txBody>
      <dsp:txXfrm>
        <a:off x="1938614" y="1719153"/>
        <a:ext cx="1304370" cy="913030"/>
      </dsp:txXfrm>
    </dsp:sp>
    <dsp:sp modelId="{A2EFA103-7CFA-4796-8348-9F59C3F452E2}">
      <dsp:nvSpPr>
        <dsp:cNvPr id="0" name=""/>
        <dsp:cNvSpPr/>
      </dsp:nvSpPr>
      <dsp:spPr>
        <a:xfrm>
          <a:off x="3407509" y="2006882"/>
          <a:ext cx="288570" cy="3375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3407509" y="2074397"/>
        <a:ext cx="201999" cy="202543"/>
      </dsp:txXfrm>
    </dsp:sp>
    <dsp:sp modelId="{E8D91DA6-19A5-494B-AF7D-933E6101D738}">
      <dsp:nvSpPr>
        <dsp:cNvPr id="0" name=""/>
        <dsp:cNvSpPr/>
      </dsp:nvSpPr>
      <dsp:spPr>
        <a:xfrm>
          <a:off x="3815863" y="1690747"/>
          <a:ext cx="1361182" cy="9698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Decision Support Dashboard</a:t>
          </a:r>
        </a:p>
      </dsp:txBody>
      <dsp:txXfrm>
        <a:off x="3844269" y="1719153"/>
        <a:ext cx="1304370" cy="9130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CDC2FA-6BC9-4D17-8C7B-D46BCA682B04}">
      <dsp:nvSpPr>
        <dsp:cNvPr id="0" name=""/>
        <dsp:cNvSpPr/>
      </dsp:nvSpPr>
      <dsp:spPr>
        <a:xfrm>
          <a:off x="0" y="3445884"/>
          <a:ext cx="2628900" cy="45227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06680" rIns="186967" bIns="106680" numCol="1" spcCol="1270" anchor="ctr" anchorCtr="0">
          <a:noAutofit/>
        </a:bodyPr>
        <a:lstStyle/>
        <a:p>
          <a:pPr marL="0" lvl="0" indent="0" algn="ctr" defTabSz="666750">
            <a:lnSpc>
              <a:spcPct val="90000"/>
            </a:lnSpc>
            <a:spcBef>
              <a:spcPct val="0"/>
            </a:spcBef>
            <a:spcAft>
              <a:spcPct val="35000"/>
            </a:spcAft>
            <a:buNone/>
          </a:pPr>
          <a:r>
            <a:rPr lang="en-US" sz="1500" kern="1200"/>
            <a:t>Derive</a:t>
          </a:r>
        </a:p>
      </dsp:txBody>
      <dsp:txXfrm>
        <a:off x="0" y="3445884"/>
        <a:ext cx="2628900" cy="452270"/>
      </dsp:txXfrm>
    </dsp:sp>
    <dsp:sp modelId="{62DFB027-55C0-4793-8889-5F3B59FD02F0}">
      <dsp:nvSpPr>
        <dsp:cNvPr id="0" name=""/>
        <dsp:cNvSpPr/>
      </dsp:nvSpPr>
      <dsp:spPr>
        <a:xfrm>
          <a:off x="2628900" y="3445884"/>
          <a:ext cx="7886700" cy="45227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139700" rIns="159980" bIns="139700" numCol="1" spcCol="1270" anchor="ctr" anchorCtr="0">
          <a:noAutofit/>
        </a:bodyPr>
        <a:lstStyle/>
        <a:p>
          <a:pPr marL="0" lvl="0" indent="0" algn="l" defTabSz="488950">
            <a:lnSpc>
              <a:spcPct val="90000"/>
            </a:lnSpc>
            <a:spcBef>
              <a:spcPct val="0"/>
            </a:spcBef>
            <a:spcAft>
              <a:spcPct val="35000"/>
            </a:spcAft>
            <a:buNone/>
          </a:pPr>
          <a:r>
            <a:rPr lang="en-US" sz="1100" kern="1200"/>
            <a:t>Derive design principles</a:t>
          </a:r>
        </a:p>
      </dsp:txBody>
      <dsp:txXfrm>
        <a:off x="2628900" y="3445884"/>
        <a:ext cx="7886700" cy="452270"/>
      </dsp:txXfrm>
    </dsp:sp>
    <dsp:sp modelId="{C37EA96B-2EE6-470E-80D2-FA8A1AF42439}">
      <dsp:nvSpPr>
        <dsp:cNvPr id="0" name=""/>
        <dsp:cNvSpPr/>
      </dsp:nvSpPr>
      <dsp:spPr>
        <a:xfrm rot="10800000">
          <a:off x="0" y="2757076"/>
          <a:ext cx="2628900" cy="695592"/>
        </a:xfrm>
        <a:prstGeom prst="upArrowCallout">
          <a:avLst>
            <a:gd name="adj1" fmla="val 5000"/>
            <a:gd name="adj2" fmla="val 10000"/>
            <a:gd name="adj3" fmla="val 15000"/>
            <a:gd name="adj4" fmla="val 64977"/>
          </a:avLst>
        </a:prstGeom>
        <a:solidFill>
          <a:schemeClr val="accent2">
            <a:hueOff val="1288723"/>
            <a:satOff val="-3699"/>
            <a:lumOff val="-5922"/>
            <a:alphaOff val="0"/>
          </a:schemeClr>
        </a:solidFill>
        <a:ln w="19050" cap="flat" cmpd="sng" algn="ctr">
          <a:solidFill>
            <a:schemeClr val="accent2">
              <a:hueOff val="1288723"/>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06680" rIns="186967" bIns="106680" numCol="1" spcCol="1270" anchor="ctr" anchorCtr="0">
          <a:noAutofit/>
        </a:bodyPr>
        <a:lstStyle/>
        <a:p>
          <a:pPr marL="0" lvl="0" indent="0" algn="ctr" defTabSz="666750">
            <a:lnSpc>
              <a:spcPct val="90000"/>
            </a:lnSpc>
            <a:spcBef>
              <a:spcPct val="0"/>
            </a:spcBef>
            <a:spcAft>
              <a:spcPct val="35000"/>
            </a:spcAft>
            <a:buNone/>
          </a:pPr>
          <a:r>
            <a:rPr lang="en-US" sz="1500" kern="1200"/>
            <a:t>Evaluate</a:t>
          </a:r>
        </a:p>
      </dsp:txBody>
      <dsp:txXfrm rot="-10800000">
        <a:off x="0" y="2757076"/>
        <a:ext cx="2628900" cy="452134"/>
      </dsp:txXfrm>
    </dsp:sp>
    <dsp:sp modelId="{28AE8682-FAD5-4C57-AEA8-C32EB1EB93FD}">
      <dsp:nvSpPr>
        <dsp:cNvPr id="0" name=""/>
        <dsp:cNvSpPr/>
      </dsp:nvSpPr>
      <dsp:spPr>
        <a:xfrm>
          <a:off x="2628900" y="2757076"/>
          <a:ext cx="7886700" cy="452134"/>
        </a:xfrm>
        <a:prstGeom prst="rect">
          <a:avLst/>
        </a:prstGeom>
        <a:solidFill>
          <a:schemeClr val="accent2">
            <a:tint val="40000"/>
            <a:alpha val="90000"/>
            <a:hueOff val="1346944"/>
            <a:satOff val="-12446"/>
            <a:lumOff val="-1403"/>
            <a:alphaOff val="0"/>
          </a:schemeClr>
        </a:solidFill>
        <a:ln w="19050" cap="flat" cmpd="sng" algn="ctr">
          <a:solidFill>
            <a:schemeClr val="accent2">
              <a:tint val="40000"/>
              <a:alpha val="90000"/>
              <a:hueOff val="1346944"/>
              <a:satOff val="-12446"/>
              <a:lumOff val="-14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139700" rIns="159980" bIns="139700" numCol="1" spcCol="1270" anchor="ctr" anchorCtr="0">
          <a:noAutofit/>
        </a:bodyPr>
        <a:lstStyle/>
        <a:p>
          <a:pPr marL="0" lvl="0" indent="0" algn="l" defTabSz="488950">
            <a:lnSpc>
              <a:spcPct val="90000"/>
            </a:lnSpc>
            <a:spcBef>
              <a:spcPct val="0"/>
            </a:spcBef>
            <a:spcAft>
              <a:spcPct val="35000"/>
            </a:spcAft>
            <a:buNone/>
          </a:pPr>
          <a:r>
            <a:rPr lang="en-US" sz="1100" kern="1200"/>
            <a:t>Evaluate usability &amp; utility</a:t>
          </a:r>
        </a:p>
      </dsp:txBody>
      <dsp:txXfrm>
        <a:off x="2628900" y="2757076"/>
        <a:ext cx="7886700" cy="452134"/>
      </dsp:txXfrm>
    </dsp:sp>
    <dsp:sp modelId="{D204E4AC-099F-4E21-A18A-E5061E416708}">
      <dsp:nvSpPr>
        <dsp:cNvPr id="0" name=""/>
        <dsp:cNvSpPr/>
      </dsp:nvSpPr>
      <dsp:spPr>
        <a:xfrm rot="10800000">
          <a:off x="0" y="2068268"/>
          <a:ext cx="2628900" cy="695592"/>
        </a:xfrm>
        <a:prstGeom prst="upArrowCallout">
          <a:avLst>
            <a:gd name="adj1" fmla="val 5000"/>
            <a:gd name="adj2" fmla="val 10000"/>
            <a:gd name="adj3" fmla="val 15000"/>
            <a:gd name="adj4" fmla="val 64977"/>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06680" rIns="186967" bIns="106680" numCol="1" spcCol="1270" anchor="ctr" anchorCtr="0">
          <a:noAutofit/>
        </a:bodyPr>
        <a:lstStyle/>
        <a:p>
          <a:pPr marL="0" lvl="0" indent="0" algn="ctr" defTabSz="666750">
            <a:lnSpc>
              <a:spcPct val="90000"/>
            </a:lnSpc>
            <a:spcBef>
              <a:spcPct val="0"/>
            </a:spcBef>
            <a:spcAft>
              <a:spcPct val="35000"/>
            </a:spcAft>
            <a:buNone/>
          </a:pPr>
          <a:r>
            <a:rPr lang="en-US" sz="1500" kern="1200"/>
            <a:t>Build</a:t>
          </a:r>
        </a:p>
      </dsp:txBody>
      <dsp:txXfrm rot="-10800000">
        <a:off x="0" y="2068268"/>
        <a:ext cx="2628900" cy="452134"/>
      </dsp:txXfrm>
    </dsp:sp>
    <dsp:sp modelId="{9694E9C7-25AF-44FE-AC8E-F2F8150F1D57}">
      <dsp:nvSpPr>
        <dsp:cNvPr id="0" name=""/>
        <dsp:cNvSpPr/>
      </dsp:nvSpPr>
      <dsp:spPr>
        <a:xfrm>
          <a:off x="2628900" y="2068268"/>
          <a:ext cx="7886700" cy="452134"/>
        </a:xfrm>
        <a:prstGeom prst="rect">
          <a:avLst/>
        </a:prstGeom>
        <a:solidFill>
          <a:schemeClr val="accent2">
            <a:tint val="40000"/>
            <a:alpha val="90000"/>
            <a:hueOff val="2693887"/>
            <a:satOff val="-24893"/>
            <a:lumOff val="-2806"/>
            <a:alphaOff val="0"/>
          </a:schemeClr>
        </a:solidFill>
        <a:ln w="19050" cap="flat" cmpd="sng" algn="ctr">
          <a:solidFill>
            <a:schemeClr val="accent2">
              <a:tint val="40000"/>
              <a:alpha val="90000"/>
              <a:hueOff val="2693887"/>
              <a:satOff val="-24893"/>
              <a:lumOff val="-28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139700" rIns="159980" bIns="139700" numCol="1" spcCol="1270" anchor="ctr" anchorCtr="0">
          <a:noAutofit/>
        </a:bodyPr>
        <a:lstStyle/>
        <a:p>
          <a:pPr marL="0" lvl="0" indent="0" algn="l" defTabSz="488950">
            <a:lnSpc>
              <a:spcPct val="90000"/>
            </a:lnSpc>
            <a:spcBef>
              <a:spcPct val="0"/>
            </a:spcBef>
            <a:spcAft>
              <a:spcPct val="35000"/>
            </a:spcAft>
            <a:buNone/>
          </a:pPr>
          <a:r>
            <a:rPr lang="en-US" sz="1100" kern="1200"/>
            <a:t>Build user-centred dashboards</a:t>
          </a:r>
        </a:p>
      </dsp:txBody>
      <dsp:txXfrm>
        <a:off x="2628900" y="2068268"/>
        <a:ext cx="7886700" cy="452134"/>
      </dsp:txXfrm>
    </dsp:sp>
    <dsp:sp modelId="{7AD7E114-97FA-48B2-8E03-0AF8FF828D58}">
      <dsp:nvSpPr>
        <dsp:cNvPr id="0" name=""/>
        <dsp:cNvSpPr/>
      </dsp:nvSpPr>
      <dsp:spPr>
        <a:xfrm rot="10800000">
          <a:off x="0" y="1379460"/>
          <a:ext cx="2628900" cy="695592"/>
        </a:xfrm>
        <a:prstGeom prst="upArrowCallout">
          <a:avLst>
            <a:gd name="adj1" fmla="val 5000"/>
            <a:gd name="adj2" fmla="val 10000"/>
            <a:gd name="adj3" fmla="val 15000"/>
            <a:gd name="adj4" fmla="val 64977"/>
          </a:avLst>
        </a:prstGeom>
        <a:solidFill>
          <a:schemeClr val="accent2">
            <a:hueOff val="3866169"/>
            <a:satOff val="-11096"/>
            <a:lumOff val="-17765"/>
            <a:alphaOff val="0"/>
          </a:schemeClr>
        </a:solidFill>
        <a:ln w="19050" cap="flat" cmpd="sng" algn="ctr">
          <a:solidFill>
            <a:schemeClr val="accent2">
              <a:hueOff val="3866169"/>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06680" rIns="186967" bIns="106680" numCol="1" spcCol="1270" anchor="ctr" anchorCtr="0">
          <a:noAutofit/>
        </a:bodyPr>
        <a:lstStyle/>
        <a:p>
          <a:pPr marL="0" lvl="0" indent="0" algn="ctr" defTabSz="666750">
            <a:lnSpc>
              <a:spcPct val="90000"/>
            </a:lnSpc>
            <a:spcBef>
              <a:spcPct val="0"/>
            </a:spcBef>
            <a:spcAft>
              <a:spcPct val="35000"/>
            </a:spcAft>
            <a:buNone/>
          </a:pPr>
          <a:r>
            <a:rPr lang="en-US" sz="1500" kern="1200"/>
            <a:t>Design</a:t>
          </a:r>
        </a:p>
      </dsp:txBody>
      <dsp:txXfrm rot="-10800000">
        <a:off x="0" y="1379460"/>
        <a:ext cx="2628900" cy="452134"/>
      </dsp:txXfrm>
    </dsp:sp>
    <dsp:sp modelId="{64B28F46-A994-416D-9576-30D7A4F1A23F}">
      <dsp:nvSpPr>
        <dsp:cNvPr id="0" name=""/>
        <dsp:cNvSpPr/>
      </dsp:nvSpPr>
      <dsp:spPr>
        <a:xfrm>
          <a:off x="2628900" y="1379460"/>
          <a:ext cx="7886700" cy="452134"/>
        </a:xfrm>
        <a:prstGeom prst="rect">
          <a:avLst/>
        </a:prstGeom>
        <a:solidFill>
          <a:schemeClr val="accent2">
            <a:tint val="40000"/>
            <a:alpha val="90000"/>
            <a:hueOff val="4040831"/>
            <a:satOff val="-37339"/>
            <a:lumOff val="-4209"/>
            <a:alphaOff val="0"/>
          </a:schemeClr>
        </a:solidFill>
        <a:ln w="19050" cap="flat" cmpd="sng" algn="ctr">
          <a:solidFill>
            <a:schemeClr val="accent2">
              <a:tint val="40000"/>
              <a:alpha val="90000"/>
              <a:hueOff val="4040831"/>
              <a:satOff val="-37339"/>
              <a:lumOff val="-42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139700" rIns="159980" bIns="139700" numCol="1" spcCol="1270" anchor="ctr" anchorCtr="0">
          <a:noAutofit/>
        </a:bodyPr>
        <a:lstStyle/>
        <a:p>
          <a:pPr marL="0" lvl="0" indent="0" algn="l" defTabSz="488950">
            <a:lnSpc>
              <a:spcPct val="90000"/>
            </a:lnSpc>
            <a:spcBef>
              <a:spcPct val="0"/>
            </a:spcBef>
            <a:spcAft>
              <a:spcPct val="35000"/>
            </a:spcAft>
            <a:buNone/>
          </a:pPr>
          <a:r>
            <a:rPr lang="en-US" sz="1100" kern="1200"/>
            <a:t>Design integrated data architecture</a:t>
          </a:r>
        </a:p>
      </dsp:txBody>
      <dsp:txXfrm>
        <a:off x="2628900" y="1379460"/>
        <a:ext cx="7886700" cy="452134"/>
      </dsp:txXfrm>
    </dsp:sp>
    <dsp:sp modelId="{F380B1CC-269C-491F-9B90-0293F8CE17EB}">
      <dsp:nvSpPr>
        <dsp:cNvPr id="0" name=""/>
        <dsp:cNvSpPr/>
      </dsp:nvSpPr>
      <dsp:spPr>
        <a:xfrm rot="10800000">
          <a:off x="0" y="690652"/>
          <a:ext cx="2628900" cy="695592"/>
        </a:xfrm>
        <a:prstGeom prst="upArrowCallout">
          <a:avLst>
            <a:gd name="adj1" fmla="val 5000"/>
            <a:gd name="adj2" fmla="val 10000"/>
            <a:gd name="adj3" fmla="val 15000"/>
            <a:gd name="adj4" fmla="val 64977"/>
          </a:avLst>
        </a:prstGeom>
        <a:solidFill>
          <a:schemeClr val="accent2">
            <a:hueOff val="5154891"/>
            <a:satOff val="-14794"/>
            <a:lumOff val="-23687"/>
            <a:alphaOff val="0"/>
          </a:schemeClr>
        </a:solidFill>
        <a:ln w="19050" cap="flat" cmpd="sng" algn="ctr">
          <a:solidFill>
            <a:schemeClr val="accent2">
              <a:hueOff val="5154891"/>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06680" rIns="186967" bIns="106680" numCol="1" spcCol="1270" anchor="ctr" anchorCtr="0">
          <a:noAutofit/>
        </a:bodyPr>
        <a:lstStyle/>
        <a:p>
          <a:pPr marL="0" lvl="0" indent="0" algn="ctr" defTabSz="666750">
            <a:lnSpc>
              <a:spcPct val="90000"/>
            </a:lnSpc>
            <a:spcBef>
              <a:spcPct val="0"/>
            </a:spcBef>
            <a:spcAft>
              <a:spcPct val="35000"/>
            </a:spcAft>
            <a:buNone/>
          </a:pPr>
          <a:r>
            <a:rPr lang="en-US" sz="1500" kern="1200"/>
            <a:t>Analyse</a:t>
          </a:r>
        </a:p>
      </dsp:txBody>
      <dsp:txXfrm rot="-10800000">
        <a:off x="0" y="690652"/>
        <a:ext cx="2628900" cy="452134"/>
      </dsp:txXfrm>
    </dsp:sp>
    <dsp:sp modelId="{D80AA639-5318-45E0-A0AD-96E4027217F8}">
      <dsp:nvSpPr>
        <dsp:cNvPr id="0" name=""/>
        <dsp:cNvSpPr/>
      </dsp:nvSpPr>
      <dsp:spPr>
        <a:xfrm>
          <a:off x="2628900" y="690652"/>
          <a:ext cx="7886700" cy="452134"/>
        </a:xfrm>
        <a:prstGeom prst="rect">
          <a:avLst/>
        </a:prstGeom>
        <a:solidFill>
          <a:schemeClr val="accent2">
            <a:tint val="40000"/>
            <a:alpha val="90000"/>
            <a:hueOff val="5387775"/>
            <a:satOff val="-49786"/>
            <a:lumOff val="-5612"/>
            <a:alphaOff val="0"/>
          </a:schemeClr>
        </a:solidFill>
        <a:ln w="19050" cap="flat" cmpd="sng" algn="ctr">
          <a:solidFill>
            <a:schemeClr val="accent2">
              <a:tint val="40000"/>
              <a:alpha val="90000"/>
              <a:hueOff val="5387775"/>
              <a:satOff val="-49786"/>
              <a:lumOff val="-56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139700" rIns="159980" bIns="139700" numCol="1" spcCol="1270" anchor="ctr" anchorCtr="0">
          <a:noAutofit/>
        </a:bodyPr>
        <a:lstStyle/>
        <a:p>
          <a:pPr marL="0" lvl="0" indent="0" algn="l" defTabSz="488950">
            <a:lnSpc>
              <a:spcPct val="90000"/>
            </a:lnSpc>
            <a:spcBef>
              <a:spcPct val="0"/>
            </a:spcBef>
            <a:spcAft>
              <a:spcPct val="35000"/>
            </a:spcAft>
            <a:buNone/>
          </a:pPr>
          <a:r>
            <a:rPr lang="en-US" sz="1100" kern="1200"/>
            <a:t>Analyse operational factors</a:t>
          </a:r>
        </a:p>
      </dsp:txBody>
      <dsp:txXfrm>
        <a:off x="2628900" y="690652"/>
        <a:ext cx="7886700" cy="452134"/>
      </dsp:txXfrm>
    </dsp:sp>
    <dsp:sp modelId="{6AD795A6-B95E-4506-B8E0-06CC34E0016C}">
      <dsp:nvSpPr>
        <dsp:cNvPr id="0" name=""/>
        <dsp:cNvSpPr/>
      </dsp:nvSpPr>
      <dsp:spPr>
        <a:xfrm rot="10800000">
          <a:off x="0" y="1844"/>
          <a:ext cx="2628900" cy="695592"/>
        </a:xfrm>
        <a:prstGeom prst="upArrowCallout">
          <a:avLst>
            <a:gd name="adj1" fmla="val 5000"/>
            <a:gd name="adj2" fmla="val 10000"/>
            <a:gd name="adj3" fmla="val 15000"/>
            <a:gd name="adj4" fmla="val 64977"/>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06680" rIns="186967" bIns="106680" numCol="1" spcCol="1270" anchor="ctr" anchorCtr="0">
          <a:noAutofit/>
        </a:bodyPr>
        <a:lstStyle/>
        <a:p>
          <a:pPr marL="0" lvl="0" indent="0" algn="ctr" defTabSz="666750">
            <a:lnSpc>
              <a:spcPct val="90000"/>
            </a:lnSpc>
            <a:spcBef>
              <a:spcPct val="0"/>
            </a:spcBef>
            <a:spcAft>
              <a:spcPct val="35000"/>
            </a:spcAft>
            <a:buNone/>
          </a:pPr>
          <a:r>
            <a:rPr lang="en-US" sz="1500" kern="1200" dirty="0"/>
            <a:t>Identify</a:t>
          </a:r>
        </a:p>
      </dsp:txBody>
      <dsp:txXfrm rot="-10800000">
        <a:off x="0" y="1844"/>
        <a:ext cx="2628900" cy="452134"/>
      </dsp:txXfrm>
    </dsp:sp>
    <dsp:sp modelId="{13FFB56F-F589-433D-9E82-D6C7CFB40CC6}">
      <dsp:nvSpPr>
        <dsp:cNvPr id="0" name=""/>
        <dsp:cNvSpPr/>
      </dsp:nvSpPr>
      <dsp:spPr>
        <a:xfrm>
          <a:off x="2628900" y="1844"/>
          <a:ext cx="7886700" cy="452134"/>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139700" rIns="159980" bIns="139700" numCol="1" spcCol="1270" anchor="ctr" anchorCtr="0">
          <a:noAutofit/>
        </a:bodyPr>
        <a:lstStyle/>
        <a:p>
          <a:pPr marL="0" lvl="0" indent="0" algn="l" defTabSz="488950">
            <a:lnSpc>
              <a:spcPct val="90000"/>
            </a:lnSpc>
            <a:spcBef>
              <a:spcPct val="0"/>
            </a:spcBef>
            <a:spcAft>
              <a:spcPct val="35000"/>
            </a:spcAft>
            <a:buNone/>
          </a:pPr>
          <a:r>
            <a:rPr lang="en-US" sz="1100" kern="1200"/>
            <a:t>Identify post-MDT delays</a:t>
          </a:r>
        </a:p>
      </dsp:txBody>
      <dsp:txXfrm>
        <a:off x="2628900" y="1844"/>
        <a:ext cx="7886700" cy="4521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AB3B61-1A80-4A7F-86E7-8FD0127C7B5C}">
      <dsp:nvSpPr>
        <dsp:cNvPr id="0" name=""/>
        <dsp:cNvSpPr/>
      </dsp:nvSpPr>
      <dsp:spPr>
        <a:xfrm>
          <a:off x="0" y="988600"/>
          <a:ext cx="1643062" cy="1971675"/>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298" tIns="0" rIns="162298" bIns="330200" numCol="1" spcCol="1270" anchor="t" anchorCtr="0">
          <a:noAutofit/>
        </a:bodyPr>
        <a:lstStyle/>
        <a:p>
          <a:pPr marL="0" lvl="0" indent="0" algn="l" defTabSz="711200">
            <a:lnSpc>
              <a:spcPct val="90000"/>
            </a:lnSpc>
            <a:spcBef>
              <a:spcPct val="0"/>
            </a:spcBef>
            <a:spcAft>
              <a:spcPct val="35000"/>
            </a:spcAft>
            <a:buNone/>
          </a:pPr>
          <a:r>
            <a:rPr lang="en-GB" sz="1600" kern="1200"/>
            <a:t>Surface breach risks early</a:t>
          </a:r>
          <a:endParaRPr lang="en-US" sz="1600" kern="1200"/>
        </a:p>
      </dsp:txBody>
      <dsp:txXfrm>
        <a:off x="0" y="1777270"/>
        <a:ext cx="1643062" cy="1183005"/>
      </dsp:txXfrm>
    </dsp:sp>
    <dsp:sp modelId="{EC5AD160-8398-4CAC-82EF-0BB408EDCFFD}">
      <dsp:nvSpPr>
        <dsp:cNvPr id="0" name=""/>
        <dsp:cNvSpPr/>
      </dsp:nvSpPr>
      <dsp:spPr>
        <a:xfrm>
          <a:off x="0" y="988600"/>
          <a:ext cx="1643062" cy="78867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2298" tIns="165100" rIns="162298" bIns="165100" numCol="1" spcCol="1270" anchor="ctr" anchorCtr="0">
          <a:noAutofit/>
        </a:bodyPr>
        <a:lstStyle/>
        <a:p>
          <a:pPr marL="0" lvl="0" indent="0" algn="l" defTabSz="1422400">
            <a:lnSpc>
              <a:spcPct val="90000"/>
            </a:lnSpc>
            <a:spcBef>
              <a:spcPct val="0"/>
            </a:spcBef>
            <a:spcAft>
              <a:spcPct val="35000"/>
            </a:spcAft>
            <a:buNone/>
          </a:pPr>
          <a:r>
            <a:rPr lang="en-US" sz="3200" kern="1200"/>
            <a:t>01</a:t>
          </a:r>
        </a:p>
      </dsp:txBody>
      <dsp:txXfrm>
        <a:off x="0" y="988600"/>
        <a:ext cx="1643062" cy="788670"/>
      </dsp:txXfrm>
    </dsp:sp>
    <dsp:sp modelId="{BE9341D6-6A87-4607-BBC2-A5DC8822148C}">
      <dsp:nvSpPr>
        <dsp:cNvPr id="0" name=""/>
        <dsp:cNvSpPr/>
      </dsp:nvSpPr>
      <dsp:spPr>
        <a:xfrm>
          <a:off x="1774507" y="988600"/>
          <a:ext cx="1643062" cy="1971675"/>
        </a:xfrm>
        <a:prstGeom prst="rect">
          <a:avLst/>
        </a:prstGeom>
        <a:solidFill>
          <a:schemeClr val="accent5">
            <a:hueOff val="-2430430"/>
            <a:satOff val="-165"/>
            <a:lumOff val="392"/>
            <a:alphaOff val="0"/>
          </a:schemeClr>
        </a:solidFill>
        <a:ln w="19050" cap="flat" cmpd="sng" algn="ctr">
          <a:solidFill>
            <a:schemeClr val="accent5">
              <a:hueOff val="-2430430"/>
              <a:satOff val="-165"/>
              <a:lumOff val="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298" tIns="0" rIns="162298" bIns="330200" numCol="1" spcCol="1270" anchor="t" anchorCtr="0">
          <a:noAutofit/>
        </a:bodyPr>
        <a:lstStyle/>
        <a:p>
          <a:pPr marL="0" lvl="0" indent="0" algn="l" defTabSz="711200">
            <a:lnSpc>
              <a:spcPct val="90000"/>
            </a:lnSpc>
            <a:spcBef>
              <a:spcPct val="0"/>
            </a:spcBef>
            <a:spcAft>
              <a:spcPct val="35000"/>
            </a:spcAft>
            <a:buNone/>
          </a:pPr>
          <a:r>
            <a:rPr lang="en-GB" sz="1600" kern="1200"/>
            <a:t>Pair risks with capacity</a:t>
          </a:r>
          <a:endParaRPr lang="en-US" sz="1600" kern="1200"/>
        </a:p>
      </dsp:txBody>
      <dsp:txXfrm>
        <a:off x="1774507" y="1777270"/>
        <a:ext cx="1643062" cy="1183005"/>
      </dsp:txXfrm>
    </dsp:sp>
    <dsp:sp modelId="{4F36F98D-188B-413A-925E-126CAAD4E28A}">
      <dsp:nvSpPr>
        <dsp:cNvPr id="0" name=""/>
        <dsp:cNvSpPr/>
      </dsp:nvSpPr>
      <dsp:spPr>
        <a:xfrm>
          <a:off x="1774507" y="988600"/>
          <a:ext cx="1643062" cy="78867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2298" tIns="165100" rIns="162298" bIns="165100" numCol="1" spcCol="1270" anchor="ctr" anchorCtr="0">
          <a:noAutofit/>
        </a:bodyPr>
        <a:lstStyle/>
        <a:p>
          <a:pPr marL="0" lvl="0" indent="0" algn="l" defTabSz="1422400">
            <a:lnSpc>
              <a:spcPct val="90000"/>
            </a:lnSpc>
            <a:spcBef>
              <a:spcPct val="0"/>
            </a:spcBef>
            <a:spcAft>
              <a:spcPct val="35000"/>
            </a:spcAft>
            <a:buNone/>
          </a:pPr>
          <a:r>
            <a:rPr lang="en-US" sz="3200" kern="1200"/>
            <a:t>02</a:t>
          </a:r>
        </a:p>
      </dsp:txBody>
      <dsp:txXfrm>
        <a:off x="1774507" y="988600"/>
        <a:ext cx="1643062" cy="788670"/>
      </dsp:txXfrm>
    </dsp:sp>
    <dsp:sp modelId="{2CF9968F-4421-4B44-A85F-8F6C36B1E4E1}">
      <dsp:nvSpPr>
        <dsp:cNvPr id="0" name=""/>
        <dsp:cNvSpPr/>
      </dsp:nvSpPr>
      <dsp:spPr>
        <a:xfrm>
          <a:off x="3549015" y="988600"/>
          <a:ext cx="1643062" cy="1971675"/>
        </a:xfrm>
        <a:prstGeom prst="rect">
          <a:avLst/>
        </a:prstGeom>
        <a:solidFill>
          <a:schemeClr val="accent5">
            <a:hueOff val="-4860860"/>
            <a:satOff val="-330"/>
            <a:lumOff val="784"/>
            <a:alphaOff val="0"/>
          </a:schemeClr>
        </a:solidFill>
        <a:ln w="19050" cap="flat" cmpd="sng" algn="ctr">
          <a:solidFill>
            <a:schemeClr val="accent5">
              <a:hueOff val="-4860860"/>
              <a:satOff val="-330"/>
              <a:lumOff val="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298" tIns="0" rIns="162298" bIns="330200" numCol="1" spcCol="1270" anchor="t" anchorCtr="0">
          <a:noAutofit/>
        </a:bodyPr>
        <a:lstStyle/>
        <a:p>
          <a:pPr marL="0" lvl="0" indent="0" algn="l" defTabSz="711200">
            <a:lnSpc>
              <a:spcPct val="90000"/>
            </a:lnSpc>
            <a:spcBef>
              <a:spcPct val="0"/>
            </a:spcBef>
            <a:spcAft>
              <a:spcPct val="35000"/>
            </a:spcAft>
            <a:buNone/>
          </a:pPr>
          <a:r>
            <a:rPr lang="en-GB" sz="1600" kern="1200"/>
            <a:t>Use canonical pathway events</a:t>
          </a:r>
          <a:endParaRPr lang="en-US" sz="1600" kern="1200"/>
        </a:p>
      </dsp:txBody>
      <dsp:txXfrm>
        <a:off x="3549015" y="1777270"/>
        <a:ext cx="1643062" cy="1183005"/>
      </dsp:txXfrm>
    </dsp:sp>
    <dsp:sp modelId="{3BBFE501-EE79-4851-AC54-BCC7E2A6894D}">
      <dsp:nvSpPr>
        <dsp:cNvPr id="0" name=""/>
        <dsp:cNvSpPr/>
      </dsp:nvSpPr>
      <dsp:spPr>
        <a:xfrm>
          <a:off x="3549015" y="988600"/>
          <a:ext cx="1643062" cy="78867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2298" tIns="165100" rIns="162298" bIns="165100" numCol="1" spcCol="1270" anchor="ctr" anchorCtr="0">
          <a:noAutofit/>
        </a:bodyPr>
        <a:lstStyle/>
        <a:p>
          <a:pPr marL="0" lvl="0" indent="0" algn="l" defTabSz="1422400">
            <a:lnSpc>
              <a:spcPct val="90000"/>
            </a:lnSpc>
            <a:spcBef>
              <a:spcPct val="0"/>
            </a:spcBef>
            <a:spcAft>
              <a:spcPct val="35000"/>
            </a:spcAft>
            <a:buNone/>
          </a:pPr>
          <a:r>
            <a:rPr lang="en-US" sz="3200" kern="1200"/>
            <a:t>03</a:t>
          </a:r>
        </a:p>
      </dsp:txBody>
      <dsp:txXfrm>
        <a:off x="3549015" y="988600"/>
        <a:ext cx="1643062" cy="788670"/>
      </dsp:txXfrm>
    </dsp:sp>
    <dsp:sp modelId="{092F293F-6C23-4DE8-8635-0D892B148AB0}">
      <dsp:nvSpPr>
        <dsp:cNvPr id="0" name=""/>
        <dsp:cNvSpPr/>
      </dsp:nvSpPr>
      <dsp:spPr>
        <a:xfrm>
          <a:off x="5323522" y="988600"/>
          <a:ext cx="1643062" cy="1971675"/>
        </a:xfrm>
        <a:prstGeom prst="rect">
          <a:avLst/>
        </a:prstGeom>
        <a:solidFill>
          <a:schemeClr val="accent5">
            <a:hueOff val="-7291290"/>
            <a:satOff val="-496"/>
            <a:lumOff val="1177"/>
            <a:alphaOff val="0"/>
          </a:schemeClr>
        </a:solidFill>
        <a:ln w="19050" cap="flat" cmpd="sng" algn="ctr">
          <a:solidFill>
            <a:schemeClr val="accent5">
              <a:hueOff val="-7291290"/>
              <a:satOff val="-496"/>
              <a:lumOff val="1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298" tIns="0" rIns="162298" bIns="330200" numCol="1" spcCol="1270" anchor="t" anchorCtr="0">
          <a:noAutofit/>
        </a:bodyPr>
        <a:lstStyle/>
        <a:p>
          <a:pPr marL="0" lvl="0" indent="0" algn="l" defTabSz="711200">
            <a:lnSpc>
              <a:spcPct val="90000"/>
            </a:lnSpc>
            <a:spcBef>
              <a:spcPct val="0"/>
            </a:spcBef>
            <a:spcAft>
              <a:spcPct val="35000"/>
            </a:spcAft>
            <a:buNone/>
          </a:pPr>
          <a:r>
            <a:rPr lang="en-GB" sz="1600" kern="1200"/>
            <a:t>Refresh at operational cadence</a:t>
          </a:r>
          <a:endParaRPr lang="en-US" sz="1600" kern="1200"/>
        </a:p>
      </dsp:txBody>
      <dsp:txXfrm>
        <a:off x="5323522" y="1777270"/>
        <a:ext cx="1643062" cy="1183005"/>
      </dsp:txXfrm>
    </dsp:sp>
    <dsp:sp modelId="{2336EC19-087E-401E-A518-7DE085883450}">
      <dsp:nvSpPr>
        <dsp:cNvPr id="0" name=""/>
        <dsp:cNvSpPr/>
      </dsp:nvSpPr>
      <dsp:spPr>
        <a:xfrm>
          <a:off x="5323522" y="988600"/>
          <a:ext cx="1643062" cy="78867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2298" tIns="165100" rIns="162298" bIns="165100" numCol="1" spcCol="1270" anchor="ctr" anchorCtr="0">
          <a:noAutofit/>
        </a:bodyPr>
        <a:lstStyle/>
        <a:p>
          <a:pPr marL="0" lvl="0" indent="0" algn="l" defTabSz="1422400">
            <a:lnSpc>
              <a:spcPct val="90000"/>
            </a:lnSpc>
            <a:spcBef>
              <a:spcPct val="0"/>
            </a:spcBef>
            <a:spcAft>
              <a:spcPct val="35000"/>
            </a:spcAft>
            <a:buNone/>
          </a:pPr>
          <a:r>
            <a:rPr lang="en-US" sz="3200" kern="1200"/>
            <a:t>04</a:t>
          </a:r>
        </a:p>
      </dsp:txBody>
      <dsp:txXfrm>
        <a:off x="5323522" y="988600"/>
        <a:ext cx="1643062" cy="788670"/>
      </dsp:txXfrm>
    </dsp:sp>
    <dsp:sp modelId="{E7C436FA-0430-464E-841D-89E48BAC83DB}">
      <dsp:nvSpPr>
        <dsp:cNvPr id="0" name=""/>
        <dsp:cNvSpPr/>
      </dsp:nvSpPr>
      <dsp:spPr>
        <a:xfrm>
          <a:off x="7098030" y="988600"/>
          <a:ext cx="1643062" cy="1971675"/>
        </a:xfrm>
        <a:prstGeom prst="rect">
          <a:avLst/>
        </a:prstGeom>
        <a:solidFill>
          <a:schemeClr val="accent5">
            <a:hueOff val="-9721720"/>
            <a:satOff val="-661"/>
            <a:lumOff val="1569"/>
            <a:alphaOff val="0"/>
          </a:schemeClr>
        </a:solidFill>
        <a:ln w="19050" cap="flat" cmpd="sng" algn="ctr">
          <a:solidFill>
            <a:schemeClr val="accent5">
              <a:hueOff val="-9721720"/>
              <a:satOff val="-661"/>
              <a:lumOff val="15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298" tIns="0" rIns="162298" bIns="330200" numCol="1" spcCol="1270" anchor="t" anchorCtr="0">
          <a:noAutofit/>
        </a:bodyPr>
        <a:lstStyle/>
        <a:p>
          <a:pPr marL="0" lvl="0" indent="0" algn="l" defTabSz="711200">
            <a:lnSpc>
              <a:spcPct val="90000"/>
            </a:lnSpc>
            <a:spcBef>
              <a:spcPct val="0"/>
            </a:spcBef>
            <a:spcAft>
              <a:spcPct val="35000"/>
            </a:spcAft>
            <a:buNone/>
          </a:pPr>
          <a:r>
            <a:rPr lang="en-GB" sz="1600" kern="1200"/>
            <a:t>Preserve provenance</a:t>
          </a:r>
          <a:endParaRPr lang="en-US" sz="1600" kern="1200"/>
        </a:p>
      </dsp:txBody>
      <dsp:txXfrm>
        <a:off x="7098030" y="1777270"/>
        <a:ext cx="1643062" cy="1183005"/>
      </dsp:txXfrm>
    </dsp:sp>
    <dsp:sp modelId="{AC2B16D0-3D33-40D3-8B78-27EC225AB3C1}">
      <dsp:nvSpPr>
        <dsp:cNvPr id="0" name=""/>
        <dsp:cNvSpPr/>
      </dsp:nvSpPr>
      <dsp:spPr>
        <a:xfrm>
          <a:off x="7098030" y="988600"/>
          <a:ext cx="1643062" cy="78867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2298" tIns="165100" rIns="162298" bIns="165100" numCol="1" spcCol="1270" anchor="ctr" anchorCtr="0">
          <a:noAutofit/>
        </a:bodyPr>
        <a:lstStyle/>
        <a:p>
          <a:pPr marL="0" lvl="0" indent="0" algn="l" defTabSz="1422400">
            <a:lnSpc>
              <a:spcPct val="90000"/>
            </a:lnSpc>
            <a:spcBef>
              <a:spcPct val="0"/>
            </a:spcBef>
            <a:spcAft>
              <a:spcPct val="35000"/>
            </a:spcAft>
            <a:buNone/>
          </a:pPr>
          <a:r>
            <a:rPr lang="en-US" sz="3200" kern="1200"/>
            <a:t>05</a:t>
          </a:r>
        </a:p>
      </dsp:txBody>
      <dsp:txXfrm>
        <a:off x="7098030" y="988600"/>
        <a:ext cx="1643062" cy="788670"/>
      </dsp:txXfrm>
    </dsp:sp>
    <dsp:sp modelId="{E1170AD4-6C23-461F-8F53-92C01D123599}">
      <dsp:nvSpPr>
        <dsp:cNvPr id="0" name=""/>
        <dsp:cNvSpPr/>
      </dsp:nvSpPr>
      <dsp:spPr>
        <a:xfrm>
          <a:off x="8872537" y="988600"/>
          <a:ext cx="1643062" cy="1971675"/>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298" tIns="0" rIns="162298" bIns="330200" numCol="1" spcCol="1270" anchor="t" anchorCtr="0">
          <a:noAutofit/>
        </a:bodyPr>
        <a:lstStyle/>
        <a:p>
          <a:pPr marL="0" lvl="0" indent="0" algn="l" defTabSz="711200">
            <a:lnSpc>
              <a:spcPct val="90000"/>
            </a:lnSpc>
            <a:spcBef>
              <a:spcPct val="0"/>
            </a:spcBef>
            <a:spcAft>
              <a:spcPct val="35000"/>
            </a:spcAft>
            <a:buNone/>
          </a:pPr>
          <a:r>
            <a:rPr lang="en-GB" sz="1600" kern="1200"/>
            <a:t>Align dashboards with real tasks</a:t>
          </a:r>
          <a:endParaRPr lang="en-US" sz="1600" kern="1200"/>
        </a:p>
      </dsp:txBody>
      <dsp:txXfrm>
        <a:off x="8872537" y="1777270"/>
        <a:ext cx="1643062" cy="1183005"/>
      </dsp:txXfrm>
    </dsp:sp>
    <dsp:sp modelId="{331C899B-8DA3-4E93-8769-01CAFBC620A3}">
      <dsp:nvSpPr>
        <dsp:cNvPr id="0" name=""/>
        <dsp:cNvSpPr/>
      </dsp:nvSpPr>
      <dsp:spPr>
        <a:xfrm>
          <a:off x="8872537" y="988600"/>
          <a:ext cx="1643062" cy="78867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62298" tIns="165100" rIns="162298" bIns="165100" numCol="1" spcCol="1270" anchor="ctr" anchorCtr="0">
          <a:noAutofit/>
        </a:bodyPr>
        <a:lstStyle/>
        <a:p>
          <a:pPr marL="0" lvl="0" indent="0" algn="l" defTabSz="1422400">
            <a:lnSpc>
              <a:spcPct val="90000"/>
            </a:lnSpc>
            <a:spcBef>
              <a:spcPct val="0"/>
            </a:spcBef>
            <a:spcAft>
              <a:spcPct val="35000"/>
            </a:spcAft>
            <a:buNone/>
          </a:pPr>
          <a:r>
            <a:rPr lang="en-US" sz="3200" kern="1200"/>
            <a:t>06</a:t>
          </a:r>
        </a:p>
      </dsp:txBody>
      <dsp:txXfrm>
        <a:off x="8872537" y="988600"/>
        <a:ext cx="1643062" cy="7886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23D913-C6DD-44FD-BEDB-D601AD8F094F}">
      <dsp:nvSpPr>
        <dsp:cNvPr id="0" name=""/>
        <dsp:cNvSpPr/>
      </dsp:nvSpPr>
      <dsp:spPr>
        <a:xfrm>
          <a:off x="10657" y="0"/>
          <a:ext cx="1096417" cy="10784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689951-2497-4CAF-9BB0-13D59716DE81}">
      <dsp:nvSpPr>
        <dsp:cNvPr id="0" name=""/>
        <dsp:cNvSpPr/>
      </dsp:nvSpPr>
      <dsp:spPr>
        <a:xfrm>
          <a:off x="10657" y="1255964"/>
          <a:ext cx="3132622" cy="462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GB" sz="2300" b="1" kern="1200"/>
            <a:t>Practical Contribution</a:t>
          </a:r>
          <a:endParaRPr lang="en-US" sz="2300" kern="1200"/>
        </a:p>
      </dsp:txBody>
      <dsp:txXfrm>
        <a:off x="10657" y="1255964"/>
        <a:ext cx="3132622" cy="462210"/>
      </dsp:txXfrm>
    </dsp:sp>
    <dsp:sp modelId="{D8CDA739-C4B2-4FF3-B507-55FBC81BED87}">
      <dsp:nvSpPr>
        <dsp:cNvPr id="0" name=""/>
        <dsp:cNvSpPr/>
      </dsp:nvSpPr>
      <dsp:spPr>
        <a:xfrm>
          <a:off x="10657" y="1800721"/>
          <a:ext cx="3132622" cy="23992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a:t>Integrated Data Repository for operational oncology workflows</a:t>
          </a:r>
          <a:endParaRPr lang="en-US" sz="1700" kern="1200"/>
        </a:p>
        <a:p>
          <a:pPr marL="0" lvl="0" indent="0" algn="l" defTabSz="755650">
            <a:lnSpc>
              <a:spcPct val="100000"/>
            </a:lnSpc>
            <a:spcBef>
              <a:spcPct val="0"/>
            </a:spcBef>
            <a:spcAft>
              <a:spcPct val="35000"/>
            </a:spcAft>
            <a:buNone/>
          </a:pPr>
          <a:r>
            <a:rPr lang="en-GB" sz="1700" kern="1200"/>
            <a:t>Decision-Support dashboard suite</a:t>
          </a:r>
          <a:endParaRPr lang="en-US" sz="1700" kern="1200"/>
        </a:p>
        <a:p>
          <a:pPr marL="0" lvl="0" indent="0" algn="l" defTabSz="755650">
            <a:lnSpc>
              <a:spcPct val="100000"/>
            </a:lnSpc>
            <a:spcBef>
              <a:spcPct val="0"/>
            </a:spcBef>
            <a:spcAft>
              <a:spcPct val="35000"/>
            </a:spcAft>
            <a:buNone/>
          </a:pPr>
          <a:r>
            <a:rPr lang="en-GB" sz="1700" kern="1200"/>
            <a:t>Improved visibility of post-MDT bottlenecks</a:t>
          </a:r>
          <a:endParaRPr lang="en-US" sz="1700" kern="1200"/>
        </a:p>
        <a:p>
          <a:pPr marL="0" lvl="0" indent="0" algn="l" defTabSz="755650">
            <a:lnSpc>
              <a:spcPct val="100000"/>
            </a:lnSpc>
            <a:spcBef>
              <a:spcPct val="0"/>
            </a:spcBef>
            <a:spcAft>
              <a:spcPct val="35000"/>
            </a:spcAft>
            <a:buNone/>
          </a:pPr>
          <a:r>
            <a:rPr lang="en-GB" sz="1700" kern="1200"/>
            <a:t>Evidence-based baseline metrics for pathway performance</a:t>
          </a:r>
          <a:endParaRPr lang="en-US" sz="1700" kern="1200"/>
        </a:p>
      </dsp:txBody>
      <dsp:txXfrm>
        <a:off x="10657" y="1800721"/>
        <a:ext cx="3132622" cy="2399278"/>
      </dsp:txXfrm>
    </dsp:sp>
    <dsp:sp modelId="{9113B7F7-7294-40A4-87FE-DA4512187B96}">
      <dsp:nvSpPr>
        <dsp:cNvPr id="0" name=""/>
        <dsp:cNvSpPr/>
      </dsp:nvSpPr>
      <dsp:spPr>
        <a:xfrm>
          <a:off x="3691488" y="0"/>
          <a:ext cx="1096417" cy="10784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ABA06F-8B8C-4F5B-9190-38EACB532963}">
      <dsp:nvSpPr>
        <dsp:cNvPr id="0" name=""/>
        <dsp:cNvSpPr/>
      </dsp:nvSpPr>
      <dsp:spPr>
        <a:xfrm>
          <a:off x="3691488" y="1255964"/>
          <a:ext cx="3132622" cy="462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GB" sz="2300" b="1" kern="1200"/>
            <a:t>Academic Contribution</a:t>
          </a:r>
          <a:endParaRPr lang="en-US" sz="2300" kern="1200"/>
        </a:p>
      </dsp:txBody>
      <dsp:txXfrm>
        <a:off x="3691488" y="1255964"/>
        <a:ext cx="3132622" cy="462210"/>
      </dsp:txXfrm>
    </dsp:sp>
    <dsp:sp modelId="{6E1A92FA-B8D4-472A-B7C4-1AA7DFA3BAA9}">
      <dsp:nvSpPr>
        <dsp:cNvPr id="0" name=""/>
        <dsp:cNvSpPr/>
      </dsp:nvSpPr>
      <dsp:spPr>
        <a:xfrm>
          <a:off x="3691488" y="1800721"/>
          <a:ext cx="3132622" cy="23992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a:t>Application of Design Science Research in NHS operational analytics</a:t>
          </a:r>
          <a:endParaRPr lang="en-US" sz="1700" kern="1200"/>
        </a:p>
        <a:p>
          <a:pPr marL="0" lvl="0" indent="0" algn="l" defTabSz="755650">
            <a:lnSpc>
              <a:spcPct val="100000"/>
            </a:lnSpc>
            <a:spcBef>
              <a:spcPct val="0"/>
            </a:spcBef>
            <a:spcAft>
              <a:spcPct val="35000"/>
            </a:spcAft>
            <a:buNone/>
          </a:pPr>
          <a:r>
            <a:rPr lang="en-GB" sz="1700" kern="1200"/>
            <a:t>Six evaluated design principles for operational oncology analytics</a:t>
          </a:r>
          <a:endParaRPr lang="en-US" sz="1700" kern="1200"/>
        </a:p>
        <a:p>
          <a:pPr marL="0" lvl="0" indent="0" algn="l" defTabSz="755650">
            <a:lnSpc>
              <a:spcPct val="100000"/>
            </a:lnSpc>
            <a:spcBef>
              <a:spcPct val="0"/>
            </a:spcBef>
            <a:spcAft>
              <a:spcPct val="35000"/>
            </a:spcAft>
            <a:buNone/>
          </a:pPr>
          <a:r>
            <a:rPr lang="en-GB" sz="1700" kern="1200"/>
            <a:t>Evidence linking operational visibility, data quality, and manual administrative processes</a:t>
          </a:r>
          <a:endParaRPr lang="en-US" sz="1700" kern="1200"/>
        </a:p>
      </dsp:txBody>
      <dsp:txXfrm>
        <a:off x="3691488" y="1800721"/>
        <a:ext cx="3132622" cy="2399278"/>
      </dsp:txXfrm>
    </dsp:sp>
    <dsp:sp modelId="{DB718047-8FFA-4F6F-8DA7-3CF82FF7A229}">
      <dsp:nvSpPr>
        <dsp:cNvPr id="0" name=""/>
        <dsp:cNvSpPr/>
      </dsp:nvSpPr>
      <dsp:spPr>
        <a:xfrm>
          <a:off x="7372320" y="0"/>
          <a:ext cx="1096417" cy="10784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1AF327-238B-4F2E-AAD7-709FCE58D774}">
      <dsp:nvSpPr>
        <dsp:cNvPr id="0" name=""/>
        <dsp:cNvSpPr/>
      </dsp:nvSpPr>
      <dsp:spPr>
        <a:xfrm>
          <a:off x="7372320" y="1255964"/>
          <a:ext cx="3132622" cy="462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GB" sz="2300" b="1" kern="1200"/>
            <a:t>Strategic Contribution</a:t>
          </a:r>
          <a:endParaRPr lang="en-US" sz="2300" kern="1200"/>
        </a:p>
      </dsp:txBody>
      <dsp:txXfrm>
        <a:off x="7372320" y="1255964"/>
        <a:ext cx="3132622" cy="462210"/>
      </dsp:txXfrm>
    </dsp:sp>
    <dsp:sp modelId="{DA68E0C6-CBE1-44D0-80BC-C99D17E4E4BA}">
      <dsp:nvSpPr>
        <dsp:cNvPr id="0" name=""/>
        <dsp:cNvSpPr/>
      </dsp:nvSpPr>
      <dsp:spPr>
        <a:xfrm>
          <a:off x="7372320" y="1800721"/>
          <a:ext cx="3132622" cy="23992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a:t>Platform for evaluating digital referral transformation</a:t>
          </a:r>
          <a:endParaRPr lang="en-US" sz="1700" kern="1200"/>
        </a:p>
        <a:p>
          <a:pPr marL="0" lvl="0" indent="0" algn="l" defTabSz="755650">
            <a:lnSpc>
              <a:spcPct val="100000"/>
            </a:lnSpc>
            <a:spcBef>
              <a:spcPct val="0"/>
            </a:spcBef>
            <a:spcAft>
              <a:spcPct val="35000"/>
            </a:spcAft>
            <a:buNone/>
          </a:pPr>
          <a:r>
            <a:rPr lang="en-GB" sz="1700" kern="1200"/>
            <a:t>Support NHS Shift from analogue to digital working</a:t>
          </a:r>
          <a:endParaRPr lang="en-US" sz="1700" kern="1200"/>
        </a:p>
      </dsp:txBody>
      <dsp:txXfrm>
        <a:off x="7372320" y="1800721"/>
        <a:ext cx="3132622" cy="239927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086B9A-880B-4FE6-AD66-C2BE2E51812A}" type="datetimeFigureOut">
              <a:rPr lang="en-GB" smtClean="0"/>
              <a:t>12/08/2026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ACAEB-7BE0-4D4E-A435-E834035B6BB3}" type="slidenum">
              <a:rPr lang="en-GB" smtClean="0"/>
              <a:t>‹#›</a:t>
            </a:fld>
            <a:endParaRPr lang="en-GB"/>
          </a:p>
        </p:txBody>
      </p:sp>
    </p:spTree>
    <p:extLst>
      <p:ext uri="{BB962C8B-B14F-4D97-AF65-F5344CB8AC3E}">
        <p14:creationId xmlns:p14="http://schemas.microsoft.com/office/powerpoint/2010/main" val="1857030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my name is Mark, and this is the presentation for my project looking at bottlenecks in the cancer pathway, focussing on after the MDT meeting.</a:t>
            </a:r>
          </a:p>
        </p:txBody>
      </p:sp>
      <p:sp>
        <p:nvSpPr>
          <p:cNvPr id="4" name="Slide Number Placeholder 3"/>
          <p:cNvSpPr>
            <a:spLocks noGrp="1"/>
          </p:cNvSpPr>
          <p:nvPr>
            <p:ph type="sldNum" sz="quarter" idx="5"/>
          </p:nvPr>
        </p:nvSpPr>
        <p:spPr/>
        <p:txBody>
          <a:bodyPr/>
          <a:lstStyle/>
          <a:p>
            <a:fld id="{DBDACAEB-7BE0-4D4E-A435-E834035B6BB3}" type="slidenum">
              <a:rPr lang="en-GB" smtClean="0"/>
              <a:t>1</a:t>
            </a:fld>
            <a:endParaRPr lang="en-GB"/>
          </a:p>
        </p:txBody>
      </p:sp>
    </p:spTree>
    <p:extLst>
      <p:ext uri="{BB962C8B-B14F-4D97-AF65-F5344CB8AC3E}">
        <p14:creationId xmlns:p14="http://schemas.microsoft.com/office/powerpoint/2010/main" val="1629432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methodology of the project, and the outline of this presentation, follows the six stages of Design Science Research as outlined by Peffers. The reason for DSR fits onto the solution phase of DSRM, which I will discuss a bit more when we have identified the problem. </a:t>
            </a:r>
          </a:p>
        </p:txBody>
      </p:sp>
      <p:sp>
        <p:nvSpPr>
          <p:cNvPr id="4" name="Slide Number Placeholder 3"/>
          <p:cNvSpPr>
            <a:spLocks noGrp="1"/>
          </p:cNvSpPr>
          <p:nvPr>
            <p:ph type="sldNum" sz="quarter" idx="5"/>
          </p:nvPr>
        </p:nvSpPr>
        <p:spPr/>
        <p:txBody>
          <a:bodyPr/>
          <a:lstStyle/>
          <a:p>
            <a:fld id="{2F0C858E-C025-4AF1-A6DD-B6046B0811A6}" type="slidenum">
              <a:rPr lang="en-GB" smtClean="0"/>
              <a:t>2</a:t>
            </a:fld>
            <a:endParaRPr lang="en-GB"/>
          </a:p>
        </p:txBody>
      </p:sp>
    </p:spTree>
    <p:extLst>
      <p:ext uri="{BB962C8B-B14F-4D97-AF65-F5344CB8AC3E}">
        <p14:creationId xmlns:p14="http://schemas.microsoft.com/office/powerpoint/2010/main" val="1585578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phase of Design Science Research is Problem Identification. My day-to-day job is working on Cancer Pathways, where timely treatment is essential for the best possible outcome. </a:t>
            </a:r>
          </a:p>
        </p:txBody>
      </p:sp>
      <p:sp>
        <p:nvSpPr>
          <p:cNvPr id="4" name="Slide Number Placeholder 3"/>
          <p:cNvSpPr>
            <a:spLocks noGrp="1"/>
          </p:cNvSpPr>
          <p:nvPr>
            <p:ph type="sldNum" sz="quarter" idx="5"/>
          </p:nvPr>
        </p:nvSpPr>
        <p:spPr/>
        <p:txBody>
          <a:bodyPr/>
          <a:lstStyle/>
          <a:p>
            <a:fld id="{DBDACAEB-7BE0-4D4E-A435-E834035B6BB3}" type="slidenum">
              <a:rPr lang="en-GB" smtClean="0"/>
              <a:t>3</a:t>
            </a:fld>
            <a:endParaRPr lang="en-GB"/>
          </a:p>
        </p:txBody>
      </p:sp>
    </p:spTree>
    <p:extLst>
      <p:ext uri="{BB962C8B-B14F-4D97-AF65-F5344CB8AC3E}">
        <p14:creationId xmlns:p14="http://schemas.microsoft.com/office/powerpoint/2010/main" val="3191908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2023, the National Cancer Wait Times were updated and simplified to three main standards. </a:t>
            </a:r>
          </a:p>
          <a:p>
            <a:r>
              <a:rPr lang="en-GB" dirty="0"/>
              <a:t>These are:</a:t>
            </a:r>
          </a:p>
          <a:p>
            <a:pPr marL="171450" indent="-171450">
              <a:buFontTx/>
              <a:buChar char="-"/>
            </a:pPr>
            <a:r>
              <a:rPr lang="en-GB" dirty="0"/>
              <a:t>the 28-day Faster Diagnostic Standard, where a diagnosis should be confirmed within 28 days of suspected cancer.</a:t>
            </a:r>
          </a:p>
          <a:p>
            <a:pPr marL="171450" indent="-171450">
              <a:buFontTx/>
              <a:buChar char="-"/>
            </a:pPr>
            <a:r>
              <a:rPr lang="en-GB" dirty="0"/>
              <a:t>The 62-day Referral to Treat standard, where treatment should begin within 62-days of that suspected cancer referral.</a:t>
            </a:r>
          </a:p>
          <a:p>
            <a:pPr marL="171450" indent="-171450">
              <a:buFontTx/>
              <a:buChar char="-"/>
            </a:pPr>
            <a:r>
              <a:rPr lang="en-GB" dirty="0"/>
              <a:t>And the 31-day Decision to Treat standard, where treatment should begin within 31 days of a patient agreeing to a treatment plan with their Dr.</a:t>
            </a:r>
          </a:p>
          <a:p>
            <a:pPr marL="0" indent="0">
              <a:buFontTx/>
              <a:buNone/>
            </a:pPr>
            <a:endParaRPr lang="en-GB" dirty="0"/>
          </a:p>
          <a:p>
            <a:pPr marL="0" indent="0">
              <a:buFontTx/>
              <a:buNone/>
            </a:pPr>
            <a:r>
              <a:rPr lang="en-GB" dirty="0"/>
              <a:t>There has been a lot of media attention and government policy relating to the FDS – it’s the driving force behind the Community Diagnostic Centres that are being build across the country. Portsmouth Hospitals have a dedicated department for tracking and co-ordinating patients undergoing the 28-day diagnostic pathway, which has its routes in the 1995 Calman-Hine Report where all patients should have a MDT. Unfortunately, once the MDT decision has been made, Corporate Cancer Services stop tracking the patient, and it falls to the Oncology department to manage the pathway. </a:t>
            </a:r>
          </a:p>
          <a:p>
            <a:pPr marL="0" indent="0">
              <a:buFontTx/>
              <a:buNone/>
            </a:pPr>
            <a:r>
              <a:rPr lang="en-GB" dirty="0"/>
              <a:t>My personal experience from the last five years, has been focussed on improving the 31-day pathway for patients that have been referred to Radiotherapy, but there has been very little attention paid to activities that occur after MDT and before DTT, which based on the 62-day pathway should take less than three days. </a:t>
            </a:r>
          </a:p>
        </p:txBody>
      </p:sp>
      <p:sp>
        <p:nvSpPr>
          <p:cNvPr id="4" name="Slide Number Placeholder 3"/>
          <p:cNvSpPr>
            <a:spLocks noGrp="1"/>
          </p:cNvSpPr>
          <p:nvPr>
            <p:ph type="sldNum" sz="quarter" idx="5"/>
          </p:nvPr>
        </p:nvSpPr>
        <p:spPr/>
        <p:txBody>
          <a:bodyPr/>
          <a:lstStyle/>
          <a:p>
            <a:fld id="{DBDACAEB-7BE0-4D4E-A435-E834035B6BB3}" type="slidenum">
              <a:rPr lang="en-GB" smtClean="0"/>
              <a:t>4</a:t>
            </a:fld>
            <a:endParaRPr lang="en-GB"/>
          </a:p>
        </p:txBody>
      </p:sp>
    </p:spTree>
    <p:extLst>
      <p:ext uri="{BB962C8B-B14F-4D97-AF65-F5344CB8AC3E}">
        <p14:creationId xmlns:p14="http://schemas.microsoft.com/office/powerpoint/2010/main" val="3665687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a result, there is a lack of visibility across the pathway as a whole. From the point of MDT decision, there are at least four different systems in use to manage the patient's cancer treatment. This is an unfortunate side-effect of the Hospitals Digital strategy of using “Best of breed” applications. For the most part, these systems are arguably the best tool for the job, but they result in data fragmentation. </a:t>
            </a:r>
          </a:p>
          <a:p>
            <a:r>
              <a:rPr lang="en-GB" dirty="0"/>
              <a:t>Added to this most reporting of the cancer wait times is done after the fact – once the patient has started treatment. If there are delays in the pathway for any reason, we don’t really know until they have already breached. </a:t>
            </a:r>
          </a:p>
        </p:txBody>
      </p:sp>
      <p:sp>
        <p:nvSpPr>
          <p:cNvPr id="4" name="Slide Number Placeholder 3"/>
          <p:cNvSpPr>
            <a:spLocks noGrp="1"/>
          </p:cNvSpPr>
          <p:nvPr>
            <p:ph type="sldNum" sz="quarter" idx="5"/>
          </p:nvPr>
        </p:nvSpPr>
        <p:spPr/>
        <p:txBody>
          <a:bodyPr/>
          <a:lstStyle/>
          <a:p>
            <a:fld id="{DBDACAEB-7BE0-4D4E-A435-E834035B6BB3}" type="slidenum">
              <a:rPr lang="en-GB" smtClean="0"/>
              <a:t>5</a:t>
            </a:fld>
            <a:endParaRPr lang="en-GB"/>
          </a:p>
        </p:txBody>
      </p:sp>
    </p:spTree>
    <p:extLst>
      <p:ext uri="{BB962C8B-B14F-4D97-AF65-F5344CB8AC3E}">
        <p14:creationId xmlns:p14="http://schemas.microsoft.com/office/powerpoint/2010/main" val="3739173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there are consequences of patients breaching. Its not just performance metrics used by politicians and hospital execs. The targets are routed in clinical evidence. In 2003, twenty years before the current Cancer Wait Time targets, the Joint College of Clinical Oncologists made the recommendation that the fast-growing cancers should start treatment within two weeks. </a:t>
            </a:r>
          </a:p>
          <a:p>
            <a:endParaRPr lang="en-GB" dirty="0"/>
          </a:p>
          <a:p>
            <a:r>
              <a:rPr lang="en-GB" dirty="0"/>
              <a:t>More recently, there are numerous studies showing not insignificant impacts of delaying most treatments by more than four weeks. </a:t>
            </a:r>
          </a:p>
        </p:txBody>
      </p:sp>
      <p:sp>
        <p:nvSpPr>
          <p:cNvPr id="4" name="Slide Number Placeholder 3"/>
          <p:cNvSpPr>
            <a:spLocks noGrp="1"/>
          </p:cNvSpPr>
          <p:nvPr>
            <p:ph type="sldNum" sz="quarter" idx="5"/>
          </p:nvPr>
        </p:nvSpPr>
        <p:spPr/>
        <p:txBody>
          <a:bodyPr/>
          <a:lstStyle/>
          <a:p>
            <a:fld id="{DBDACAEB-7BE0-4D4E-A435-E834035B6BB3}" type="slidenum">
              <a:rPr lang="en-GB" smtClean="0"/>
              <a:t>6</a:t>
            </a:fld>
            <a:endParaRPr lang="en-GB"/>
          </a:p>
        </p:txBody>
      </p:sp>
    </p:spTree>
    <p:extLst>
      <p:ext uri="{BB962C8B-B14F-4D97-AF65-F5344CB8AC3E}">
        <p14:creationId xmlns:p14="http://schemas.microsoft.com/office/powerpoint/2010/main" val="1926934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3370-12DD-3D32-F911-7D79944FF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CE506-51F2-0AD8-C668-BA0756803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AD7D6-A12D-CAD2-5D30-196FF04013B1}"/>
              </a:ext>
            </a:extLst>
          </p:cNvPr>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Before designing a solution, I needed to understand what was already known and where the literature was lacking.</a:t>
            </a:r>
          </a:p>
          <a:p>
            <a:pPr fontAlgn="t"/>
            <a:r>
              <a:rPr lang="en-GB" sz="1200" b="0" i="0" kern="1200" dirty="0">
                <a:solidFill>
                  <a:schemeClr val="tx1"/>
                </a:solidFill>
                <a:effectLst/>
                <a:latin typeface="+mn-lt"/>
                <a:ea typeface="+mn-ea"/>
                <a:cs typeface="+mn-cs"/>
              </a:rPr>
              <a:t>The literature clearly demonstrates that delays to treatment are associated with poorer clinical outcomes. It also shows that MDTs are operating under increasing pressure and that Integrated Data Repositories can successfully integrate healthcare datasets.</a:t>
            </a:r>
          </a:p>
          <a:p>
            <a:pPr fontAlgn="t"/>
            <a:r>
              <a:rPr lang="en-GB" sz="1200" b="0" i="0" kern="1200" dirty="0">
                <a:solidFill>
                  <a:schemeClr val="tx1"/>
                </a:solidFill>
                <a:effectLst/>
                <a:latin typeface="+mn-lt"/>
                <a:ea typeface="+mn-ea"/>
                <a:cs typeface="+mn-cs"/>
              </a:rPr>
              <a:t>Four gaps identified:</a:t>
            </a:r>
          </a:p>
          <a:p>
            <a:pPr marL="228600" indent="-228600" fontAlgn="t">
              <a:buAutoNum type="arabicPeriod"/>
            </a:pPr>
            <a:r>
              <a:rPr lang="en-GB" sz="1200" b="0" i="0" kern="1200" dirty="0">
                <a:solidFill>
                  <a:schemeClr val="tx1"/>
                </a:solidFill>
                <a:effectLst/>
                <a:latin typeface="+mn-lt"/>
                <a:ea typeface="+mn-ea"/>
                <a:cs typeface="+mn-cs"/>
              </a:rPr>
              <a:t>most studies measure diagnosis-to-treatment delay as a single interval and provide little visibility of where delay actually accumulates.</a:t>
            </a:r>
          </a:p>
          <a:p>
            <a:pPr marL="228600" indent="-228600" fontAlgn="t">
              <a:buAutoNum type="arabicPeriod"/>
            </a:pPr>
            <a:r>
              <a:rPr lang="en-GB" sz="1200" b="0" i="0" kern="1200" dirty="0">
                <a:solidFill>
                  <a:schemeClr val="tx1"/>
                </a:solidFill>
                <a:effectLst/>
                <a:latin typeface="+mn-lt"/>
                <a:ea typeface="+mn-ea"/>
                <a:cs typeface="+mn-cs"/>
              </a:rPr>
              <a:t>many repository implementations are designed for research, genomics, or population-health applications rather than day-to-day operational management.</a:t>
            </a:r>
          </a:p>
          <a:p>
            <a:pPr marL="228600" indent="-228600" fontAlgn="t">
              <a:buAutoNum type="arabicPeriod"/>
            </a:pPr>
            <a:r>
              <a:rPr lang="en-GB" sz="1200" b="0" i="0" kern="1200" dirty="0">
                <a:solidFill>
                  <a:schemeClr val="tx1"/>
                </a:solidFill>
                <a:effectLst/>
                <a:latin typeface="+mn-lt"/>
                <a:ea typeface="+mn-ea"/>
                <a:cs typeface="+mn-cs"/>
              </a:rPr>
              <a:t>existing reporting approaches tend to identify problems after breaches have occurred rather than supporting proactive intervention.</a:t>
            </a:r>
          </a:p>
          <a:p>
            <a:pPr marL="228600" indent="-228600" fontAlgn="t">
              <a:buAutoNum type="arabicPeriod"/>
            </a:pPr>
            <a:r>
              <a:rPr lang="en-GB" sz="1200" b="0" i="0" kern="1200" dirty="0">
                <a:solidFill>
                  <a:schemeClr val="tx1"/>
                </a:solidFill>
                <a:effectLst/>
                <a:latin typeface="+mn-lt"/>
                <a:ea typeface="+mn-ea"/>
                <a:cs typeface="+mn-cs"/>
              </a:rPr>
              <a:t>there is limited evidence regarding operational dashboards specifically designed for oncology pathway management.</a:t>
            </a:r>
          </a:p>
          <a:p>
            <a:pPr fontAlgn="t"/>
            <a:r>
              <a:rPr lang="en-GB" sz="1200" b="0" i="0" kern="1200" dirty="0">
                <a:solidFill>
                  <a:schemeClr val="tx1"/>
                </a:solidFill>
                <a:effectLst/>
                <a:latin typeface="+mn-lt"/>
                <a:ea typeface="+mn-ea"/>
                <a:cs typeface="+mn-cs"/>
              </a:rPr>
              <a:t>This gap provided the justification for the project and led directly to the development of an operationally focused Integrated Data Repository and dashboard suite.</a:t>
            </a:r>
          </a:p>
        </p:txBody>
      </p:sp>
      <p:sp>
        <p:nvSpPr>
          <p:cNvPr id="4" name="Slide Number Placeholder 3">
            <a:extLst>
              <a:ext uri="{FF2B5EF4-FFF2-40B4-BE49-F238E27FC236}">
                <a16:creationId xmlns:a16="http://schemas.microsoft.com/office/drawing/2014/main" id="{87F991B0-9C6A-F326-00D1-BFEDEBD9A71A}"/>
              </a:ext>
            </a:extLst>
          </p:cNvPr>
          <p:cNvSpPr>
            <a:spLocks noGrp="1"/>
          </p:cNvSpPr>
          <p:nvPr>
            <p:ph type="sldNum" sz="quarter" idx="5"/>
          </p:nvPr>
        </p:nvSpPr>
        <p:spPr/>
        <p:txBody>
          <a:bodyPr/>
          <a:lstStyle/>
          <a:p>
            <a:fld id="{DBDACAEB-7BE0-4D4E-A435-E834035B6BB3}" type="slidenum">
              <a:rPr lang="en-GB" smtClean="0"/>
              <a:t>7</a:t>
            </a:fld>
            <a:endParaRPr lang="en-GB"/>
          </a:p>
        </p:txBody>
      </p:sp>
    </p:spTree>
    <p:extLst>
      <p:ext uri="{BB962C8B-B14F-4D97-AF65-F5344CB8AC3E}">
        <p14:creationId xmlns:p14="http://schemas.microsoft.com/office/powerpoint/2010/main" val="943741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this brings us onto developing a solution, which is where Design Science Research really helps. Can I find a way to track and identify patients at risk of breaching, before they suffer a clinical impact. Standard PDCA improvement cycles, and case studies rely on measuring the current position, and then looking at the result after a change has been made. This is fine for most research or service improvements, but we have real people wo will experience real consequences if they do not receive their treatment in-time. </a:t>
            </a:r>
          </a:p>
        </p:txBody>
      </p:sp>
      <p:sp>
        <p:nvSpPr>
          <p:cNvPr id="4" name="Slide Number Placeholder 3"/>
          <p:cNvSpPr>
            <a:spLocks noGrp="1"/>
          </p:cNvSpPr>
          <p:nvPr>
            <p:ph type="sldNum" sz="quarter" idx="5"/>
          </p:nvPr>
        </p:nvSpPr>
        <p:spPr/>
        <p:txBody>
          <a:bodyPr/>
          <a:lstStyle/>
          <a:p>
            <a:fld id="{DBDACAEB-7BE0-4D4E-A435-E834035B6BB3}" type="slidenum">
              <a:rPr lang="en-GB" smtClean="0"/>
              <a:t>8</a:t>
            </a:fld>
            <a:endParaRPr lang="en-GB"/>
          </a:p>
        </p:txBody>
      </p:sp>
    </p:spTree>
    <p:extLst>
      <p:ext uri="{BB962C8B-B14F-4D97-AF65-F5344CB8AC3E}">
        <p14:creationId xmlns:p14="http://schemas.microsoft.com/office/powerpoint/2010/main" val="1052429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our research aims are to:</a:t>
            </a:r>
          </a:p>
          <a:p>
            <a:pPr marL="228600" indent="-228600">
              <a:buAutoNum type="arabicPeriod"/>
            </a:pPr>
            <a:r>
              <a:rPr lang="en-GB" dirty="0"/>
              <a:t>Improve operational visibility</a:t>
            </a:r>
          </a:p>
          <a:p>
            <a:pPr marL="228600" indent="-228600">
              <a:buAutoNum type="arabicPeriod"/>
            </a:pPr>
            <a:r>
              <a:rPr lang="en-GB" dirty="0"/>
              <a:t>Reduce data fragmentation</a:t>
            </a:r>
          </a:p>
          <a:p>
            <a:pPr marL="228600" indent="-228600">
              <a:buAutoNum type="arabicPeriod"/>
            </a:pPr>
            <a:r>
              <a:rPr lang="en-GB" dirty="0"/>
              <a:t>And provide a tool that supports proactive pathway management.</a:t>
            </a:r>
          </a:p>
        </p:txBody>
      </p:sp>
      <p:sp>
        <p:nvSpPr>
          <p:cNvPr id="4" name="Slide Number Placeholder 3"/>
          <p:cNvSpPr>
            <a:spLocks noGrp="1"/>
          </p:cNvSpPr>
          <p:nvPr>
            <p:ph type="sldNum" sz="quarter" idx="5"/>
          </p:nvPr>
        </p:nvSpPr>
        <p:spPr/>
        <p:txBody>
          <a:bodyPr/>
          <a:lstStyle/>
          <a:p>
            <a:fld id="{DBDACAEB-7BE0-4D4E-A435-E834035B6BB3}" type="slidenum">
              <a:rPr lang="en-GB" smtClean="0"/>
              <a:t>9</a:t>
            </a:fld>
            <a:endParaRPr lang="en-GB"/>
          </a:p>
        </p:txBody>
      </p:sp>
    </p:spTree>
    <p:extLst>
      <p:ext uri="{BB962C8B-B14F-4D97-AF65-F5344CB8AC3E}">
        <p14:creationId xmlns:p14="http://schemas.microsoft.com/office/powerpoint/2010/main" val="4116911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effectLst/>
              </a:rPr>
              <a:t>From these aims, the specific objectives of the research project are: </a:t>
            </a:r>
          </a:p>
          <a:p>
            <a:pPr marL="171450" lvl="0" indent="-171450">
              <a:buFontTx/>
              <a:buChar char="-"/>
            </a:pPr>
            <a:r>
              <a:rPr lang="en-GB" dirty="0">
                <a:effectLst/>
              </a:rPr>
              <a:t>Identify delays in the pathway after the MDT</a:t>
            </a:r>
          </a:p>
          <a:p>
            <a:pPr marL="171450" lvl="0" indent="-171450">
              <a:buFontTx/>
              <a:buChar char="-"/>
            </a:pPr>
            <a:r>
              <a:rPr lang="en-GB" dirty="0">
                <a:effectLst/>
              </a:rPr>
              <a:t>Analyse the operational factors leading to delay</a:t>
            </a:r>
          </a:p>
          <a:p>
            <a:pPr marL="171450" lvl="0" indent="-171450">
              <a:buFontTx/>
              <a:buChar char="-"/>
            </a:pPr>
            <a:r>
              <a:rPr lang="en-GB" dirty="0">
                <a:effectLst/>
              </a:rPr>
              <a:t>Design an Integrated Data Repository, reducing data fragmentation</a:t>
            </a:r>
          </a:p>
          <a:p>
            <a:pPr marL="171450" lvl="0" indent="-171450">
              <a:buFontTx/>
              <a:buChar char="-"/>
            </a:pPr>
            <a:r>
              <a:rPr lang="en-GB" dirty="0">
                <a:effectLst/>
              </a:rPr>
              <a:t>Build a user-centred dashboard suite, enabling operational managers to make informed decisions. </a:t>
            </a:r>
          </a:p>
          <a:p>
            <a:pPr marL="171450" lvl="0" indent="-171450">
              <a:buFontTx/>
              <a:buChar char="-"/>
            </a:pPr>
            <a:r>
              <a:rPr lang="en-GB" dirty="0">
                <a:effectLst/>
              </a:rPr>
              <a:t>Evaluate the usability and utility of the tools built</a:t>
            </a:r>
          </a:p>
          <a:p>
            <a:pPr marL="171450" lvl="0" indent="-171450">
              <a:buFontTx/>
              <a:buChar char="-"/>
            </a:pPr>
            <a:r>
              <a:rPr lang="en-GB" dirty="0"/>
              <a:t>And derive a set of design principles that can be applied to environments outside of the current study environment. </a:t>
            </a:r>
          </a:p>
          <a:p>
            <a:endParaRPr lang="en-GB" dirty="0"/>
          </a:p>
        </p:txBody>
      </p:sp>
      <p:sp>
        <p:nvSpPr>
          <p:cNvPr id="4" name="Slide Number Placeholder 3"/>
          <p:cNvSpPr>
            <a:spLocks noGrp="1"/>
          </p:cNvSpPr>
          <p:nvPr>
            <p:ph type="sldNum" sz="quarter" idx="5"/>
          </p:nvPr>
        </p:nvSpPr>
        <p:spPr/>
        <p:txBody>
          <a:bodyPr/>
          <a:lstStyle/>
          <a:p>
            <a:fld id="{2F0C858E-C025-4AF1-A6DD-B6046B0811A6}" type="slidenum">
              <a:rPr lang="en-GB" smtClean="0"/>
              <a:t>10</a:t>
            </a:fld>
            <a:endParaRPr lang="en-GB"/>
          </a:p>
        </p:txBody>
      </p:sp>
    </p:spTree>
    <p:extLst>
      <p:ext uri="{BB962C8B-B14F-4D97-AF65-F5344CB8AC3E}">
        <p14:creationId xmlns:p14="http://schemas.microsoft.com/office/powerpoint/2010/main" val="3376688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Integrated Data Repositories are an ideal way to resolve the data fragmentation of the multiple systems in use, although careful consideration is needed for what data feeds into the IDR, and what you need out of it, in our case, decision support dashboards. </a:t>
            </a:r>
          </a:p>
        </p:txBody>
      </p:sp>
      <p:sp>
        <p:nvSpPr>
          <p:cNvPr id="4" name="Slide Number Placeholder 3"/>
          <p:cNvSpPr>
            <a:spLocks noGrp="1"/>
          </p:cNvSpPr>
          <p:nvPr>
            <p:ph type="sldNum" sz="quarter" idx="5"/>
          </p:nvPr>
        </p:nvSpPr>
        <p:spPr/>
        <p:txBody>
          <a:bodyPr/>
          <a:lstStyle/>
          <a:p>
            <a:fld id="{DBDACAEB-7BE0-4D4E-A435-E834035B6BB3}" type="slidenum">
              <a:rPr lang="en-GB" smtClean="0"/>
              <a:t>11</a:t>
            </a:fld>
            <a:endParaRPr lang="en-GB"/>
          </a:p>
        </p:txBody>
      </p:sp>
    </p:spTree>
    <p:extLst>
      <p:ext uri="{BB962C8B-B14F-4D97-AF65-F5344CB8AC3E}">
        <p14:creationId xmlns:p14="http://schemas.microsoft.com/office/powerpoint/2010/main" val="2191730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diving into the development of the IDR, I needed to consider the scope, and other improvement projects currently in progress at PHU. The system used for managing the Systemic Anti Cancer Therapy (SACT), commonly known as chemotherapy, is undergoing an upgrade. The same system is used across the local network of hospitals, and one of the main improvements is reporting functionality. So for the purpose of this project, I have left SACT data outside scope, and will focus on Radiotherapy.</a:t>
            </a:r>
          </a:p>
          <a:p>
            <a:r>
              <a:rPr lang="en-GB" dirty="0"/>
              <a:t>Another project currently in-flight is the development of digital referral to oncology, instead of handwritten, scanned forms, emailed to a shared inbox (can we see where some delays might occur?). </a:t>
            </a:r>
          </a:p>
          <a:p>
            <a:r>
              <a:rPr lang="en-GB" dirty="0"/>
              <a:t>So anything developed, needs to be allow for changes when these projects are complete. </a:t>
            </a:r>
          </a:p>
        </p:txBody>
      </p:sp>
      <p:sp>
        <p:nvSpPr>
          <p:cNvPr id="4" name="Slide Number Placeholder 3"/>
          <p:cNvSpPr>
            <a:spLocks noGrp="1"/>
          </p:cNvSpPr>
          <p:nvPr>
            <p:ph type="sldNum" sz="quarter" idx="5"/>
          </p:nvPr>
        </p:nvSpPr>
        <p:spPr/>
        <p:txBody>
          <a:bodyPr/>
          <a:lstStyle/>
          <a:p>
            <a:fld id="{DBDACAEB-7BE0-4D4E-A435-E834035B6BB3}" type="slidenum">
              <a:rPr lang="en-GB" smtClean="0"/>
              <a:t>12</a:t>
            </a:fld>
            <a:endParaRPr lang="en-GB"/>
          </a:p>
        </p:txBody>
      </p:sp>
    </p:spTree>
    <p:extLst>
      <p:ext uri="{BB962C8B-B14F-4D97-AF65-F5344CB8AC3E}">
        <p14:creationId xmlns:p14="http://schemas.microsoft.com/office/powerpoint/2010/main" val="3386784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architecture adopted for the IDR was layered architecture, with an ETL and staging layers, performing data quality, while maintaining data provenance and auditability, an intermediate layer where various business rules were applied (e.g. 31-day; 62-day; capacity calculated etc.), and a fact table layer, containing all the required data for reporting. </a:t>
            </a:r>
          </a:p>
          <a:p>
            <a:r>
              <a:rPr lang="en-GB" dirty="0"/>
              <a:t>In order to maintain simplicity, the raw extract data used a similar structure. All source systems has multiple export options, but tabular csv/excel was the one common format across all systems (particularly when considering the planned additions mentioned in the previous slide).</a:t>
            </a:r>
          </a:p>
          <a:p>
            <a:endParaRPr lang="en-GB" dirty="0"/>
          </a:p>
        </p:txBody>
      </p:sp>
      <p:sp>
        <p:nvSpPr>
          <p:cNvPr id="4" name="Slide Number Placeholder 3"/>
          <p:cNvSpPr>
            <a:spLocks noGrp="1"/>
          </p:cNvSpPr>
          <p:nvPr>
            <p:ph type="sldNum" sz="quarter" idx="5"/>
          </p:nvPr>
        </p:nvSpPr>
        <p:spPr/>
        <p:txBody>
          <a:bodyPr/>
          <a:lstStyle/>
          <a:p>
            <a:fld id="{DBDACAEB-7BE0-4D4E-A435-E834035B6BB3}" type="slidenum">
              <a:rPr lang="en-GB" smtClean="0"/>
              <a:t>13</a:t>
            </a:fld>
            <a:endParaRPr lang="en-GB"/>
          </a:p>
        </p:txBody>
      </p:sp>
    </p:spTree>
    <p:extLst>
      <p:ext uri="{BB962C8B-B14F-4D97-AF65-F5344CB8AC3E}">
        <p14:creationId xmlns:p14="http://schemas.microsoft.com/office/powerpoint/2010/main" val="2088468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Oncology Referral Dashboard combined data from a referral register (SharePoint list) and Clinic appointment information (excel extract from Patient Administration System – PAS).</a:t>
            </a:r>
          </a:p>
          <a:p>
            <a:r>
              <a:rPr lang="en-GB" dirty="0"/>
              <a:t>Here we can see:</a:t>
            </a:r>
          </a:p>
          <a:p>
            <a:pPr marL="171450" indent="-171450">
              <a:buFontTx/>
              <a:buChar char="-"/>
            </a:pPr>
            <a:r>
              <a:rPr lang="en-GB" dirty="0"/>
              <a:t>the number of patients received by the Oncology department, awaiting to be booked into an appointment (23), </a:t>
            </a:r>
          </a:p>
          <a:p>
            <a:pPr marL="171450" indent="-171450">
              <a:buFontTx/>
              <a:buChar char="-"/>
            </a:pPr>
            <a:r>
              <a:rPr lang="en-GB" dirty="0"/>
              <a:t>the average wait time in days from all clinic appointments being booked to attendance (38.94). This includes 6-week follow-up patients, so isn’t useful for RTT pathway, but is an indicator of capacity,</a:t>
            </a:r>
          </a:p>
          <a:p>
            <a:pPr marL="171450" indent="-171450">
              <a:buFontTx/>
              <a:buChar char="-"/>
            </a:pPr>
            <a:r>
              <a:rPr lang="en-GB" dirty="0"/>
              <a:t>The average time from referral to being booked (4.21 days)</a:t>
            </a:r>
          </a:p>
          <a:p>
            <a:pPr marL="171450" indent="-171450">
              <a:buFontTx/>
              <a:buChar char="-"/>
            </a:pPr>
            <a:r>
              <a:rPr lang="en-GB" dirty="0"/>
              <a:t>The average time from referral to clinic (15 days)</a:t>
            </a:r>
          </a:p>
          <a:p>
            <a:pPr marL="171450" indent="-171450">
              <a:buFontTx/>
              <a:buChar char="-"/>
            </a:pPr>
            <a:r>
              <a:rPr lang="en-GB" dirty="0"/>
              <a:t>And 275 past appointments without an outcome (e.g. attended, not-attended (no show, cancelled etc). )</a:t>
            </a:r>
          </a:p>
          <a:p>
            <a:pPr marL="0" indent="0">
              <a:buFontTx/>
              <a:buNone/>
            </a:pPr>
            <a:r>
              <a:rPr lang="en-GB" dirty="0"/>
              <a:t>We have two visuals/charts in the middle of the screen showing the median wait time for historic patients, those booked into clinic but not yet seen, and those waiting to be booked. We also have historic performance, allowing us to identify trends before they manifest into operational problems. </a:t>
            </a:r>
          </a:p>
          <a:p>
            <a:pPr marL="0" indent="0">
              <a:buFontTx/>
              <a:buNone/>
            </a:pPr>
            <a:r>
              <a:rPr lang="en-GB" dirty="0"/>
              <a:t>At the bottom, we have a patient worklist of un-booked patients, sorted by wait time. This allows operational and clinical management to investigate these patients. We can also filter by speciality, Dr, the source of referral and the type of clinic. This allows the management team know if they need to find additional clinic capacity, or make targeted service improvements (e.g. is one speciality making referrals without all the required information?)</a:t>
            </a:r>
          </a:p>
          <a:p>
            <a:pPr marL="0" indent="0">
              <a:buFontTx/>
              <a:buNone/>
            </a:pPr>
            <a:r>
              <a:rPr lang="en-GB" dirty="0"/>
              <a:t>This is the one dashboard I would like to make the most improvements to after the project is over. For example, colour code the patient worklist to a Red, Amber, Green for wait time. I don’t think I could have done that before getting this data, as I didn’t know what would be reasonable. I could have used the three days between 28-day FDS and 31-day DTT to stay within the 62-day RTT, but everything would be red, and mean nothing. I can now work with clinical management on what colours would actually allow for meaningful action to be taken. </a:t>
            </a:r>
          </a:p>
        </p:txBody>
      </p:sp>
      <p:sp>
        <p:nvSpPr>
          <p:cNvPr id="4" name="Slide Number Placeholder 3"/>
          <p:cNvSpPr>
            <a:spLocks noGrp="1"/>
          </p:cNvSpPr>
          <p:nvPr>
            <p:ph type="sldNum" sz="quarter" idx="5"/>
          </p:nvPr>
        </p:nvSpPr>
        <p:spPr/>
        <p:txBody>
          <a:bodyPr/>
          <a:lstStyle/>
          <a:p>
            <a:fld id="{DBDACAEB-7BE0-4D4E-A435-E834035B6BB3}" type="slidenum">
              <a:rPr lang="en-GB" smtClean="0"/>
              <a:t>14</a:t>
            </a:fld>
            <a:endParaRPr lang="en-GB"/>
          </a:p>
        </p:txBody>
      </p:sp>
    </p:spTree>
    <p:extLst>
      <p:ext uri="{BB962C8B-B14F-4D97-AF65-F5344CB8AC3E}">
        <p14:creationId xmlns:p14="http://schemas.microsoft.com/office/powerpoint/2010/main" val="401269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Radiotherapy Service Health dashboard does allow for a traffic light system. </a:t>
            </a:r>
          </a:p>
          <a:p>
            <a:r>
              <a:rPr lang="en-GB" dirty="0"/>
              <a:t>This dashboard shows that at the time, there were 204 patients referred to Radiotherapy that had not yet started treatment. Of those, the pie-chart shows that just under. 70% are booked to start treatment within the JCCO guidelines, and approx. 28% of patients, while outside JCCO guidelines, are within the mandatory 31-day target.</a:t>
            </a:r>
          </a:p>
          <a:p>
            <a:r>
              <a:rPr lang="en-GB" dirty="0"/>
              <a:t>The dashboard shows that there are 32 patients that are booked into a clinic to see a Radiation Oncologist in the next 30 days (from the previous dashboard), giving an indication of future demand where RT will be the primary treatment. </a:t>
            </a:r>
          </a:p>
          <a:p>
            <a:r>
              <a:rPr lang="en-GB" dirty="0"/>
              <a:t>We have our current booked patients over the next couple of months, with the current treatment machine capacity. Not all Radiotherapy treatments take the same amount of time, so we expect to see a tailing off, allowing the capacity for patients being referred. </a:t>
            </a:r>
          </a:p>
          <a:p>
            <a:r>
              <a:rPr lang="en-GB" dirty="0"/>
              <a:t>At the bottom of the page, we have our patient worklist of patients not yet started, and their expected wait time to start, allowing for targeted intervention.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Early validation identified double-counting of referral events within the integration layer. Refinement of ETL business rules subsequently resolved this issue, illustrating the importance of validating analytical outputs against operational source systems</a:t>
            </a:r>
            <a:r>
              <a:rPr lang="en-GB" dirty="0"/>
              <a:t>. </a:t>
            </a:r>
          </a:p>
        </p:txBody>
      </p:sp>
      <p:sp>
        <p:nvSpPr>
          <p:cNvPr id="4" name="Slide Number Placeholder 3"/>
          <p:cNvSpPr>
            <a:spLocks noGrp="1"/>
          </p:cNvSpPr>
          <p:nvPr>
            <p:ph type="sldNum" sz="quarter" idx="5"/>
          </p:nvPr>
        </p:nvSpPr>
        <p:spPr/>
        <p:txBody>
          <a:bodyPr/>
          <a:lstStyle/>
          <a:p>
            <a:fld id="{DBDACAEB-7BE0-4D4E-A435-E834035B6BB3}" type="slidenum">
              <a:rPr lang="en-GB" smtClean="0"/>
              <a:t>15</a:t>
            </a:fld>
            <a:endParaRPr lang="en-GB"/>
          </a:p>
        </p:txBody>
      </p:sp>
    </p:spTree>
    <p:extLst>
      <p:ext uri="{BB962C8B-B14F-4D97-AF65-F5344CB8AC3E}">
        <p14:creationId xmlns:p14="http://schemas.microsoft.com/office/powerpoint/2010/main" val="2803091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final dashboard I made looks at the full Radiotherapy pathway, from referral to Oncology through to treatment. The waterfall visual is the one that jumps out, and shows that the median time from referral to radiotherapy treatment is 37 days, with the longest delay between CT simulation and treatment (although there are additional activities not captured), and over a week between triage and clinic, and RT referral and CT treatment. Trend lines at the top show this to be mostly stable. Of all the dashboards, I personally felt this was the most revealing. </a:t>
            </a:r>
          </a:p>
        </p:txBody>
      </p:sp>
      <p:sp>
        <p:nvSpPr>
          <p:cNvPr id="4" name="Slide Number Placeholder 3"/>
          <p:cNvSpPr>
            <a:spLocks noGrp="1"/>
          </p:cNvSpPr>
          <p:nvPr>
            <p:ph type="sldNum" sz="quarter" idx="5"/>
          </p:nvPr>
        </p:nvSpPr>
        <p:spPr/>
        <p:txBody>
          <a:bodyPr/>
          <a:lstStyle/>
          <a:p>
            <a:fld id="{DBDACAEB-7BE0-4D4E-A435-E834035B6BB3}" type="slidenum">
              <a:rPr lang="en-GB" smtClean="0"/>
              <a:t>16</a:t>
            </a:fld>
            <a:endParaRPr lang="en-GB"/>
          </a:p>
        </p:txBody>
      </p:sp>
    </p:spTree>
    <p:extLst>
      <p:ext uri="{BB962C8B-B14F-4D97-AF65-F5344CB8AC3E}">
        <p14:creationId xmlns:p14="http://schemas.microsoft.com/office/powerpoint/2010/main" val="3947587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DACAEB-7BE0-4D4E-A435-E834035B6BB3}" type="slidenum">
              <a:rPr lang="en-GB" smtClean="0"/>
              <a:t>17</a:t>
            </a:fld>
            <a:endParaRPr lang="en-GB"/>
          </a:p>
        </p:txBody>
      </p:sp>
    </p:spTree>
    <p:extLst>
      <p:ext uri="{BB962C8B-B14F-4D97-AF65-F5344CB8AC3E}">
        <p14:creationId xmlns:p14="http://schemas.microsoft.com/office/powerpoint/2010/main" val="2795983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demonstrated these dashboards to some key management personnel. Due to being the middle of the summer holidays, it was impossible to demonstrate to all relevant stakeholders together, but I did manage to demonstrate individually to the Oncology Clinical Director, Radiotherapy Operations Manager, and the Lead Treatment Radiographer. The Care Group Manager unfortunately was not available during the demonstration and evaluation phase but was heavily involved in the iterative design stage. For example, it was their input that led away from mean intervals to median, so the data was not overly skewed by outliers. </a:t>
            </a:r>
          </a:p>
          <a:p>
            <a:r>
              <a:rPr lang="en-GB" dirty="0"/>
              <a:t>SUS scoring came out as being </a:t>
            </a:r>
            <a:r>
              <a:rPr lang="en-GB" i="1" dirty="0"/>
              <a:t>exceptionally</a:t>
            </a:r>
            <a:r>
              <a:rPr lang="en-GB" dirty="0"/>
              <a:t> high, and the reported benefits were improved visibility, earlier breach detection and reduced manual reporting. All users felt that adoption into day-to-day management would be likely. </a:t>
            </a:r>
          </a:p>
        </p:txBody>
      </p:sp>
      <p:sp>
        <p:nvSpPr>
          <p:cNvPr id="4" name="Slide Number Placeholder 3"/>
          <p:cNvSpPr>
            <a:spLocks noGrp="1"/>
          </p:cNvSpPr>
          <p:nvPr>
            <p:ph type="sldNum" sz="quarter" idx="5"/>
          </p:nvPr>
        </p:nvSpPr>
        <p:spPr/>
        <p:txBody>
          <a:bodyPr/>
          <a:lstStyle/>
          <a:p>
            <a:fld id="{DBDACAEB-7BE0-4D4E-A435-E834035B6BB3}" type="slidenum">
              <a:rPr lang="en-GB" smtClean="0"/>
              <a:t>18</a:t>
            </a:fld>
            <a:endParaRPr lang="en-GB"/>
          </a:p>
        </p:txBody>
      </p:sp>
    </p:spTree>
    <p:extLst>
      <p:ext uri="{BB962C8B-B14F-4D97-AF65-F5344CB8AC3E}">
        <p14:creationId xmlns:p14="http://schemas.microsoft.com/office/powerpoint/2010/main" val="3178409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few of the captured comments from the stakeholders. </a:t>
            </a:r>
          </a:p>
        </p:txBody>
      </p:sp>
      <p:sp>
        <p:nvSpPr>
          <p:cNvPr id="4" name="Slide Number Placeholder 3"/>
          <p:cNvSpPr>
            <a:spLocks noGrp="1"/>
          </p:cNvSpPr>
          <p:nvPr>
            <p:ph type="sldNum" sz="quarter" idx="5"/>
          </p:nvPr>
        </p:nvSpPr>
        <p:spPr/>
        <p:txBody>
          <a:bodyPr/>
          <a:lstStyle/>
          <a:p>
            <a:fld id="{DBDACAEB-7BE0-4D4E-A435-E834035B6BB3}" type="slidenum">
              <a:rPr lang="en-GB" smtClean="0"/>
              <a:t>19</a:t>
            </a:fld>
            <a:endParaRPr lang="en-GB"/>
          </a:p>
        </p:txBody>
      </p:sp>
    </p:spTree>
    <p:extLst>
      <p:ext uri="{BB962C8B-B14F-4D97-AF65-F5344CB8AC3E}">
        <p14:creationId xmlns:p14="http://schemas.microsoft.com/office/powerpoint/2010/main" val="3374616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Results and discussion. This probably has a bit of evaluation stage, but I would put it as communication. What is science if we can’t communicate our findings?</a:t>
            </a:r>
          </a:p>
        </p:txBody>
      </p:sp>
      <p:sp>
        <p:nvSpPr>
          <p:cNvPr id="4" name="Slide Number Placeholder 3"/>
          <p:cNvSpPr>
            <a:spLocks noGrp="1"/>
          </p:cNvSpPr>
          <p:nvPr>
            <p:ph type="sldNum" sz="quarter" idx="5"/>
          </p:nvPr>
        </p:nvSpPr>
        <p:spPr/>
        <p:txBody>
          <a:bodyPr/>
          <a:lstStyle/>
          <a:p>
            <a:fld id="{DBDACAEB-7BE0-4D4E-A435-E834035B6BB3}" type="slidenum">
              <a:rPr lang="en-GB" smtClean="0"/>
              <a:t>20</a:t>
            </a:fld>
            <a:endParaRPr lang="en-GB"/>
          </a:p>
        </p:txBody>
      </p:sp>
    </p:spTree>
    <p:extLst>
      <p:ext uri="{BB962C8B-B14F-4D97-AF65-F5344CB8AC3E}">
        <p14:creationId xmlns:p14="http://schemas.microsoft.com/office/powerpoint/2010/main" val="1443248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Pathway delay analysis showed three areas to focus on:</a:t>
            </a:r>
          </a:p>
          <a:p>
            <a:pPr marL="228600" indent="-228600">
              <a:buAutoNum type="arabicPeriod"/>
            </a:pPr>
            <a:r>
              <a:rPr lang="en-GB" dirty="0"/>
              <a:t>CT simulation to treatment takes approximately 16 days. There are additional planning activities included here that are not captured. They are not the canonical “patient” events, so were not included in this study, but will be part of the next phase. </a:t>
            </a:r>
          </a:p>
          <a:p>
            <a:pPr marL="228600" indent="-228600">
              <a:buAutoNum type="arabicPeriod"/>
            </a:pPr>
            <a:r>
              <a:rPr lang="en-GB" dirty="0"/>
              <a:t>Triage to clinic and RT referral to CT both take 8 days. Anecdotally, capacity is the driver here. We cannot offer appointments with less than a week's notice. </a:t>
            </a:r>
          </a:p>
          <a:p>
            <a:pPr marL="228600" indent="-228600">
              <a:buAutoNum type="arabicPeriod"/>
            </a:pPr>
            <a:r>
              <a:rPr lang="en-GB" dirty="0"/>
              <a:t>Finaly, it is taking 4 days for a Oncologist to triage and confirm if a referral is appropriate. There are definitely systems of work that can be implemented here to speed up this process. </a:t>
            </a:r>
          </a:p>
        </p:txBody>
      </p:sp>
      <p:sp>
        <p:nvSpPr>
          <p:cNvPr id="4" name="Slide Number Placeholder 3"/>
          <p:cNvSpPr>
            <a:spLocks noGrp="1"/>
          </p:cNvSpPr>
          <p:nvPr>
            <p:ph type="sldNum" sz="quarter" idx="5"/>
          </p:nvPr>
        </p:nvSpPr>
        <p:spPr/>
        <p:txBody>
          <a:bodyPr/>
          <a:lstStyle/>
          <a:p>
            <a:fld id="{DBDACAEB-7BE0-4D4E-A435-E834035B6BB3}" type="slidenum">
              <a:rPr lang="en-GB" smtClean="0"/>
              <a:t>21</a:t>
            </a:fld>
            <a:endParaRPr lang="en-GB"/>
          </a:p>
        </p:txBody>
      </p:sp>
    </p:spTree>
    <p:extLst>
      <p:ext uri="{BB962C8B-B14F-4D97-AF65-F5344CB8AC3E}">
        <p14:creationId xmlns:p14="http://schemas.microsoft.com/office/powerpoint/2010/main" val="21376667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terms of Radiotherapy insights – capacity was quite telling. Unofficial recommendations say that Radiotherapy centres should sit below 80% capacity, to allow for machine breakdown and emergency patient pathways. Portsmouth were at 81.56% at the time of the screenshots used for this presentation, and there is nothing of note happening in the wider picture to indicate we are operating out of the ordinary. This actually tracks well with the national picture, where Portsmouth have the highest number of attendances per treatment machine than any other NHS Radiotherapy centre. </a:t>
            </a:r>
          </a:p>
          <a:p>
            <a:r>
              <a:rPr lang="en-GB" dirty="0"/>
              <a:t>Combining this utilisation with performance, I think Portsmouth is doing extremely well with less than 2.5% breaching the 31-day standard, and we can focus our efforts on the 28% of patients outside the JCCO guidelines. </a:t>
            </a:r>
          </a:p>
        </p:txBody>
      </p:sp>
      <p:sp>
        <p:nvSpPr>
          <p:cNvPr id="4" name="Slide Number Placeholder 3"/>
          <p:cNvSpPr>
            <a:spLocks noGrp="1"/>
          </p:cNvSpPr>
          <p:nvPr>
            <p:ph type="sldNum" sz="quarter" idx="5"/>
          </p:nvPr>
        </p:nvSpPr>
        <p:spPr/>
        <p:txBody>
          <a:bodyPr/>
          <a:lstStyle/>
          <a:p>
            <a:fld id="{DBDACAEB-7BE0-4D4E-A435-E834035B6BB3}" type="slidenum">
              <a:rPr lang="en-GB" smtClean="0"/>
              <a:t>22</a:t>
            </a:fld>
            <a:endParaRPr lang="en-GB"/>
          </a:p>
        </p:txBody>
      </p:sp>
    </p:spTree>
    <p:extLst>
      <p:ext uri="{BB962C8B-B14F-4D97-AF65-F5344CB8AC3E}">
        <p14:creationId xmlns:p14="http://schemas.microsoft.com/office/powerpoint/2010/main" val="24190149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rPr>
              <a:t>I was able to identify and implement six key design principles:</a:t>
            </a:r>
          </a:p>
          <a:p>
            <a:pPr marL="228600" indent="-228600">
              <a:buAutoNum type="arabicPeriod"/>
            </a:pPr>
            <a:r>
              <a:rPr lang="en-GB" dirty="0">
                <a:effectLst/>
              </a:rPr>
              <a:t>I was able to surface breach risks before they happened. </a:t>
            </a:r>
          </a:p>
          <a:p>
            <a:pPr marL="228600" indent="-228600">
              <a:buAutoNum type="arabicPeriod"/>
            </a:pPr>
            <a:r>
              <a:rPr lang="en-GB" dirty="0">
                <a:effectLst/>
              </a:rPr>
              <a:t>I was able to combine breach risk with capacity</a:t>
            </a:r>
          </a:p>
          <a:p>
            <a:pPr marL="228600" indent="-228600">
              <a:buAutoNum type="arabicPeriod"/>
            </a:pPr>
            <a:r>
              <a:rPr lang="en-GB" dirty="0">
                <a:effectLst/>
              </a:rPr>
              <a:t>I used canonical pathway events, although there are additional events that should be included</a:t>
            </a:r>
          </a:p>
          <a:p>
            <a:pPr marL="228600" indent="-228600">
              <a:buAutoNum type="arabicPeriod"/>
            </a:pPr>
            <a:r>
              <a:rPr lang="en-GB" dirty="0">
                <a:effectLst/>
              </a:rPr>
              <a:t>The refresh cadence was perfect for this use-case, however one user stated that the refresh rate does not allow for changes to service to be visualised (e.g. if an extra shift was put on, they would have to wait 24 hrs to see what impact that had on capacity), but for strategic-operational visibility, nightly is good enough. </a:t>
            </a:r>
          </a:p>
          <a:p>
            <a:pPr marL="228600" indent="-228600">
              <a:buAutoNum type="arabicPeriod"/>
            </a:pPr>
            <a:r>
              <a:rPr lang="en-GB" dirty="0">
                <a:effectLst/>
              </a:rPr>
              <a:t>I was able to preserve the provenance of all data using the staged IDR architecture, meaning all data and decisions can be traced to original source. </a:t>
            </a:r>
          </a:p>
          <a:p>
            <a:pPr marL="228600" indent="-228600">
              <a:buAutoNum type="arabicPeriod"/>
            </a:pPr>
            <a:r>
              <a:rPr lang="en-GB" dirty="0">
                <a:effectLst/>
              </a:rPr>
              <a:t>The dashboards were aligned to real task, and were built with specific operational questions in mind. </a:t>
            </a:r>
            <a:endParaRPr lang="en-GB" dirty="0"/>
          </a:p>
          <a:p>
            <a:endParaRPr lang="en-GB" dirty="0"/>
          </a:p>
        </p:txBody>
      </p:sp>
      <p:sp>
        <p:nvSpPr>
          <p:cNvPr id="4" name="Slide Number Placeholder 3"/>
          <p:cNvSpPr>
            <a:spLocks noGrp="1"/>
          </p:cNvSpPr>
          <p:nvPr>
            <p:ph type="sldNum" sz="quarter" idx="5"/>
          </p:nvPr>
        </p:nvSpPr>
        <p:spPr/>
        <p:txBody>
          <a:bodyPr/>
          <a:lstStyle/>
          <a:p>
            <a:fld id="{2F0C858E-C025-4AF1-A6DD-B6046B0811A6}" type="slidenum">
              <a:rPr lang="en-GB" smtClean="0"/>
              <a:t>23</a:t>
            </a:fld>
            <a:endParaRPr lang="en-GB"/>
          </a:p>
        </p:txBody>
      </p:sp>
    </p:spTree>
    <p:extLst>
      <p:ext uri="{BB962C8B-B14F-4D97-AF65-F5344CB8AC3E}">
        <p14:creationId xmlns:p14="http://schemas.microsoft.com/office/powerpoint/2010/main" val="15982435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FE62E-EF91-6B79-643A-CDEEB7E56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0E07A-9BB0-CBA5-DF66-9A5F2DE64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A5ABD-E226-DEEE-F57D-AB491B98E1DE}"/>
              </a:ext>
            </a:extLst>
          </p:cNvPr>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This study makes contributions at three levels.</a:t>
            </a:r>
          </a:p>
          <a:p>
            <a:pPr fontAlgn="t"/>
            <a:r>
              <a:rPr lang="en-GB" sz="1200" b="0" i="0" kern="1200" dirty="0">
                <a:solidFill>
                  <a:schemeClr val="tx1"/>
                </a:solidFill>
                <a:effectLst/>
                <a:latin typeface="+mn-lt"/>
                <a:ea typeface="+mn-ea"/>
                <a:cs typeface="+mn-cs"/>
              </a:rPr>
              <a:t>1. the practical contribution is the development of a lightweight Integrated Data Repository and dashboard suite that provides visibility across previously disconnected parts of the post-MDT pathway.</a:t>
            </a:r>
          </a:p>
          <a:p>
            <a:pPr fontAlgn="t"/>
            <a:r>
              <a:rPr lang="en-GB" sz="1200" b="0" i="0" kern="1200" dirty="0">
                <a:solidFill>
                  <a:schemeClr val="tx1"/>
                </a:solidFill>
                <a:effectLst/>
                <a:latin typeface="+mn-lt"/>
                <a:ea typeface="+mn-ea"/>
                <a:cs typeface="+mn-cs"/>
              </a:rPr>
              <a:t>The repository enabled identification of bottlenecks that were not previously observable using existing reporting processes.</a:t>
            </a:r>
          </a:p>
          <a:p>
            <a:pPr fontAlgn="t"/>
            <a:r>
              <a:rPr lang="en-GB" sz="1200" b="0" i="0" kern="1200" dirty="0">
                <a:solidFill>
                  <a:schemeClr val="tx1"/>
                </a:solidFill>
                <a:effectLst/>
                <a:latin typeface="+mn-lt"/>
                <a:ea typeface="+mn-ea"/>
                <a:cs typeface="+mn-cs"/>
              </a:rPr>
              <a:t>One example is referral-to-clinic performance. Prior to this study, no integrated dataset existed that consistently captured referral receipt, triage, booking and clinic attendance. As a result, there was no evidence-based understanding of what constituted a typical referral-to-clinic interval. The repository now provides that baseline.</a:t>
            </a:r>
          </a:p>
          <a:p>
            <a:pPr fontAlgn="t"/>
            <a:r>
              <a:rPr lang="en-GB" sz="1200" b="0" i="0" kern="1200" dirty="0">
                <a:solidFill>
                  <a:schemeClr val="tx1"/>
                </a:solidFill>
                <a:effectLst/>
                <a:latin typeface="+mn-lt"/>
                <a:ea typeface="+mn-ea"/>
                <a:cs typeface="+mn-cs"/>
              </a:rPr>
              <a:t>2. the academic contribution is the generation and evaluation of six design principles for operational oncology analytics. These principles represent reusable design knowledge that may be transferable beyond Portsmouth Hospitals.</a:t>
            </a:r>
          </a:p>
          <a:p>
            <a:pPr fontAlgn="t"/>
            <a:r>
              <a:rPr lang="en-GB" sz="1200" b="0" i="0" kern="1200" dirty="0">
                <a:solidFill>
                  <a:schemeClr val="tx1"/>
                </a:solidFill>
                <a:effectLst/>
                <a:latin typeface="+mn-lt"/>
                <a:ea typeface="+mn-ea"/>
                <a:cs typeface="+mn-cs"/>
              </a:rPr>
              <a:t>3. the study provides a strategic contribution by creating a platform capable of evaluating future digital transformation initiatives.</a:t>
            </a:r>
          </a:p>
          <a:p>
            <a:pPr fontAlgn="t"/>
            <a:r>
              <a:rPr lang="en-GB" sz="1200" b="0" i="0" kern="1200" dirty="0">
                <a:solidFill>
                  <a:schemeClr val="tx1"/>
                </a:solidFill>
                <a:effectLst/>
                <a:latin typeface="+mn-lt"/>
                <a:ea typeface="+mn-ea"/>
                <a:cs typeface="+mn-cs"/>
              </a:rPr>
              <a:t>In particular, the introduction of electronic oncology referrals presents an opportunity to quantify changes in data quality, referral processing time and pathway performance using pre- and post-implementation measurements generated by the repository.</a:t>
            </a:r>
          </a:p>
          <a:p>
            <a:pPr fontAlgn="t"/>
            <a:r>
              <a:rPr lang="en-GB" sz="1200" b="0" i="0" kern="1200" dirty="0">
                <a:solidFill>
                  <a:schemeClr val="tx1"/>
                </a:solidFill>
                <a:effectLst/>
                <a:latin typeface="+mn-lt"/>
                <a:ea typeface="+mn-ea"/>
                <a:cs typeface="+mn-cs"/>
              </a:rPr>
              <a:t>Together, these contributions demonstrate that meaningful operational insight can be obtained through lightweight integration of existing NHS systems without replacing them.</a:t>
            </a:r>
          </a:p>
          <a:p>
            <a:endParaRPr lang="en-GB" dirty="0"/>
          </a:p>
        </p:txBody>
      </p:sp>
      <p:sp>
        <p:nvSpPr>
          <p:cNvPr id="4" name="Slide Number Placeholder 3">
            <a:extLst>
              <a:ext uri="{FF2B5EF4-FFF2-40B4-BE49-F238E27FC236}">
                <a16:creationId xmlns:a16="http://schemas.microsoft.com/office/drawing/2014/main" id="{B9B7FC25-A77B-CC4E-5D9D-60D44FC7E3AE}"/>
              </a:ext>
            </a:extLst>
          </p:cNvPr>
          <p:cNvSpPr>
            <a:spLocks noGrp="1"/>
          </p:cNvSpPr>
          <p:nvPr>
            <p:ph type="sldNum" sz="quarter" idx="5"/>
          </p:nvPr>
        </p:nvSpPr>
        <p:spPr/>
        <p:txBody>
          <a:bodyPr/>
          <a:lstStyle/>
          <a:p>
            <a:fld id="{DBDACAEB-7BE0-4D4E-A435-E834035B6BB3}" type="slidenum">
              <a:rPr lang="en-GB" smtClean="0"/>
              <a:t>24</a:t>
            </a:fld>
            <a:endParaRPr lang="en-GB"/>
          </a:p>
        </p:txBody>
      </p:sp>
    </p:spTree>
    <p:extLst>
      <p:ext uri="{BB962C8B-B14F-4D97-AF65-F5344CB8AC3E}">
        <p14:creationId xmlns:p14="http://schemas.microsoft.com/office/powerpoint/2010/main" val="34165364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a few limitations to highlight. </a:t>
            </a:r>
          </a:p>
          <a:p>
            <a:r>
              <a:rPr lang="en-GB" dirty="0"/>
              <a:t>Mainly, this was a single-site study. Taking this to a near-by hospital may not have the same results as we all work slightly differently, but the participants in this study were key decision makers at this centre.</a:t>
            </a:r>
          </a:p>
          <a:p>
            <a:r>
              <a:rPr lang="en-GB" dirty="0"/>
              <a:t>A limitation that I was not expecting to be as much of an issue was data quality. There were a not-insignificant number of duplicate referrals, and formatting of key patient identifiers meant pairing was difficult without first cleaning during the ETL layer. </a:t>
            </a:r>
          </a:p>
          <a:p>
            <a:r>
              <a:rPr lang="en-GB" dirty="0"/>
              <a:t>The biggest delay was also the stage that has a number of additional tasks to be completed, and doesn’t necessarily give the full picture, </a:t>
            </a:r>
          </a:p>
          <a:p>
            <a:r>
              <a:rPr lang="en-GB" dirty="0"/>
              <a:t>And finally, the evaluation focused on the stakeholder's usability, and their ability to make decisions, not the outcomes of those decisions. </a:t>
            </a:r>
          </a:p>
        </p:txBody>
      </p:sp>
      <p:sp>
        <p:nvSpPr>
          <p:cNvPr id="4" name="Slide Number Placeholder 3"/>
          <p:cNvSpPr>
            <a:spLocks noGrp="1"/>
          </p:cNvSpPr>
          <p:nvPr>
            <p:ph type="sldNum" sz="quarter" idx="5"/>
          </p:nvPr>
        </p:nvSpPr>
        <p:spPr/>
        <p:txBody>
          <a:bodyPr/>
          <a:lstStyle/>
          <a:p>
            <a:fld id="{DBDACAEB-7BE0-4D4E-A435-E834035B6BB3}" type="slidenum">
              <a:rPr lang="en-GB" smtClean="0"/>
              <a:t>25</a:t>
            </a:fld>
            <a:endParaRPr lang="en-GB"/>
          </a:p>
        </p:txBody>
      </p:sp>
    </p:spTree>
    <p:extLst>
      <p:ext uri="{BB962C8B-B14F-4D97-AF65-F5344CB8AC3E}">
        <p14:creationId xmlns:p14="http://schemas.microsoft.com/office/powerpoint/2010/main" val="35158681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some planned future work, and the Oncology management team are keen to use this, so I am not going to be walking away any time soon.</a:t>
            </a:r>
          </a:p>
          <a:p>
            <a:r>
              <a:rPr lang="en-GB" dirty="0"/>
              <a:t>The first improvement will be the use of digital referrals to oncology. In the last week, we went live with Urology-to-Oncology referrals. This IDR and dashboard now means we can quantify the impact of this, from the data-quality of structured data, to the time to triage ensuring the minimum dataset is supplied. </a:t>
            </a:r>
          </a:p>
          <a:p>
            <a:r>
              <a:rPr lang="en-GB" dirty="0"/>
              <a:t>I will be breaking down the CT-to-treatment workflow, and have been working on improvements in parallel to this study. </a:t>
            </a:r>
          </a:p>
          <a:p>
            <a:r>
              <a:rPr lang="en-GB" dirty="0"/>
              <a:t>The capacity visualisation used for Radiotherapy utilisation will be extremely useful for outpatient clinics. </a:t>
            </a:r>
          </a:p>
          <a:p>
            <a:r>
              <a:rPr lang="en-GB" dirty="0"/>
              <a:t>Finaly, any service improvements can use the data in this IDR and dashboard to make meaningful, targeted and measurable interventions. </a:t>
            </a:r>
          </a:p>
        </p:txBody>
      </p:sp>
      <p:sp>
        <p:nvSpPr>
          <p:cNvPr id="4" name="Slide Number Placeholder 3"/>
          <p:cNvSpPr>
            <a:spLocks noGrp="1"/>
          </p:cNvSpPr>
          <p:nvPr>
            <p:ph type="sldNum" sz="quarter" idx="5"/>
          </p:nvPr>
        </p:nvSpPr>
        <p:spPr/>
        <p:txBody>
          <a:bodyPr/>
          <a:lstStyle/>
          <a:p>
            <a:fld id="{DBDACAEB-7BE0-4D4E-A435-E834035B6BB3}" type="slidenum">
              <a:rPr lang="en-GB" smtClean="0"/>
              <a:t>26</a:t>
            </a:fld>
            <a:endParaRPr lang="en-GB"/>
          </a:p>
        </p:txBody>
      </p:sp>
    </p:spTree>
    <p:extLst>
      <p:ext uri="{BB962C8B-B14F-4D97-AF65-F5344CB8AC3E}">
        <p14:creationId xmlns:p14="http://schemas.microsoft.com/office/powerpoint/2010/main" val="685521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conclusion, I have managed to show that a lightweight IDR improves visibility of cancer pathways; dashboards can reveal hidden bottlenecks, and support operational management. I have manged to provide transferable design principles, which I will be able to confirm when I apply the same to the SACT data when available, and by surfacing individual breach risk patients, we can enable faster, more reliable progression to treatment. </a:t>
            </a:r>
          </a:p>
        </p:txBody>
      </p:sp>
      <p:sp>
        <p:nvSpPr>
          <p:cNvPr id="4" name="Slide Number Placeholder 3"/>
          <p:cNvSpPr>
            <a:spLocks noGrp="1"/>
          </p:cNvSpPr>
          <p:nvPr>
            <p:ph type="sldNum" sz="quarter" idx="5"/>
          </p:nvPr>
        </p:nvSpPr>
        <p:spPr/>
        <p:txBody>
          <a:bodyPr/>
          <a:lstStyle/>
          <a:p>
            <a:fld id="{DBDACAEB-7BE0-4D4E-A435-E834035B6BB3}" type="slidenum">
              <a:rPr lang="en-GB" smtClean="0"/>
              <a:t>27</a:t>
            </a:fld>
            <a:endParaRPr lang="en-GB"/>
          </a:p>
        </p:txBody>
      </p:sp>
    </p:spTree>
    <p:extLst>
      <p:ext uri="{BB962C8B-B14F-4D97-AF65-F5344CB8AC3E}">
        <p14:creationId xmlns:p14="http://schemas.microsoft.com/office/powerpoint/2010/main" val="284054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Thank-you for listening. </a:t>
            </a:r>
          </a:p>
        </p:txBody>
      </p:sp>
      <p:sp>
        <p:nvSpPr>
          <p:cNvPr id="4" name="Slide Number Placeholder 3"/>
          <p:cNvSpPr>
            <a:spLocks noGrp="1"/>
          </p:cNvSpPr>
          <p:nvPr>
            <p:ph type="sldNum" sz="quarter" idx="5"/>
          </p:nvPr>
        </p:nvSpPr>
        <p:spPr/>
        <p:txBody>
          <a:bodyPr/>
          <a:lstStyle/>
          <a:p>
            <a:fld id="{DBDACAEB-7BE0-4D4E-A435-E834035B6BB3}" type="slidenum">
              <a:rPr lang="en-GB" smtClean="0"/>
              <a:t>28</a:t>
            </a:fld>
            <a:endParaRPr lang="en-GB"/>
          </a:p>
        </p:txBody>
      </p:sp>
    </p:spTree>
    <p:extLst>
      <p:ext uri="{BB962C8B-B14F-4D97-AF65-F5344CB8AC3E}">
        <p14:creationId xmlns:p14="http://schemas.microsoft.com/office/powerpoint/2010/main" val="956613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C2B2-A7FB-7057-ED3F-396486204CA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A7B5D7C-D95B-EE02-651C-2A1436942D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C309C2B1-D4D3-C8BF-D427-9C7BF4F15DE5}"/>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5" name="Footer Placeholder 4">
            <a:extLst>
              <a:ext uri="{FF2B5EF4-FFF2-40B4-BE49-F238E27FC236}">
                <a16:creationId xmlns:a16="http://schemas.microsoft.com/office/drawing/2014/main" id="{401EE636-E605-50FC-1778-EEB13523CD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730A50-B307-8B20-655B-1EEA13F6B61A}"/>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417383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279C9-082F-A2C5-38A0-6C7F4297B8E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200CC78-AB9D-C247-7068-783F379B3C2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8B1DD64-62F9-6AFB-866C-0D55E7441DB3}"/>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5" name="Footer Placeholder 4">
            <a:extLst>
              <a:ext uri="{FF2B5EF4-FFF2-40B4-BE49-F238E27FC236}">
                <a16:creationId xmlns:a16="http://schemas.microsoft.com/office/drawing/2014/main" id="{ED837F53-D95D-37B4-1740-B373FC5DEF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297C01-9805-AF5F-EE37-03FE7E59D467}"/>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3416387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31E3B-A5FA-7914-0E17-E54A9F4AEDD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3C8A029-BD3D-9030-0691-FAB5FA64D2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D33206D-FC83-096D-8EFA-7F4176B93F8B}"/>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5" name="Footer Placeholder 4">
            <a:extLst>
              <a:ext uri="{FF2B5EF4-FFF2-40B4-BE49-F238E27FC236}">
                <a16:creationId xmlns:a16="http://schemas.microsoft.com/office/drawing/2014/main" id="{E49125E1-11E1-D682-7433-C73AD06472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D06E7A4-CAB5-6911-6F1C-EC7D88E20A25}"/>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1585318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16A23-C49E-7448-BFB6-93C3C8E44EA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A3306B6-7D22-95C5-00E7-EC18001B0AE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932EF7F3-6E5D-9B70-E279-D404664D0D5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E48DE64-3692-6461-3360-0A16A134269A}"/>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6" name="Footer Placeholder 5">
            <a:extLst>
              <a:ext uri="{FF2B5EF4-FFF2-40B4-BE49-F238E27FC236}">
                <a16:creationId xmlns:a16="http://schemas.microsoft.com/office/drawing/2014/main" id="{B25BFC87-C724-11EF-4886-870829739FC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4B18D7-9ED9-247D-7859-0151909BD683}"/>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3124599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188C8-C125-1506-B6F4-43F4FD34C4C2}"/>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E5232EB-3EB5-CEB2-7DC7-B9895B3F48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CC51730-6DE7-5189-457B-BBFF179C234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B39CFBC-D21E-135C-1D9F-DB76012219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CC13C1E-A500-49C8-ADC1-62E59CB890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C952ED8-7891-A918-3D9F-DEB3042F9F7A}"/>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8" name="Footer Placeholder 7">
            <a:extLst>
              <a:ext uri="{FF2B5EF4-FFF2-40B4-BE49-F238E27FC236}">
                <a16:creationId xmlns:a16="http://schemas.microsoft.com/office/drawing/2014/main" id="{3F47EA67-9E52-D17F-3B2A-EBB748843B2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EB369C3-245D-60B2-74EE-0E5E1E31C144}"/>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1823765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D14B-6AF0-8D14-30C6-1ED1B23A226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680F2CE2-26B4-2631-C952-2F992DC9B699}"/>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4" name="Footer Placeholder 3">
            <a:extLst>
              <a:ext uri="{FF2B5EF4-FFF2-40B4-BE49-F238E27FC236}">
                <a16:creationId xmlns:a16="http://schemas.microsoft.com/office/drawing/2014/main" id="{C9E2535C-4E85-B880-48E4-77F86650DC5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97057E7-7231-FC72-1996-F9FABF101F47}"/>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35496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518542-BBFC-4919-C1ED-880D331C76DA}"/>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3" name="Footer Placeholder 2">
            <a:extLst>
              <a:ext uri="{FF2B5EF4-FFF2-40B4-BE49-F238E27FC236}">
                <a16:creationId xmlns:a16="http://schemas.microsoft.com/office/drawing/2014/main" id="{98099BC7-C4F1-FECD-71AC-AE1B7468E51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ED4AFB-9203-CF9E-1FA9-F369CD0784FE}"/>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2278685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AD34-872B-ADE8-F417-CD43083CEB9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C0138F1D-3453-2B18-0957-14305EA674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E9F6A4CD-1713-CAC6-B6DA-7638208D11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691160-0062-FA01-64EC-488109183AD8}"/>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6" name="Footer Placeholder 5">
            <a:extLst>
              <a:ext uri="{FF2B5EF4-FFF2-40B4-BE49-F238E27FC236}">
                <a16:creationId xmlns:a16="http://schemas.microsoft.com/office/drawing/2014/main" id="{1FBB5681-78CD-CC9E-3482-C8024A535D1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5B45A2-891B-550E-0555-84BDA8BBD9FC}"/>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1462692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04C5D-1D08-4471-7BC5-BA19DA03BB8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6C4A72DD-3DF2-BE15-69F7-A5D00D9E77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23D9CBE-FABC-8BB9-6F57-82EF6CFA58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F33F71-5658-9127-C08C-210DB8F7026B}"/>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6" name="Footer Placeholder 5">
            <a:extLst>
              <a:ext uri="{FF2B5EF4-FFF2-40B4-BE49-F238E27FC236}">
                <a16:creationId xmlns:a16="http://schemas.microsoft.com/office/drawing/2014/main" id="{5610EF0A-EBDD-1AF4-DBF0-F7A55D7614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54C6D6-9901-91DA-678D-DD5E9592D5AD}"/>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2428917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05D3B-BC37-B3A8-29D0-ADE3E1343091}"/>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D9BBFFC3-8CF2-1FC5-6560-A826AA4ADFF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5E9A4B9-C335-1EFE-CFB4-BD6E9C476DA0}"/>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5" name="Footer Placeholder 4">
            <a:extLst>
              <a:ext uri="{FF2B5EF4-FFF2-40B4-BE49-F238E27FC236}">
                <a16:creationId xmlns:a16="http://schemas.microsoft.com/office/drawing/2014/main" id="{DB353043-5D1B-24DB-E5AC-1EF330105B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98F5C3-716E-9EAC-30E3-EA95DAE1C538}"/>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2866475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3DCEA7-602E-AC22-CB76-36D1382B038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E8E6E7DB-ABD8-680E-BA4A-7B0AF193E4D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A70108-92F7-355F-2B52-5BE310322EDD}"/>
              </a:ext>
            </a:extLst>
          </p:cNvPr>
          <p:cNvSpPr>
            <a:spLocks noGrp="1"/>
          </p:cNvSpPr>
          <p:nvPr>
            <p:ph type="dt" sz="half" idx="10"/>
          </p:nvPr>
        </p:nvSpPr>
        <p:spPr/>
        <p:txBody>
          <a:bodyPr/>
          <a:lstStyle/>
          <a:p>
            <a:fld id="{8155533F-DC1B-4056-B34C-CF181F9C0AAC}" type="datetimeFigureOut">
              <a:rPr lang="en-GB" smtClean="0"/>
              <a:t>12/08/2026</a:t>
            </a:fld>
            <a:endParaRPr lang="en-GB"/>
          </a:p>
        </p:txBody>
      </p:sp>
      <p:sp>
        <p:nvSpPr>
          <p:cNvPr id="5" name="Footer Placeholder 4">
            <a:extLst>
              <a:ext uri="{FF2B5EF4-FFF2-40B4-BE49-F238E27FC236}">
                <a16:creationId xmlns:a16="http://schemas.microsoft.com/office/drawing/2014/main" id="{46F668C3-62A8-F379-42A9-6055CD08E3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658F8A-5C99-035F-B31F-989FB4E72606}"/>
              </a:ext>
            </a:extLst>
          </p:cNvPr>
          <p:cNvSpPr>
            <a:spLocks noGrp="1"/>
          </p:cNvSpPr>
          <p:nvPr>
            <p:ph type="sldNum" sz="quarter" idx="12"/>
          </p:nvPr>
        </p:nvSpPr>
        <p:spPr/>
        <p:txBody>
          <a:bodyPr/>
          <a:lstStyle/>
          <a:p>
            <a:fld id="{D9CFD034-6492-488F-ACCE-E42021331D87}" type="slidenum">
              <a:rPr lang="en-GB" smtClean="0"/>
              <a:t>‹#›</a:t>
            </a:fld>
            <a:endParaRPr lang="en-GB"/>
          </a:p>
        </p:txBody>
      </p:sp>
    </p:spTree>
    <p:extLst>
      <p:ext uri="{BB962C8B-B14F-4D97-AF65-F5344CB8AC3E}">
        <p14:creationId xmlns:p14="http://schemas.microsoft.com/office/powerpoint/2010/main" val="564192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F9E2DB-8A3E-8E78-07F2-443AF3AACC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BBC35285-3B8F-4FB8-529B-DC6C1FAECF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88C4A36-7099-A6E4-D1EF-ED7B8C834A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55533F-DC1B-4056-B34C-CF181F9C0AAC}" type="datetimeFigureOut">
              <a:rPr lang="en-GB" smtClean="0"/>
              <a:t>12/08/2026</a:t>
            </a:fld>
            <a:endParaRPr lang="en-GB"/>
          </a:p>
        </p:txBody>
      </p:sp>
      <p:sp>
        <p:nvSpPr>
          <p:cNvPr id="5" name="Footer Placeholder 4">
            <a:extLst>
              <a:ext uri="{FF2B5EF4-FFF2-40B4-BE49-F238E27FC236}">
                <a16:creationId xmlns:a16="http://schemas.microsoft.com/office/drawing/2014/main" id="{F69EA0A4-3905-B9B4-0528-9087E400A9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F7D1A97-8DE5-D5E4-9BA1-986FF71509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CFD034-6492-488F-ACCE-E42021331D87}" type="slidenum">
              <a:rPr lang="en-GB" smtClean="0"/>
              <a:t>‹#›</a:t>
            </a:fld>
            <a:endParaRPr lang="en-GB"/>
          </a:p>
        </p:txBody>
      </p:sp>
    </p:spTree>
    <p:extLst>
      <p:ext uri="{BB962C8B-B14F-4D97-AF65-F5344CB8AC3E}">
        <p14:creationId xmlns:p14="http://schemas.microsoft.com/office/powerpoint/2010/main" val="1875930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igital.nhs.uk/ndrs/data/data-outputs/data-quality-and-insights-hub/rtds-hscn-quality-dashboard"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www.england.nhs.uk/long-read/community-diagnostic-centr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19C0C4-F681-94D9-7B19-56F5ED164DAD}"/>
              </a:ext>
            </a:extLst>
          </p:cNvPr>
          <p:cNvSpPr>
            <a:spLocks noGrp="1"/>
          </p:cNvSpPr>
          <p:nvPr>
            <p:ph type="ctrTitle"/>
          </p:nvPr>
        </p:nvSpPr>
        <p:spPr>
          <a:xfrm>
            <a:off x="640080" y="329184"/>
            <a:ext cx="6894576" cy="1783080"/>
          </a:xfrm>
        </p:spPr>
        <p:txBody>
          <a:bodyPr vert="horz" lIns="91440" tIns="45720" rIns="91440" bIns="45720" rtlCol="0" anchor="b">
            <a:normAutofit/>
          </a:bodyPr>
          <a:lstStyle/>
          <a:p>
            <a:pPr algn="l"/>
            <a:r>
              <a:rPr lang="en-US" sz="5400"/>
              <a:t>Post-MDT Oncology Workflow Bottlenecks</a:t>
            </a:r>
          </a:p>
        </p:txBody>
      </p:sp>
      <p:sp>
        <p:nvSpPr>
          <p:cNvPr id="3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5B5BCB4-DD39-B579-6F5C-86C4208D3654}"/>
              </a:ext>
            </a:extLst>
          </p:cNvPr>
          <p:cNvSpPr>
            <a:spLocks noGrp="1"/>
          </p:cNvSpPr>
          <p:nvPr>
            <p:ph type="subTitle" idx="1"/>
          </p:nvPr>
        </p:nvSpPr>
        <p:spPr>
          <a:xfrm>
            <a:off x="640080" y="2706624"/>
            <a:ext cx="6894576" cy="3483864"/>
          </a:xfrm>
        </p:spPr>
        <p:txBody>
          <a:bodyPr vert="horz" lIns="91440" tIns="45720" rIns="91440" bIns="45720" rtlCol="0">
            <a:normAutofit/>
          </a:bodyPr>
          <a:lstStyle/>
          <a:p>
            <a:pPr algn="l"/>
            <a:r>
              <a:rPr lang="en-US" sz="2200" dirty="0"/>
              <a:t>A Design Science Study of an NHS Integrated Data Repository and Decision Support Dashboard</a:t>
            </a:r>
          </a:p>
          <a:p>
            <a:pPr indent="-228600" algn="l">
              <a:buFont typeface="Arial" panose="020B0604020202020204" pitchFamily="34" charset="0"/>
              <a:buChar char="•"/>
            </a:pPr>
            <a:endParaRPr lang="en-US" sz="2200" dirty="0"/>
          </a:p>
          <a:p>
            <a:pPr algn="l"/>
            <a:r>
              <a:rPr lang="en-US" sz="2200" dirty="0"/>
              <a:t>Master of Science (MSc) Enterprise IT Management</a:t>
            </a:r>
          </a:p>
          <a:p>
            <a:pPr indent="-228600" algn="l">
              <a:buFont typeface="Arial" panose="020B0604020202020204" pitchFamily="34" charset="0"/>
              <a:buChar char="•"/>
            </a:pPr>
            <a:endParaRPr lang="en-US" sz="2200" dirty="0"/>
          </a:p>
          <a:p>
            <a:pPr algn="l"/>
            <a:r>
              <a:rPr lang="en-US" sz="2200" dirty="0"/>
              <a:t>Mark Collins</a:t>
            </a:r>
          </a:p>
          <a:p>
            <a:pPr algn="l"/>
            <a:r>
              <a:rPr lang="en-US" sz="2200" dirty="0"/>
              <a:t>August 2026</a:t>
            </a:r>
          </a:p>
        </p:txBody>
      </p:sp>
      <p:pic>
        <p:nvPicPr>
          <p:cNvPr id="5" name="Picture 4">
            <a:extLst>
              <a:ext uri="{FF2B5EF4-FFF2-40B4-BE49-F238E27FC236}">
                <a16:creationId xmlns:a16="http://schemas.microsoft.com/office/drawing/2014/main" id="{5B42028B-903F-5C59-7648-74897284D5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3840" y="1166058"/>
            <a:ext cx="4014216" cy="1756219"/>
          </a:xfrm>
          <a:prstGeom prst="rect">
            <a:avLst/>
          </a:prstGeom>
        </p:spPr>
      </p:pic>
      <p:pic>
        <p:nvPicPr>
          <p:cNvPr id="7" name="Picture 6">
            <a:extLst>
              <a:ext uri="{FF2B5EF4-FFF2-40B4-BE49-F238E27FC236}">
                <a16:creationId xmlns:a16="http://schemas.microsoft.com/office/drawing/2014/main" id="{11603FBB-B39A-E2BF-A762-F3D8B9EF53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3840" y="4483026"/>
            <a:ext cx="3995928" cy="1368605"/>
          </a:xfrm>
          <a:prstGeom prst="rect">
            <a:avLst/>
          </a:prstGeom>
        </p:spPr>
      </p:pic>
    </p:spTree>
    <p:extLst>
      <p:ext uri="{BB962C8B-B14F-4D97-AF65-F5344CB8AC3E}">
        <p14:creationId xmlns:p14="http://schemas.microsoft.com/office/powerpoint/2010/main" val="2198982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93272-69F7-1858-4BA6-47F51963C8A6}"/>
              </a:ext>
            </a:extLst>
          </p:cNvPr>
          <p:cNvSpPr>
            <a:spLocks noGrp="1"/>
          </p:cNvSpPr>
          <p:nvPr>
            <p:ph type="title"/>
          </p:nvPr>
        </p:nvSpPr>
        <p:spPr/>
        <p:txBody>
          <a:bodyPr>
            <a:normAutofit fontScale="90000"/>
          </a:bodyPr>
          <a:lstStyle/>
          <a:p>
            <a:r>
              <a:rPr lang="en-GB" sz="5400" dirty="0"/>
              <a:t>Methodology: Design Science Research</a:t>
            </a:r>
          </a:p>
        </p:txBody>
      </p:sp>
      <p:pic>
        <p:nvPicPr>
          <p:cNvPr id="7" name="Content Placeholder 6">
            <a:extLst>
              <a:ext uri="{FF2B5EF4-FFF2-40B4-BE49-F238E27FC236}">
                <a16:creationId xmlns:a16="http://schemas.microsoft.com/office/drawing/2014/main" id="{9B880973-E158-A6BE-A2E8-733C21E732E3}"/>
              </a:ext>
            </a:extLst>
          </p:cNvPr>
          <p:cNvPicPr>
            <a:picLocks noGrp="1" noChangeAspect="1"/>
          </p:cNvPicPr>
          <p:nvPr>
            <p:ph sz="half" idx="1"/>
          </p:nvPr>
        </p:nvPicPr>
        <p:blipFill>
          <a:blip r:embed="rId3"/>
          <a:stretch>
            <a:fillRect/>
          </a:stretch>
        </p:blipFill>
        <p:spPr>
          <a:xfrm>
            <a:off x="838200" y="2727130"/>
            <a:ext cx="5181600" cy="2548327"/>
          </a:xfrm>
          <a:prstGeom prst="rect">
            <a:avLst/>
          </a:prstGeom>
        </p:spPr>
      </p:pic>
      <p:graphicFrame>
        <p:nvGraphicFramePr>
          <p:cNvPr id="12" name="Content Placeholder 4">
            <a:extLst>
              <a:ext uri="{FF2B5EF4-FFF2-40B4-BE49-F238E27FC236}">
                <a16:creationId xmlns:a16="http://schemas.microsoft.com/office/drawing/2014/main" id="{5804C2AB-B528-E7B8-532F-39DAEFAA710C}"/>
              </a:ext>
            </a:extLst>
          </p:cNvPr>
          <p:cNvGraphicFramePr>
            <a:graphicFrameLocks noGrp="1"/>
          </p:cNvGraphicFramePr>
          <p:nvPr>
            <p:ph sz="half" idx="2"/>
            <p:extLst>
              <p:ext uri="{D42A27DB-BD31-4B8C-83A1-F6EECF244321}">
                <p14:modId xmlns:p14="http://schemas.microsoft.com/office/powerpoint/2010/main" val="703596251"/>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595B0916-BCA7-93B0-5D83-F866335AE61F}"/>
              </a:ext>
            </a:extLst>
          </p:cNvPr>
          <p:cNvSpPr txBox="1"/>
          <p:nvPr/>
        </p:nvSpPr>
        <p:spPr>
          <a:xfrm>
            <a:off x="838200" y="6173399"/>
            <a:ext cx="1127681" cy="276999"/>
          </a:xfrm>
          <a:prstGeom prst="rect">
            <a:avLst/>
          </a:prstGeom>
          <a:noFill/>
        </p:spPr>
        <p:txBody>
          <a:bodyPr wrap="none" rtlCol="0">
            <a:spAutoFit/>
          </a:bodyPr>
          <a:lstStyle/>
          <a:p>
            <a:r>
              <a:rPr lang="en-GB" sz="1200" dirty="0"/>
              <a:t>Peffers (2007) </a:t>
            </a:r>
          </a:p>
        </p:txBody>
      </p:sp>
    </p:spTree>
    <p:extLst>
      <p:ext uri="{BB962C8B-B14F-4D97-AF65-F5344CB8AC3E}">
        <p14:creationId xmlns:p14="http://schemas.microsoft.com/office/powerpoint/2010/main" val="2727791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C394E53-62DF-C6A9-56B6-A15128192A1B}"/>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Cancer Pathways</a:t>
            </a:r>
          </a:p>
        </p:txBody>
      </p:sp>
      <p:sp>
        <p:nvSpPr>
          <p:cNvPr id="21" name="Rectangle 2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F77F1F83-D68C-C983-074C-8C838C66B950}"/>
              </a:ext>
            </a:extLst>
          </p:cNvPr>
          <p:cNvSpPr>
            <a:spLocks noGrp="1"/>
          </p:cNvSpPr>
          <p:nvPr>
            <p:ph type="body" idx="1"/>
          </p:nvPr>
        </p:nvSpPr>
        <p:spPr>
          <a:xfrm>
            <a:off x="7928114" y="1232452"/>
            <a:ext cx="3200400" cy="3850919"/>
          </a:xfrm>
        </p:spPr>
        <p:txBody>
          <a:bodyPr vert="horz" lIns="91440" tIns="45720" rIns="91440" bIns="45720" rtlCol="0" anchor="b">
            <a:normAutofit/>
          </a:bodyPr>
          <a:lstStyle/>
          <a:p>
            <a:r>
              <a:rPr lang="en-US" kern="1200" dirty="0">
                <a:solidFill>
                  <a:srgbClr val="FFFFFF"/>
                </a:solidFill>
                <a:latin typeface="+mn-lt"/>
                <a:ea typeface="+mn-ea"/>
                <a:cs typeface="+mn-cs"/>
              </a:rPr>
              <a:t>DSRM:</a:t>
            </a:r>
          </a:p>
          <a:p>
            <a:r>
              <a:rPr lang="en-US" i="1" kern="1200" dirty="0">
                <a:solidFill>
                  <a:srgbClr val="FFFFFF"/>
                </a:solidFill>
                <a:latin typeface="+mn-lt"/>
                <a:ea typeface="+mn-ea"/>
                <a:cs typeface="+mn-cs"/>
              </a:rPr>
              <a:t>Identify Problem &amp; Motivate</a:t>
            </a:r>
          </a:p>
        </p:txBody>
      </p:sp>
      <p:sp>
        <p:nvSpPr>
          <p:cNvPr id="22"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242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3A14A64-14C4-42F0-3580-AF927C715B2E}"/>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Cancer Pathway</a:t>
            </a:r>
          </a:p>
        </p:txBody>
      </p:sp>
      <p:sp>
        <p:nvSpPr>
          <p:cNvPr id="2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433A98D9-66BC-708D-A49D-8C620D1EBC1A}"/>
              </a:ext>
            </a:extLst>
          </p:cNvPr>
          <p:cNvSpPr>
            <a:spLocks noGrp="1"/>
          </p:cNvSpPr>
          <p:nvPr>
            <p:ph sz="half" idx="2"/>
          </p:nvPr>
        </p:nvSpPr>
        <p:spPr>
          <a:xfrm>
            <a:off x="630936" y="2660904"/>
            <a:ext cx="4818888" cy="3547872"/>
          </a:xfrm>
        </p:spPr>
        <p:txBody>
          <a:bodyPr vert="horz" lIns="91440" tIns="45720" rIns="91440" bIns="45720" rtlCol="0" anchor="t">
            <a:normAutofit lnSpcReduction="10000"/>
          </a:bodyPr>
          <a:lstStyle/>
          <a:p>
            <a:r>
              <a:rPr lang="en-US" sz="1400" dirty="0"/>
              <a:t>Three key waiting time standards (Johnson, 2024)</a:t>
            </a:r>
          </a:p>
          <a:p>
            <a:pPr lvl="1"/>
            <a:r>
              <a:rPr lang="en-US" sz="1400" dirty="0"/>
              <a:t>28-day FDS</a:t>
            </a:r>
          </a:p>
          <a:p>
            <a:pPr lvl="1"/>
            <a:r>
              <a:rPr lang="en-US" sz="1400" dirty="0"/>
              <a:t>62-day RTT</a:t>
            </a:r>
          </a:p>
          <a:p>
            <a:pPr lvl="1"/>
            <a:r>
              <a:rPr lang="en-US" sz="1400" dirty="0"/>
              <a:t>31-day DTT</a:t>
            </a:r>
          </a:p>
          <a:p>
            <a:r>
              <a:rPr lang="en-US" sz="1400" dirty="0"/>
              <a:t>28-day FDS lead to Community Diagnostic </a:t>
            </a:r>
            <a:r>
              <a:rPr lang="en-US" sz="1400" dirty="0" err="1"/>
              <a:t>Centres</a:t>
            </a:r>
            <a:r>
              <a:rPr lang="en-US" sz="1400" dirty="0"/>
              <a:t> (NHS England, 2025)</a:t>
            </a:r>
          </a:p>
          <a:p>
            <a:r>
              <a:rPr lang="en-US" sz="1400" dirty="0"/>
              <a:t>PHU has dedicated department </a:t>
            </a:r>
            <a:r>
              <a:rPr lang="en-US" sz="1400" dirty="0" err="1"/>
              <a:t>co-ordinating</a:t>
            </a:r>
            <a:r>
              <a:rPr lang="en-US" sz="1400" dirty="0"/>
              <a:t> specialist services (corporate cancer service) (</a:t>
            </a:r>
            <a:r>
              <a:rPr lang="en-GB" sz="1400" dirty="0"/>
              <a:t>Calman, K. and Hine, D., 1995)</a:t>
            </a:r>
            <a:endParaRPr lang="en-US" sz="1400" dirty="0"/>
          </a:p>
          <a:p>
            <a:r>
              <a:rPr lang="en-US" sz="1400" dirty="0"/>
              <a:t>Once MDT decision made, Oncology department responsible for delivering treatment. </a:t>
            </a:r>
          </a:p>
          <a:p>
            <a:pPr lvl="1"/>
            <a:r>
              <a:rPr lang="en-US" sz="1400" dirty="0"/>
              <a:t>CCS stop tracking</a:t>
            </a:r>
          </a:p>
          <a:p>
            <a:pPr lvl="1"/>
            <a:r>
              <a:rPr lang="en-US" sz="1400" dirty="0"/>
              <a:t>I have spent last 5 years working on pathway improvements once Decision to Treat has been made.</a:t>
            </a:r>
          </a:p>
          <a:p>
            <a:endParaRPr lang="en-US" sz="1400" dirty="0"/>
          </a:p>
        </p:txBody>
      </p:sp>
      <p:pic>
        <p:nvPicPr>
          <p:cNvPr id="10" name="Content Placeholder 9">
            <a:extLst>
              <a:ext uri="{FF2B5EF4-FFF2-40B4-BE49-F238E27FC236}">
                <a16:creationId xmlns:a16="http://schemas.microsoft.com/office/drawing/2014/main" id="{029DF604-F1FE-68BD-5613-5D4E6686FA8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106374" y="640080"/>
            <a:ext cx="3444315" cy="5577840"/>
          </a:xfrm>
          <a:prstGeom prst="rect">
            <a:avLst/>
          </a:prstGeom>
        </p:spPr>
      </p:pic>
    </p:spTree>
    <p:extLst>
      <p:ext uri="{BB962C8B-B14F-4D97-AF65-F5344CB8AC3E}">
        <p14:creationId xmlns:p14="http://schemas.microsoft.com/office/powerpoint/2010/main" val="178511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030221-C5A7-2D97-F541-990C3CE1FD21}"/>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Lack of Visibility</a:t>
            </a: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E33B538-CC32-0A29-E899-36F9CB059D6F}"/>
              </a:ext>
            </a:extLst>
          </p:cNvPr>
          <p:cNvSpPr>
            <a:spLocks noGrp="1"/>
          </p:cNvSpPr>
          <p:nvPr>
            <p:ph sz="half" idx="1"/>
          </p:nvPr>
        </p:nvSpPr>
        <p:spPr>
          <a:xfrm>
            <a:off x="630936" y="2660904"/>
            <a:ext cx="4818888" cy="3547872"/>
          </a:xfrm>
        </p:spPr>
        <p:txBody>
          <a:bodyPr vert="horz" lIns="91440" tIns="45720" rIns="91440" bIns="45720" rtlCol="0" anchor="t">
            <a:normAutofit/>
          </a:bodyPr>
          <a:lstStyle/>
          <a:p>
            <a:r>
              <a:rPr lang="en-US" sz="2200"/>
              <a:t>Multiple Systems in use</a:t>
            </a:r>
          </a:p>
          <a:p>
            <a:pPr lvl="1"/>
            <a:r>
              <a:rPr lang="en-US" sz="2200"/>
              <a:t>SharePoint Register</a:t>
            </a:r>
          </a:p>
          <a:p>
            <a:pPr lvl="1"/>
            <a:r>
              <a:rPr lang="en-US" sz="2200"/>
              <a:t>PAS</a:t>
            </a:r>
          </a:p>
          <a:p>
            <a:pPr lvl="1"/>
            <a:r>
              <a:rPr lang="en-US" sz="2200"/>
              <a:t>ARIA RO</a:t>
            </a:r>
          </a:p>
          <a:p>
            <a:pPr lvl="1"/>
            <a:r>
              <a:rPr lang="en-US" sz="2200"/>
              <a:t>ARIA MO</a:t>
            </a:r>
          </a:p>
          <a:p>
            <a:r>
              <a:rPr lang="en-US" sz="2200"/>
              <a:t>Data Fragmentation</a:t>
            </a:r>
          </a:p>
          <a:p>
            <a:r>
              <a:rPr lang="en-US" sz="2200"/>
              <a:t>Reporting is focused on performance, after the fact</a:t>
            </a:r>
          </a:p>
        </p:txBody>
      </p:sp>
      <p:pic>
        <p:nvPicPr>
          <p:cNvPr id="6" name="Content Placeholder 5">
            <a:extLst>
              <a:ext uri="{FF2B5EF4-FFF2-40B4-BE49-F238E27FC236}">
                <a16:creationId xmlns:a16="http://schemas.microsoft.com/office/drawing/2014/main" id="{7E772B67-4680-D725-37F5-DC118AA51A5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259765" y="640080"/>
            <a:ext cx="3137534" cy="5577840"/>
          </a:xfrm>
          <a:prstGeom prst="rect">
            <a:avLst/>
          </a:prstGeom>
        </p:spPr>
      </p:pic>
    </p:spTree>
    <p:extLst>
      <p:ext uri="{BB962C8B-B14F-4D97-AF65-F5344CB8AC3E}">
        <p14:creationId xmlns:p14="http://schemas.microsoft.com/office/powerpoint/2010/main" val="1253219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F1EE1-6045-597C-64CD-8DF3C061875F}"/>
              </a:ext>
            </a:extLst>
          </p:cNvPr>
          <p:cNvSpPr>
            <a:spLocks noGrp="1"/>
          </p:cNvSpPr>
          <p:nvPr>
            <p:ph type="title"/>
          </p:nvPr>
        </p:nvSpPr>
        <p:spPr>
          <a:xfrm>
            <a:off x="838200" y="609600"/>
            <a:ext cx="10515600" cy="1143000"/>
          </a:xfrm>
        </p:spPr>
        <p:txBody>
          <a:bodyPr anchor="b">
            <a:normAutofit/>
          </a:bodyPr>
          <a:lstStyle/>
          <a:p>
            <a:r>
              <a:rPr lang="en-GB"/>
              <a:t>Consequences of delayed treatment</a:t>
            </a:r>
            <a:endParaRPr lang="en-GB" dirty="0"/>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145B05E-1104-A0A1-B27A-89DE2BE51F01}"/>
              </a:ext>
            </a:extLst>
          </p:cNvPr>
          <p:cNvSpPr>
            <a:spLocks noGrp="1"/>
          </p:cNvSpPr>
          <p:nvPr>
            <p:ph sz="half" idx="1"/>
          </p:nvPr>
        </p:nvSpPr>
        <p:spPr>
          <a:xfrm>
            <a:off x="838200" y="2072640"/>
            <a:ext cx="5181600" cy="4200000"/>
          </a:xfrm>
        </p:spPr>
        <p:txBody>
          <a:bodyPr/>
          <a:lstStyle/>
          <a:p>
            <a:r>
              <a:rPr lang="en-GB"/>
              <a:t>Delays in treatment have clinical impact</a:t>
            </a:r>
          </a:p>
          <a:p>
            <a:r>
              <a:rPr lang="en-GB"/>
              <a:t>Joint College of Clinical Oncologist (JCCO) (Ash </a:t>
            </a:r>
            <a:r>
              <a:rPr lang="en-GB" i="1"/>
              <a:t>et al.</a:t>
            </a:r>
            <a:r>
              <a:rPr lang="en-GB"/>
              <a:t>, 2004)</a:t>
            </a:r>
          </a:p>
          <a:p>
            <a:pPr lvl="1"/>
            <a:r>
              <a:rPr lang="en-GB"/>
              <a:t>Fast growing tumours to be treated within 2 weeks</a:t>
            </a:r>
            <a:endParaRPr lang="en-GB" dirty="0"/>
          </a:p>
        </p:txBody>
      </p:sp>
      <p:sp>
        <p:nvSpPr>
          <p:cNvPr id="4" name="Content Placeholder 3">
            <a:extLst>
              <a:ext uri="{FF2B5EF4-FFF2-40B4-BE49-F238E27FC236}">
                <a16:creationId xmlns:a16="http://schemas.microsoft.com/office/drawing/2014/main" id="{E035F02B-BB94-F7E4-5E6C-82B63884F83B}"/>
              </a:ext>
            </a:extLst>
          </p:cNvPr>
          <p:cNvSpPr>
            <a:spLocks noGrp="1"/>
          </p:cNvSpPr>
          <p:nvPr>
            <p:ph sz="half" idx="2"/>
          </p:nvPr>
        </p:nvSpPr>
        <p:spPr>
          <a:xfrm>
            <a:off x="6172200" y="2072640"/>
            <a:ext cx="5181600" cy="4200000"/>
          </a:xfrm>
        </p:spPr>
        <p:txBody>
          <a:bodyPr/>
          <a:lstStyle/>
          <a:p>
            <a:r>
              <a:rPr lang="en-GB"/>
              <a:t>Delays &gt; 4 weeks = ↓ outcomes:</a:t>
            </a:r>
          </a:p>
          <a:p>
            <a:pPr lvl="1"/>
            <a:r>
              <a:rPr lang="en-GB"/>
              <a:t>Coca-Pelaz </a:t>
            </a:r>
            <a:r>
              <a:rPr lang="en-GB" i="1"/>
              <a:t>et al.</a:t>
            </a:r>
            <a:r>
              <a:rPr lang="en-GB"/>
              <a:t> (2018)</a:t>
            </a:r>
          </a:p>
          <a:p>
            <a:pPr lvl="1"/>
            <a:r>
              <a:rPr lang="en-GB"/>
              <a:t>Saleh </a:t>
            </a:r>
            <a:r>
              <a:rPr lang="en-GB" i="1"/>
              <a:t>et al. </a:t>
            </a:r>
            <a:r>
              <a:rPr lang="en-GB"/>
              <a:t>(2024)</a:t>
            </a:r>
          </a:p>
          <a:p>
            <a:pPr lvl="1"/>
            <a:r>
              <a:rPr lang="en-GB"/>
              <a:t>Sharma </a:t>
            </a:r>
            <a:r>
              <a:rPr lang="en-GB" i="1"/>
              <a:t>et al. </a:t>
            </a:r>
            <a:r>
              <a:rPr lang="en-GB"/>
              <a:t>(2016)</a:t>
            </a:r>
          </a:p>
          <a:p>
            <a:pPr lvl="1"/>
            <a:r>
              <a:rPr lang="en-GB"/>
              <a:t>Vilemure-Poliquin </a:t>
            </a:r>
            <a:r>
              <a:rPr lang="en-GB" i="1"/>
              <a:t>et al.</a:t>
            </a:r>
            <a:r>
              <a:rPr lang="en-GB"/>
              <a:t> (2025)</a:t>
            </a:r>
            <a:endParaRPr lang="en-GB" dirty="0"/>
          </a:p>
        </p:txBody>
      </p:sp>
    </p:spTree>
    <p:extLst>
      <p:ext uri="{BB962C8B-B14F-4D97-AF65-F5344CB8AC3E}">
        <p14:creationId xmlns:p14="http://schemas.microsoft.com/office/powerpoint/2010/main" val="1578733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98CB8-8318-288F-54E2-92A93009E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A3BC2F-4E90-78DB-E19E-96D0031800D4}"/>
              </a:ext>
            </a:extLst>
          </p:cNvPr>
          <p:cNvSpPr>
            <a:spLocks noGrp="1"/>
          </p:cNvSpPr>
          <p:nvPr>
            <p:ph type="title"/>
          </p:nvPr>
        </p:nvSpPr>
        <p:spPr/>
        <p:txBody>
          <a:bodyPr anchor="b">
            <a:normAutofit/>
          </a:bodyPr>
          <a:lstStyle/>
          <a:p>
            <a:r>
              <a:rPr lang="en-GB" dirty="0"/>
              <a:t>Research Gap</a:t>
            </a:r>
          </a:p>
        </p:txBody>
      </p:sp>
      <p:sp>
        <p:nvSpPr>
          <p:cNvPr id="5" name="Text Placeholder 4">
            <a:extLst>
              <a:ext uri="{FF2B5EF4-FFF2-40B4-BE49-F238E27FC236}">
                <a16:creationId xmlns:a16="http://schemas.microsoft.com/office/drawing/2014/main" id="{B7E85CE7-91D3-DB6F-FCC8-9E6C545C0087}"/>
              </a:ext>
            </a:extLst>
          </p:cNvPr>
          <p:cNvSpPr>
            <a:spLocks noGrp="1"/>
          </p:cNvSpPr>
          <p:nvPr>
            <p:ph type="body" idx="1"/>
          </p:nvPr>
        </p:nvSpPr>
        <p:spPr/>
        <p:txBody>
          <a:bodyPr/>
          <a:lstStyle/>
          <a:p>
            <a:r>
              <a:rPr lang="en-GB" dirty="0"/>
              <a:t>Literature Shows</a:t>
            </a:r>
          </a:p>
        </p:txBody>
      </p:sp>
      <p:sp>
        <p:nvSpPr>
          <p:cNvPr id="3" name="Content Placeholder 2">
            <a:extLst>
              <a:ext uri="{FF2B5EF4-FFF2-40B4-BE49-F238E27FC236}">
                <a16:creationId xmlns:a16="http://schemas.microsoft.com/office/drawing/2014/main" id="{87E34AA2-37B1-C2DC-0599-367EB1A697F3}"/>
              </a:ext>
            </a:extLst>
          </p:cNvPr>
          <p:cNvSpPr>
            <a:spLocks noGrp="1"/>
          </p:cNvSpPr>
          <p:nvPr>
            <p:ph sz="half" idx="2"/>
          </p:nvPr>
        </p:nvSpPr>
        <p:spPr/>
        <p:txBody>
          <a:bodyPr>
            <a:normAutofit/>
          </a:bodyPr>
          <a:lstStyle/>
          <a:p>
            <a:r>
              <a:rPr lang="en-GB" dirty="0"/>
              <a:t>Treatment delays adversely affect outcomes</a:t>
            </a:r>
          </a:p>
          <a:p>
            <a:r>
              <a:rPr lang="en-GB" dirty="0"/>
              <a:t>MDTs operate under increasing operational pressure</a:t>
            </a:r>
          </a:p>
          <a:p>
            <a:r>
              <a:rPr lang="en-GB" dirty="0"/>
              <a:t>Integrated Data Repositories support data integration</a:t>
            </a:r>
          </a:p>
          <a:p>
            <a:r>
              <a:rPr lang="en-GB" dirty="0"/>
              <a:t>Dashboards improve information visibility</a:t>
            </a:r>
          </a:p>
        </p:txBody>
      </p:sp>
      <p:sp>
        <p:nvSpPr>
          <p:cNvPr id="6" name="Text Placeholder 5">
            <a:extLst>
              <a:ext uri="{FF2B5EF4-FFF2-40B4-BE49-F238E27FC236}">
                <a16:creationId xmlns:a16="http://schemas.microsoft.com/office/drawing/2014/main" id="{AB3A8B2C-9E83-9014-9885-D1B0A9387A02}"/>
              </a:ext>
            </a:extLst>
          </p:cNvPr>
          <p:cNvSpPr>
            <a:spLocks noGrp="1"/>
          </p:cNvSpPr>
          <p:nvPr>
            <p:ph type="body" sz="quarter" idx="3"/>
          </p:nvPr>
        </p:nvSpPr>
        <p:spPr/>
        <p:txBody>
          <a:bodyPr/>
          <a:lstStyle/>
          <a:p>
            <a:r>
              <a:rPr lang="en-GB" dirty="0"/>
              <a:t>Gap Identified</a:t>
            </a:r>
          </a:p>
        </p:txBody>
      </p:sp>
      <p:sp>
        <p:nvSpPr>
          <p:cNvPr id="4" name="Content Placeholder 3">
            <a:extLst>
              <a:ext uri="{FF2B5EF4-FFF2-40B4-BE49-F238E27FC236}">
                <a16:creationId xmlns:a16="http://schemas.microsoft.com/office/drawing/2014/main" id="{A43B6ED1-923D-8C38-84D5-E44D959DB40B}"/>
              </a:ext>
            </a:extLst>
          </p:cNvPr>
          <p:cNvSpPr>
            <a:spLocks noGrp="1"/>
          </p:cNvSpPr>
          <p:nvPr>
            <p:ph sz="quarter" idx="4"/>
          </p:nvPr>
        </p:nvSpPr>
        <p:spPr>
          <a:xfrm>
            <a:off x="6172199" y="2505075"/>
            <a:ext cx="5778662" cy="3684588"/>
          </a:xfrm>
        </p:spPr>
        <p:txBody>
          <a:bodyPr>
            <a:normAutofit/>
          </a:bodyPr>
          <a:lstStyle/>
          <a:p>
            <a:r>
              <a:rPr lang="en-GB" dirty="0"/>
              <a:t>Limited visibility of where delays accumulate after MDT</a:t>
            </a:r>
          </a:p>
          <a:p>
            <a:r>
              <a:rPr lang="en-GB" dirty="0"/>
              <a:t>Few repositories designed for operational oncology management</a:t>
            </a:r>
          </a:p>
          <a:p>
            <a:r>
              <a:rPr lang="en-GB" dirty="0"/>
              <a:t>Existing reporting is largely retrospective</a:t>
            </a:r>
          </a:p>
          <a:p>
            <a:r>
              <a:rPr lang="en-GB" dirty="0"/>
              <a:t>Limited evidence for proactive pathway decision-support</a:t>
            </a:r>
          </a:p>
        </p:txBody>
      </p:sp>
    </p:spTree>
    <p:extLst>
      <p:ext uri="{BB962C8B-B14F-4D97-AF65-F5344CB8AC3E}">
        <p14:creationId xmlns:p14="http://schemas.microsoft.com/office/powerpoint/2010/main" val="1663177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C394E53-62DF-C6A9-56B6-A15128192A1B}"/>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Aims &amp; Objectives</a:t>
            </a:r>
          </a:p>
        </p:txBody>
      </p:sp>
      <p:sp>
        <p:nvSpPr>
          <p:cNvPr id="21" name="Rectangle 2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F77F1F83-D68C-C983-074C-8C838C66B950}"/>
              </a:ext>
            </a:extLst>
          </p:cNvPr>
          <p:cNvSpPr>
            <a:spLocks noGrp="1"/>
          </p:cNvSpPr>
          <p:nvPr>
            <p:ph type="body" idx="1"/>
          </p:nvPr>
        </p:nvSpPr>
        <p:spPr>
          <a:xfrm>
            <a:off x="7928114" y="1232452"/>
            <a:ext cx="3200400" cy="3850919"/>
          </a:xfrm>
        </p:spPr>
        <p:txBody>
          <a:bodyPr vert="horz" lIns="91440" tIns="45720" rIns="91440" bIns="45720" rtlCol="0" anchor="b">
            <a:normAutofit/>
          </a:bodyPr>
          <a:lstStyle/>
          <a:p>
            <a:r>
              <a:rPr lang="en-US" kern="1200" dirty="0">
                <a:solidFill>
                  <a:srgbClr val="FFFFFF"/>
                </a:solidFill>
                <a:latin typeface="+mn-lt"/>
                <a:ea typeface="+mn-ea"/>
                <a:cs typeface="+mn-cs"/>
              </a:rPr>
              <a:t>DSRM:</a:t>
            </a:r>
          </a:p>
          <a:p>
            <a:r>
              <a:rPr lang="en-US" i="1" kern="1200" dirty="0">
                <a:solidFill>
                  <a:srgbClr val="FFFFFF"/>
                </a:solidFill>
                <a:latin typeface="+mn-lt"/>
                <a:ea typeface="+mn-ea"/>
                <a:cs typeface="+mn-cs"/>
              </a:rPr>
              <a:t>Define Objectives of a Solution</a:t>
            </a:r>
          </a:p>
        </p:txBody>
      </p:sp>
      <p:sp>
        <p:nvSpPr>
          <p:cNvPr id="22"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242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3C231A-796A-0689-1275-3350E4A3DF05}"/>
              </a:ext>
            </a:extLst>
          </p:cNvPr>
          <p:cNvSpPr>
            <a:spLocks noGrp="1"/>
          </p:cNvSpPr>
          <p:nvPr>
            <p:ph type="title"/>
          </p:nvPr>
        </p:nvSpPr>
        <p:spPr>
          <a:xfrm>
            <a:off x="838200" y="609600"/>
            <a:ext cx="10515600" cy="1143000"/>
          </a:xfrm>
        </p:spPr>
        <p:txBody>
          <a:bodyPr anchor="b">
            <a:normAutofit/>
          </a:bodyPr>
          <a:lstStyle/>
          <a:p>
            <a:r>
              <a:rPr lang="en-GB" dirty="0"/>
              <a:t>Research Aims</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015470A-08FC-297F-37E6-EBBE7CBAC7F9}"/>
              </a:ext>
            </a:extLst>
          </p:cNvPr>
          <p:cNvSpPr>
            <a:spLocks noGrp="1"/>
          </p:cNvSpPr>
          <p:nvPr>
            <p:ph sz="half" idx="1"/>
          </p:nvPr>
        </p:nvSpPr>
        <p:spPr>
          <a:xfrm>
            <a:off x="838200" y="2072640"/>
            <a:ext cx="5181600" cy="4200000"/>
          </a:xfrm>
        </p:spPr>
        <p:txBody>
          <a:bodyPr/>
          <a:lstStyle/>
          <a:p>
            <a:r>
              <a:rPr lang="en-GB" dirty="0"/>
              <a:t>Improve operational visibility</a:t>
            </a:r>
          </a:p>
          <a:p>
            <a:r>
              <a:rPr lang="en-GB" dirty="0"/>
              <a:t>Reduce data fragmentation</a:t>
            </a:r>
          </a:p>
          <a:p>
            <a:r>
              <a:rPr lang="en-GB" dirty="0"/>
              <a:t>Support proactive pathway management</a:t>
            </a:r>
          </a:p>
          <a:p>
            <a:endParaRPr lang="en-GB" dirty="0"/>
          </a:p>
        </p:txBody>
      </p:sp>
      <p:graphicFrame>
        <p:nvGraphicFramePr>
          <p:cNvPr id="9" name="Content Placeholder 8">
            <a:extLst>
              <a:ext uri="{FF2B5EF4-FFF2-40B4-BE49-F238E27FC236}">
                <a16:creationId xmlns:a16="http://schemas.microsoft.com/office/drawing/2014/main" id="{41A6BC2C-CCEB-1F99-1B78-D08DE7976E79}"/>
              </a:ext>
            </a:extLst>
          </p:cNvPr>
          <p:cNvGraphicFramePr>
            <a:graphicFrameLocks noGrp="1"/>
          </p:cNvGraphicFramePr>
          <p:nvPr>
            <p:ph sz="half" idx="2"/>
            <p:extLst>
              <p:ext uri="{D42A27DB-BD31-4B8C-83A1-F6EECF244321}">
                <p14:modId xmlns:p14="http://schemas.microsoft.com/office/powerpoint/2010/main" val="2708951182"/>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7590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5BE94-5470-F5BA-3CF4-E799E7C002E9}"/>
              </a:ext>
            </a:extLst>
          </p:cNvPr>
          <p:cNvSpPr>
            <a:spLocks noGrp="1"/>
          </p:cNvSpPr>
          <p:nvPr>
            <p:ph type="title"/>
          </p:nvPr>
        </p:nvSpPr>
        <p:spPr>
          <a:xfrm>
            <a:off x="838200" y="609600"/>
            <a:ext cx="10515600" cy="1143000"/>
          </a:xfrm>
        </p:spPr>
        <p:txBody>
          <a:bodyPr anchor="b">
            <a:normAutofit/>
          </a:bodyPr>
          <a:lstStyle/>
          <a:p>
            <a:r>
              <a:rPr lang="en-GB" sz="5400"/>
              <a:t>Research Objectives</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E5725E0-7297-1857-E298-998197113699}"/>
              </a:ext>
            </a:extLst>
          </p:cNvPr>
          <p:cNvGraphicFramePr>
            <a:graphicFrameLocks noGrp="1"/>
          </p:cNvGraphicFramePr>
          <p:nvPr>
            <p:ph idx="1"/>
            <p:extLst>
              <p:ext uri="{D42A27DB-BD31-4B8C-83A1-F6EECF244321}">
                <p14:modId xmlns:p14="http://schemas.microsoft.com/office/powerpoint/2010/main" val="1087473303"/>
              </p:ext>
            </p:extLst>
          </p:nvPr>
        </p:nvGraphicFramePr>
        <p:xfrm>
          <a:off x="838200" y="2072640"/>
          <a:ext cx="10515600" cy="390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32910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C394E53-62DF-C6A9-56B6-A15128192A1B}"/>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IDR &amp; Dashboard</a:t>
            </a:r>
          </a:p>
        </p:txBody>
      </p:sp>
      <p:sp>
        <p:nvSpPr>
          <p:cNvPr id="21" name="Rectangle 2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F77F1F83-D68C-C983-074C-8C838C66B950}"/>
              </a:ext>
            </a:extLst>
          </p:cNvPr>
          <p:cNvSpPr>
            <a:spLocks noGrp="1"/>
          </p:cNvSpPr>
          <p:nvPr>
            <p:ph type="body" idx="1"/>
          </p:nvPr>
        </p:nvSpPr>
        <p:spPr>
          <a:xfrm>
            <a:off x="7928114" y="1232452"/>
            <a:ext cx="3200400" cy="3850919"/>
          </a:xfrm>
        </p:spPr>
        <p:txBody>
          <a:bodyPr vert="horz" lIns="91440" tIns="45720" rIns="91440" bIns="45720" rtlCol="0" anchor="b">
            <a:normAutofit/>
          </a:bodyPr>
          <a:lstStyle/>
          <a:p>
            <a:r>
              <a:rPr lang="en-US" kern="1200" dirty="0">
                <a:solidFill>
                  <a:srgbClr val="FFFFFF"/>
                </a:solidFill>
                <a:latin typeface="+mn-lt"/>
                <a:ea typeface="+mn-ea"/>
                <a:cs typeface="+mn-cs"/>
              </a:rPr>
              <a:t>DSRM:</a:t>
            </a:r>
          </a:p>
          <a:p>
            <a:r>
              <a:rPr lang="en-US" i="1" kern="1200" dirty="0">
                <a:solidFill>
                  <a:srgbClr val="FFFFFF"/>
                </a:solidFill>
                <a:latin typeface="+mn-lt"/>
                <a:ea typeface="+mn-ea"/>
                <a:cs typeface="+mn-cs"/>
              </a:rPr>
              <a:t>Design and Development of Artifact</a:t>
            </a:r>
          </a:p>
        </p:txBody>
      </p:sp>
      <p:sp>
        <p:nvSpPr>
          <p:cNvPr id="22"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242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03C508-EFF5-301D-45CD-84402EA98FB4}"/>
              </a:ext>
            </a:extLst>
          </p:cNvPr>
          <p:cNvSpPr>
            <a:spLocks noGrp="1"/>
          </p:cNvSpPr>
          <p:nvPr>
            <p:ph type="title"/>
          </p:nvPr>
        </p:nvSpPr>
        <p:spPr>
          <a:xfrm>
            <a:off x="838200" y="609600"/>
            <a:ext cx="10515600" cy="1143000"/>
          </a:xfrm>
        </p:spPr>
        <p:txBody>
          <a:bodyPr anchor="b">
            <a:normAutofit/>
          </a:bodyPr>
          <a:lstStyle/>
          <a:p>
            <a:r>
              <a:rPr lang="en-GB" dirty="0"/>
              <a:t>Scope</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E7E47EB-91DB-6B63-E6EA-03EEAE543093}"/>
              </a:ext>
            </a:extLst>
          </p:cNvPr>
          <p:cNvSpPr>
            <a:spLocks noGrp="1"/>
          </p:cNvSpPr>
          <p:nvPr>
            <p:ph idx="1"/>
          </p:nvPr>
        </p:nvSpPr>
        <p:spPr>
          <a:xfrm>
            <a:off x="838200" y="2072640"/>
            <a:ext cx="10515600" cy="4200000"/>
          </a:xfrm>
        </p:spPr>
        <p:txBody>
          <a:bodyPr/>
          <a:lstStyle/>
          <a:p>
            <a:r>
              <a:rPr lang="en-GB" dirty="0"/>
              <a:t>Parallel Projects</a:t>
            </a:r>
          </a:p>
          <a:p>
            <a:pPr lvl="1"/>
            <a:r>
              <a:rPr lang="en-GB" dirty="0"/>
              <a:t>ARIA MO upgrade</a:t>
            </a:r>
          </a:p>
          <a:p>
            <a:pPr lvl="1"/>
            <a:r>
              <a:rPr lang="en-GB" dirty="0"/>
              <a:t>Digital Referrals</a:t>
            </a:r>
          </a:p>
          <a:p>
            <a:r>
              <a:rPr lang="en-GB" dirty="0"/>
              <a:t>Remove SACT from scope</a:t>
            </a:r>
          </a:p>
          <a:p>
            <a:r>
              <a:rPr lang="en-GB" dirty="0"/>
              <a:t>Data pathway should allow for changes in referral processes</a:t>
            </a:r>
          </a:p>
        </p:txBody>
      </p:sp>
    </p:spTree>
    <p:extLst>
      <p:ext uri="{BB962C8B-B14F-4D97-AF65-F5344CB8AC3E}">
        <p14:creationId xmlns:p14="http://schemas.microsoft.com/office/powerpoint/2010/main" val="2548829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3925FCC-F5A2-525F-F6E6-68D561CAADBE}"/>
              </a:ext>
            </a:extLst>
          </p:cNvPr>
          <p:cNvSpPr>
            <a:spLocks noGrp="1"/>
          </p:cNvSpPr>
          <p:nvPr>
            <p:ph type="title"/>
          </p:nvPr>
        </p:nvSpPr>
        <p:spPr>
          <a:xfrm>
            <a:off x="630935" y="639520"/>
            <a:ext cx="4444404" cy="1719072"/>
          </a:xfrm>
        </p:spPr>
        <p:txBody>
          <a:bodyPr vert="horz" lIns="91440" tIns="45720" rIns="91440" bIns="45720" rtlCol="0" anchor="b">
            <a:normAutofit/>
          </a:bodyPr>
          <a:lstStyle/>
          <a:p>
            <a:r>
              <a:rPr lang="en-US" sz="5000" kern="1200" dirty="0">
                <a:solidFill>
                  <a:schemeClr val="tx1"/>
                </a:solidFill>
                <a:latin typeface="+mj-lt"/>
                <a:ea typeface="+mj-ea"/>
                <a:cs typeface="+mj-cs"/>
              </a:rPr>
              <a:t>IDR Architecture</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FE22227B-65D2-A1C5-1617-3E72F3ED88CE}"/>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indent="-228600">
              <a:buFont typeface="Arial" panose="020B0604020202020204" pitchFamily="34" charset="0"/>
              <a:buChar char="•"/>
            </a:pPr>
            <a:r>
              <a:rPr lang="en-US" sz="2200" dirty="0"/>
              <a:t>Layered architecture</a:t>
            </a:r>
          </a:p>
          <a:p>
            <a:pPr lvl="1" indent="-228600">
              <a:buFont typeface="Arial" panose="020B0604020202020204" pitchFamily="34" charset="0"/>
              <a:buChar char="•"/>
            </a:pPr>
            <a:r>
              <a:rPr lang="en-US" sz="2000" dirty="0"/>
              <a:t>ETL layer</a:t>
            </a:r>
          </a:p>
          <a:p>
            <a:pPr lvl="1" indent="-228600">
              <a:buFont typeface="Arial" panose="020B0604020202020204" pitchFamily="34" charset="0"/>
              <a:buChar char="•"/>
            </a:pPr>
            <a:r>
              <a:rPr lang="en-US" sz="2000" dirty="0"/>
              <a:t>Staging layer</a:t>
            </a:r>
          </a:p>
          <a:p>
            <a:pPr lvl="1" indent="-228600">
              <a:buFont typeface="Arial" panose="020B0604020202020204" pitchFamily="34" charset="0"/>
              <a:buChar char="•"/>
            </a:pPr>
            <a:r>
              <a:rPr lang="en-US" sz="2000" dirty="0"/>
              <a:t>Intermediate layer</a:t>
            </a:r>
          </a:p>
          <a:p>
            <a:pPr lvl="1" indent="-228600">
              <a:buFont typeface="Arial" panose="020B0604020202020204" pitchFamily="34" charset="0"/>
              <a:buChar char="•"/>
            </a:pPr>
            <a:r>
              <a:rPr lang="en-US" sz="2000" dirty="0"/>
              <a:t>Fact layer</a:t>
            </a:r>
          </a:p>
          <a:p>
            <a:pPr indent="-228600">
              <a:buFont typeface="Arial" panose="020B0604020202020204" pitchFamily="34" charset="0"/>
              <a:buChar char="•"/>
            </a:pPr>
            <a:r>
              <a:rPr lang="en-US" sz="2200" dirty="0"/>
              <a:t>Raw extract layer</a:t>
            </a:r>
          </a:p>
          <a:p>
            <a:pPr lvl="1" indent="-228600">
              <a:buFont typeface="Arial" panose="020B0604020202020204" pitchFamily="34" charset="0"/>
              <a:buChar char="•"/>
            </a:pPr>
            <a:r>
              <a:rPr lang="en-US" sz="2000" dirty="0"/>
              <a:t>CSV/Excel</a:t>
            </a:r>
          </a:p>
          <a:p>
            <a:pPr lvl="1" indent="-228600">
              <a:buFont typeface="Arial" panose="020B0604020202020204" pitchFamily="34" charset="0"/>
              <a:buChar char="•"/>
            </a:pPr>
            <a:r>
              <a:rPr lang="en-US" sz="2000" dirty="0"/>
              <a:t>Comon export format</a:t>
            </a:r>
          </a:p>
        </p:txBody>
      </p:sp>
      <p:pic>
        <p:nvPicPr>
          <p:cNvPr id="7" name="Content Placeholder 6">
            <a:extLst>
              <a:ext uri="{FF2B5EF4-FFF2-40B4-BE49-F238E27FC236}">
                <a16:creationId xmlns:a16="http://schemas.microsoft.com/office/drawing/2014/main" id="{9E5F8D8F-BAFE-5A0D-61E6-73D9FB3F9A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72059" y="640080"/>
            <a:ext cx="2468193" cy="5577840"/>
          </a:xfrm>
          <a:prstGeom prst="rect">
            <a:avLst/>
          </a:prstGeom>
        </p:spPr>
      </p:pic>
    </p:spTree>
    <p:extLst>
      <p:ext uri="{BB962C8B-B14F-4D97-AF65-F5344CB8AC3E}">
        <p14:creationId xmlns:p14="http://schemas.microsoft.com/office/powerpoint/2010/main" val="1505385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8F8D-D059-1F5F-17EC-2D5D75C9F904}"/>
              </a:ext>
            </a:extLst>
          </p:cNvPr>
          <p:cNvSpPr>
            <a:spLocks noGrp="1"/>
          </p:cNvSpPr>
          <p:nvPr>
            <p:ph type="title"/>
          </p:nvPr>
        </p:nvSpPr>
        <p:spPr>
          <a:xfrm>
            <a:off x="838200" y="609600"/>
            <a:ext cx="10515600" cy="1143000"/>
          </a:xfrm>
        </p:spPr>
        <p:txBody>
          <a:bodyPr anchor="b">
            <a:normAutofit/>
          </a:bodyPr>
          <a:lstStyle/>
          <a:p>
            <a:r>
              <a:rPr lang="en-GB" dirty="0"/>
              <a:t>Oncology Referral Dashboard</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7CC6FF0-D705-E84A-721C-2689FAAB144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49659" y="2072640"/>
            <a:ext cx="7492682" cy="4200000"/>
          </a:xfrm>
          <a:prstGeom prst="rect">
            <a:avLst/>
          </a:prstGeom>
        </p:spPr>
      </p:pic>
    </p:spTree>
    <p:extLst>
      <p:ext uri="{BB962C8B-B14F-4D97-AF65-F5344CB8AC3E}">
        <p14:creationId xmlns:p14="http://schemas.microsoft.com/office/powerpoint/2010/main" val="3118640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7F5E4-BDBD-FBBD-1D7B-22DEA2109FB0}"/>
              </a:ext>
            </a:extLst>
          </p:cNvPr>
          <p:cNvSpPr>
            <a:spLocks noGrp="1"/>
          </p:cNvSpPr>
          <p:nvPr>
            <p:ph type="title"/>
          </p:nvPr>
        </p:nvSpPr>
        <p:spPr>
          <a:xfrm>
            <a:off x="838200" y="609600"/>
            <a:ext cx="10515600" cy="1143000"/>
          </a:xfrm>
        </p:spPr>
        <p:txBody>
          <a:bodyPr anchor="b">
            <a:normAutofit/>
          </a:bodyPr>
          <a:lstStyle/>
          <a:p>
            <a:r>
              <a:rPr lang="en-GB" dirty="0"/>
              <a:t>Radiotherapy Service Health</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5CA4428-0146-F4ED-ADF4-49A6A93B758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49659" y="2072640"/>
            <a:ext cx="7492682" cy="4200000"/>
          </a:xfrm>
          <a:prstGeom prst="rect">
            <a:avLst/>
          </a:prstGeom>
        </p:spPr>
      </p:pic>
    </p:spTree>
    <p:extLst>
      <p:ext uri="{BB962C8B-B14F-4D97-AF65-F5344CB8AC3E}">
        <p14:creationId xmlns:p14="http://schemas.microsoft.com/office/powerpoint/2010/main" val="3650195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0370A-41C8-8394-66C0-C5F1B63C02CB}"/>
              </a:ext>
            </a:extLst>
          </p:cNvPr>
          <p:cNvSpPr>
            <a:spLocks noGrp="1"/>
          </p:cNvSpPr>
          <p:nvPr>
            <p:ph type="title"/>
          </p:nvPr>
        </p:nvSpPr>
        <p:spPr>
          <a:xfrm>
            <a:off x="838200" y="609600"/>
            <a:ext cx="10515600" cy="1143000"/>
          </a:xfrm>
        </p:spPr>
        <p:txBody>
          <a:bodyPr anchor="b">
            <a:normAutofit/>
          </a:bodyPr>
          <a:lstStyle/>
          <a:p>
            <a:r>
              <a:rPr lang="en-GB" dirty="0"/>
              <a:t>Oncology Pathway Overview</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2B70CEA-547C-E235-D49B-46A95D1C244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49659" y="2072640"/>
            <a:ext cx="7492682" cy="4200000"/>
          </a:xfrm>
          <a:prstGeom prst="rect">
            <a:avLst/>
          </a:prstGeom>
        </p:spPr>
      </p:pic>
    </p:spTree>
    <p:extLst>
      <p:ext uri="{BB962C8B-B14F-4D97-AF65-F5344CB8AC3E}">
        <p14:creationId xmlns:p14="http://schemas.microsoft.com/office/powerpoint/2010/main" val="3113157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C394E53-62DF-C6A9-56B6-A15128192A1B}"/>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Stakeholder Feedback</a:t>
            </a:r>
          </a:p>
        </p:txBody>
      </p:sp>
      <p:sp>
        <p:nvSpPr>
          <p:cNvPr id="21" name="Rectangle 2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F77F1F83-D68C-C983-074C-8C838C66B950}"/>
              </a:ext>
            </a:extLst>
          </p:cNvPr>
          <p:cNvSpPr>
            <a:spLocks noGrp="1"/>
          </p:cNvSpPr>
          <p:nvPr>
            <p:ph type="body" idx="1"/>
          </p:nvPr>
        </p:nvSpPr>
        <p:spPr>
          <a:xfrm>
            <a:off x="7928114" y="1232452"/>
            <a:ext cx="3200400" cy="3850919"/>
          </a:xfrm>
        </p:spPr>
        <p:txBody>
          <a:bodyPr vert="horz" lIns="91440" tIns="45720" rIns="91440" bIns="45720" rtlCol="0" anchor="b">
            <a:normAutofit/>
          </a:bodyPr>
          <a:lstStyle/>
          <a:p>
            <a:r>
              <a:rPr lang="en-US" kern="1200" dirty="0">
                <a:solidFill>
                  <a:srgbClr val="FFFFFF"/>
                </a:solidFill>
                <a:latin typeface="+mn-lt"/>
                <a:ea typeface="+mn-ea"/>
                <a:cs typeface="+mn-cs"/>
              </a:rPr>
              <a:t>DSRM:</a:t>
            </a:r>
          </a:p>
          <a:p>
            <a:r>
              <a:rPr lang="en-US" kern="1200" dirty="0">
                <a:solidFill>
                  <a:srgbClr val="FFFFFF"/>
                </a:solidFill>
                <a:latin typeface="+mn-lt"/>
                <a:ea typeface="+mn-ea"/>
                <a:cs typeface="+mn-cs"/>
              </a:rPr>
              <a:t>Demonstration &amp; Evaluation</a:t>
            </a:r>
          </a:p>
        </p:txBody>
      </p:sp>
      <p:sp>
        <p:nvSpPr>
          <p:cNvPr id="22"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242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2B0043-9CE8-FF21-1852-C57BE17AD5ED}"/>
              </a:ext>
            </a:extLst>
          </p:cNvPr>
          <p:cNvSpPr>
            <a:spLocks noGrp="1"/>
          </p:cNvSpPr>
          <p:nvPr>
            <p:ph type="title"/>
          </p:nvPr>
        </p:nvSpPr>
        <p:spPr>
          <a:xfrm>
            <a:off x="838200" y="609600"/>
            <a:ext cx="10515600" cy="1143000"/>
          </a:xfrm>
        </p:spPr>
        <p:txBody>
          <a:bodyPr anchor="b">
            <a:normAutofit/>
          </a:bodyPr>
          <a:lstStyle/>
          <a:p>
            <a:r>
              <a:rPr lang="en-GB" dirty="0"/>
              <a:t>Evaluation Results</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EBB2CD1F-DC59-603D-995A-A13C247A4496}"/>
              </a:ext>
            </a:extLst>
          </p:cNvPr>
          <p:cNvSpPr>
            <a:spLocks noGrp="1"/>
          </p:cNvSpPr>
          <p:nvPr>
            <p:ph sz="half" idx="1"/>
          </p:nvPr>
        </p:nvSpPr>
        <p:spPr>
          <a:xfrm>
            <a:off x="838200" y="2072640"/>
            <a:ext cx="5181600" cy="4200000"/>
          </a:xfrm>
        </p:spPr>
        <p:txBody>
          <a:bodyPr>
            <a:normAutofit/>
          </a:bodyPr>
          <a:lstStyle/>
          <a:p>
            <a:r>
              <a:rPr lang="en-GB" dirty="0"/>
              <a:t>Stakeholders:</a:t>
            </a:r>
          </a:p>
          <a:p>
            <a:pPr lvl="1"/>
            <a:r>
              <a:rPr lang="en-GB" dirty="0"/>
              <a:t>Clinical Director</a:t>
            </a:r>
          </a:p>
          <a:p>
            <a:pPr lvl="1"/>
            <a:r>
              <a:rPr lang="en-GB" dirty="0"/>
              <a:t>Cancer Care Group Manager*</a:t>
            </a:r>
          </a:p>
          <a:p>
            <a:pPr lvl="1"/>
            <a:r>
              <a:rPr lang="en-GB" dirty="0"/>
              <a:t>RT Ops Manager</a:t>
            </a:r>
          </a:p>
          <a:p>
            <a:pPr lvl="1"/>
            <a:r>
              <a:rPr lang="en-GB" dirty="0"/>
              <a:t>Lead Radiographer</a:t>
            </a:r>
          </a:p>
          <a:p>
            <a:r>
              <a:rPr lang="en-GB" dirty="0"/>
              <a:t>Reported Benefits:</a:t>
            </a:r>
          </a:p>
          <a:p>
            <a:pPr lvl="1"/>
            <a:r>
              <a:rPr lang="en-GB" dirty="0"/>
              <a:t>Improved visibility</a:t>
            </a:r>
          </a:p>
          <a:p>
            <a:pPr lvl="1"/>
            <a:r>
              <a:rPr lang="en-GB" dirty="0"/>
              <a:t>Earlier breach detection</a:t>
            </a:r>
          </a:p>
          <a:p>
            <a:pPr lvl="1"/>
            <a:r>
              <a:rPr lang="en-GB" dirty="0"/>
              <a:t>Reduced manual reporting</a:t>
            </a:r>
          </a:p>
          <a:p>
            <a:pPr lvl="1"/>
            <a:r>
              <a:rPr lang="en-GB" dirty="0"/>
              <a:t>Operational adoption likely</a:t>
            </a:r>
          </a:p>
          <a:p>
            <a:pPr lvl="1"/>
            <a:endParaRPr lang="en-GB" dirty="0"/>
          </a:p>
        </p:txBody>
      </p:sp>
      <p:graphicFrame>
        <p:nvGraphicFramePr>
          <p:cNvPr id="7" name="Content Placeholder 6">
            <a:extLst>
              <a:ext uri="{FF2B5EF4-FFF2-40B4-BE49-F238E27FC236}">
                <a16:creationId xmlns:a16="http://schemas.microsoft.com/office/drawing/2014/main" id="{1805ECAD-E980-757B-1DDF-954AA5F29206}"/>
              </a:ext>
            </a:extLst>
          </p:cNvPr>
          <p:cNvGraphicFramePr>
            <a:graphicFrameLocks noGrp="1"/>
          </p:cNvGraphicFramePr>
          <p:nvPr>
            <p:ph sz="half" idx="2"/>
            <p:extLst>
              <p:ext uri="{D42A27DB-BD31-4B8C-83A1-F6EECF244321}">
                <p14:modId xmlns:p14="http://schemas.microsoft.com/office/powerpoint/2010/main" val="1546260600"/>
              </p:ext>
            </p:extLst>
          </p:nvPr>
        </p:nvGraphicFramePr>
        <p:xfrm>
          <a:off x="6172200" y="1825625"/>
          <a:ext cx="5181600" cy="18542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589798739"/>
                    </a:ext>
                  </a:extLst>
                </a:gridCol>
                <a:gridCol w="2590800">
                  <a:extLst>
                    <a:ext uri="{9D8B030D-6E8A-4147-A177-3AD203B41FA5}">
                      <a16:colId xmlns:a16="http://schemas.microsoft.com/office/drawing/2014/main" val="3651853721"/>
                    </a:ext>
                  </a:extLst>
                </a:gridCol>
              </a:tblGrid>
              <a:tr h="370840">
                <a:tc>
                  <a:txBody>
                    <a:bodyPr/>
                    <a:lstStyle/>
                    <a:p>
                      <a:r>
                        <a:rPr lang="en-GB" dirty="0"/>
                        <a:t>Participant</a:t>
                      </a:r>
                    </a:p>
                  </a:txBody>
                  <a:tcPr/>
                </a:tc>
                <a:tc>
                  <a:txBody>
                    <a:bodyPr/>
                    <a:lstStyle/>
                    <a:p>
                      <a:r>
                        <a:rPr lang="en-GB" dirty="0"/>
                        <a:t>SUS Score</a:t>
                      </a:r>
                    </a:p>
                  </a:txBody>
                  <a:tcPr/>
                </a:tc>
                <a:extLst>
                  <a:ext uri="{0D108BD9-81ED-4DB2-BD59-A6C34878D82A}">
                    <a16:rowId xmlns:a16="http://schemas.microsoft.com/office/drawing/2014/main" val="3897530936"/>
                  </a:ext>
                </a:extLst>
              </a:tr>
              <a:tr h="370840">
                <a:tc>
                  <a:txBody>
                    <a:bodyPr/>
                    <a:lstStyle/>
                    <a:p>
                      <a:r>
                        <a:rPr lang="en-GB" dirty="0"/>
                        <a:t>P1</a:t>
                      </a:r>
                    </a:p>
                  </a:txBody>
                  <a:tcPr/>
                </a:tc>
                <a:tc>
                  <a:txBody>
                    <a:bodyPr/>
                    <a:lstStyle/>
                    <a:p>
                      <a:r>
                        <a:rPr lang="en-GB" dirty="0"/>
                        <a:t>95.0</a:t>
                      </a:r>
                    </a:p>
                  </a:txBody>
                  <a:tcPr/>
                </a:tc>
                <a:extLst>
                  <a:ext uri="{0D108BD9-81ED-4DB2-BD59-A6C34878D82A}">
                    <a16:rowId xmlns:a16="http://schemas.microsoft.com/office/drawing/2014/main" val="2545449608"/>
                  </a:ext>
                </a:extLst>
              </a:tr>
              <a:tr h="370840">
                <a:tc>
                  <a:txBody>
                    <a:bodyPr/>
                    <a:lstStyle/>
                    <a:p>
                      <a:r>
                        <a:rPr lang="en-GB" dirty="0"/>
                        <a:t>P2</a:t>
                      </a:r>
                    </a:p>
                  </a:txBody>
                  <a:tcPr/>
                </a:tc>
                <a:tc>
                  <a:txBody>
                    <a:bodyPr/>
                    <a:lstStyle/>
                    <a:p>
                      <a:r>
                        <a:rPr lang="en-GB" dirty="0"/>
                        <a:t>90.0</a:t>
                      </a:r>
                    </a:p>
                  </a:txBody>
                  <a:tcPr/>
                </a:tc>
                <a:extLst>
                  <a:ext uri="{0D108BD9-81ED-4DB2-BD59-A6C34878D82A}">
                    <a16:rowId xmlns:a16="http://schemas.microsoft.com/office/drawing/2014/main" val="3287110842"/>
                  </a:ext>
                </a:extLst>
              </a:tr>
              <a:tr h="370840">
                <a:tc>
                  <a:txBody>
                    <a:bodyPr/>
                    <a:lstStyle/>
                    <a:p>
                      <a:r>
                        <a:rPr lang="en-GB" dirty="0"/>
                        <a:t>P3</a:t>
                      </a:r>
                    </a:p>
                  </a:txBody>
                  <a:tcPr/>
                </a:tc>
                <a:tc>
                  <a:txBody>
                    <a:bodyPr/>
                    <a:lstStyle/>
                    <a:p>
                      <a:r>
                        <a:rPr lang="en-GB" dirty="0"/>
                        <a:t>95.0</a:t>
                      </a:r>
                    </a:p>
                  </a:txBody>
                  <a:tcPr/>
                </a:tc>
                <a:extLst>
                  <a:ext uri="{0D108BD9-81ED-4DB2-BD59-A6C34878D82A}">
                    <a16:rowId xmlns:a16="http://schemas.microsoft.com/office/drawing/2014/main" val="4086734453"/>
                  </a:ext>
                </a:extLst>
              </a:tr>
              <a:tr h="370840">
                <a:tc>
                  <a:txBody>
                    <a:bodyPr/>
                    <a:lstStyle/>
                    <a:p>
                      <a:r>
                        <a:rPr lang="en-GB" b="1" dirty="0"/>
                        <a:t>Mean</a:t>
                      </a:r>
                    </a:p>
                  </a:txBody>
                  <a:tcPr/>
                </a:tc>
                <a:tc>
                  <a:txBody>
                    <a:bodyPr/>
                    <a:lstStyle/>
                    <a:p>
                      <a:r>
                        <a:rPr lang="en-GB" b="1" dirty="0"/>
                        <a:t>93.3</a:t>
                      </a:r>
                    </a:p>
                  </a:txBody>
                  <a:tcPr/>
                </a:tc>
                <a:extLst>
                  <a:ext uri="{0D108BD9-81ED-4DB2-BD59-A6C34878D82A}">
                    <a16:rowId xmlns:a16="http://schemas.microsoft.com/office/drawing/2014/main" val="3703538132"/>
                  </a:ext>
                </a:extLst>
              </a:tr>
            </a:tbl>
          </a:graphicData>
        </a:graphic>
      </p:graphicFrame>
      <p:sp>
        <p:nvSpPr>
          <p:cNvPr id="8" name="TextBox 7">
            <a:extLst>
              <a:ext uri="{FF2B5EF4-FFF2-40B4-BE49-F238E27FC236}">
                <a16:creationId xmlns:a16="http://schemas.microsoft.com/office/drawing/2014/main" id="{64386B0A-2E42-2DB2-FA7B-ECE9201A753B}"/>
              </a:ext>
            </a:extLst>
          </p:cNvPr>
          <p:cNvSpPr txBox="1"/>
          <p:nvPr/>
        </p:nvSpPr>
        <p:spPr>
          <a:xfrm>
            <a:off x="6575384" y="5253633"/>
            <a:ext cx="4375231" cy="923330"/>
          </a:xfrm>
          <a:prstGeom prst="rect">
            <a:avLst/>
          </a:prstGeom>
          <a:noFill/>
        </p:spPr>
        <p:txBody>
          <a:bodyPr wrap="square" rtlCol="0">
            <a:spAutoFit/>
          </a:bodyPr>
          <a:lstStyle/>
          <a:p>
            <a:r>
              <a:rPr lang="en-GB" dirty="0"/>
              <a:t>*CGM not available for SUS scoring but heavily involved in iterative design. </a:t>
            </a:r>
          </a:p>
          <a:p>
            <a:endParaRPr lang="en-GB" dirty="0"/>
          </a:p>
        </p:txBody>
      </p:sp>
    </p:spTree>
    <p:extLst>
      <p:ext uri="{BB962C8B-B14F-4D97-AF65-F5344CB8AC3E}">
        <p14:creationId xmlns:p14="http://schemas.microsoft.com/office/powerpoint/2010/main" val="103068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AF08F1-BF40-DCD2-1D75-2D7037F32325}"/>
              </a:ext>
            </a:extLst>
          </p:cNvPr>
          <p:cNvSpPr>
            <a:spLocks noGrp="1"/>
          </p:cNvSpPr>
          <p:nvPr>
            <p:ph type="title"/>
          </p:nvPr>
        </p:nvSpPr>
        <p:spPr>
          <a:xfrm>
            <a:off x="838200" y="609600"/>
            <a:ext cx="10515600" cy="1143000"/>
          </a:xfrm>
        </p:spPr>
        <p:txBody>
          <a:bodyPr anchor="b">
            <a:normAutofit/>
          </a:bodyPr>
          <a:lstStyle/>
          <a:p>
            <a:r>
              <a:rPr lang="en-GB" dirty="0"/>
              <a:t>Feedback</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086DD177-8EC3-7EEB-9C1D-96BF06099C1D}"/>
              </a:ext>
            </a:extLst>
          </p:cNvPr>
          <p:cNvGraphicFramePr>
            <a:graphicFrameLocks noGrp="1"/>
          </p:cNvGraphicFramePr>
          <p:nvPr>
            <p:ph idx="1"/>
            <p:extLst>
              <p:ext uri="{D42A27DB-BD31-4B8C-83A1-F6EECF244321}">
                <p14:modId xmlns:p14="http://schemas.microsoft.com/office/powerpoint/2010/main" val="1018194143"/>
              </p:ext>
            </p:extLst>
          </p:nvPr>
        </p:nvGraphicFramePr>
        <p:xfrm>
          <a:off x="1000000" y="2072640"/>
          <a:ext cx="10515600" cy="26568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551805827"/>
                    </a:ext>
                  </a:extLst>
                </a:gridCol>
                <a:gridCol w="5257800">
                  <a:extLst>
                    <a:ext uri="{9D8B030D-6E8A-4147-A177-3AD203B41FA5}">
                      <a16:colId xmlns:a16="http://schemas.microsoft.com/office/drawing/2014/main" val="198706484"/>
                    </a:ext>
                  </a:extLst>
                </a:gridCol>
              </a:tblGrid>
              <a:tr h="370840">
                <a:tc>
                  <a:txBody>
                    <a:bodyPr/>
                    <a:lstStyle/>
                    <a:p>
                      <a:r>
                        <a:rPr lang="en-GB" sz="1200"/>
                        <a:t>Theme</a:t>
                      </a:r>
                    </a:p>
                  </a:txBody>
                  <a:tcPr/>
                </a:tc>
                <a:tc>
                  <a:txBody>
                    <a:bodyPr/>
                    <a:lstStyle/>
                    <a:p>
                      <a:r>
                        <a:rPr lang="en-GB" sz="1200"/>
                        <a:t>Feedback</a:t>
                      </a:r>
                    </a:p>
                  </a:txBody>
                  <a:tcPr/>
                </a:tc>
                <a:extLst>
                  <a:ext uri="{0D108BD9-81ED-4DB2-BD59-A6C34878D82A}">
                    <a16:rowId xmlns:a16="http://schemas.microsoft.com/office/drawing/2014/main" val="2872925329"/>
                  </a:ext>
                </a:extLst>
              </a:tr>
              <a:tr h="370840">
                <a:tc>
                  <a:txBody>
                    <a:bodyPr/>
                    <a:lstStyle/>
                    <a:p>
                      <a:r>
                        <a:rPr lang="en-GB" sz="1200"/>
                        <a:t>Most Useful Features</a:t>
                      </a:r>
                    </a:p>
                  </a:txBody>
                  <a:tcPr/>
                </a:tc>
                <a:tc>
                  <a:txBody>
                    <a:bodyPr/>
                    <a:lstStyle/>
                    <a:p>
                      <a:r>
                        <a:rPr lang="en-GB" sz="1200"/>
                        <a:t>Waterfall visualisation of pathway delays; filtering by Dr. and speciality; Patient worklist and breach monitoring</a:t>
                      </a:r>
                    </a:p>
                  </a:txBody>
                  <a:tcPr/>
                </a:tc>
                <a:extLst>
                  <a:ext uri="{0D108BD9-81ED-4DB2-BD59-A6C34878D82A}">
                    <a16:rowId xmlns:a16="http://schemas.microsoft.com/office/drawing/2014/main" val="3541822348"/>
                  </a:ext>
                </a:extLst>
              </a:tr>
              <a:tr h="370840">
                <a:tc>
                  <a:txBody>
                    <a:bodyPr/>
                    <a:lstStyle/>
                    <a:p>
                      <a:r>
                        <a:rPr lang="en-GB" sz="1200"/>
                        <a:t>Missing Features</a:t>
                      </a:r>
                    </a:p>
                  </a:txBody>
                  <a:tcPr/>
                </a:tc>
                <a:tc>
                  <a:txBody>
                    <a:bodyPr/>
                    <a:lstStyle/>
                    <a:p>
                      <a:r>
                        <a:rPr lang="en-GB" sz="1200"/>
                        <a:t>SACT Data; Clinic Utilisation; visibility of emergency pathway; utilisation breakdown by machine availability vs service demand</a:t>
                      </a:r>
                    </a:p>
                  </a:txBody>
                  <a:tcPr/>
                </a:tc>
                <a:extLst>
                  <a:ext uri="{0D108BD9-81ED-4DB2-BD59-A6C34878D82A}">
                    <a16:rowId xmlns:a16="http://schemas.microsoft.com/office/drawing/2014/main" val="3555596037"/>
                  </a:ext>
                </a:extLst>
              </a:tr>
              <a:tr h="370840">
                <a:tc>
                  <a:txBody>
                    <a:bodyPr/>
                    <a:lstStyle/>
                    <a:p>
                      <a:r>
                        <a:rPr lang="en-GB" sz="1200"/>
                        <a:t>Operational Decisions Supported</a:t>
                      </a:r>
                    </a:p>
                  </a:txBody>
                  <a:tcPr/>
                </a:tc>
                <a:tc>
                  <a:txBody>
                    <a:bodyPr/>
                    <a:lstStyle/>
                    <a:p>
                      <a:r>
                        <a:rPr lang="en-GB" sz="1200"/>
                        <a:t>Referral Monitoring; Patient Tracking; bottleneck identification; overtime planning; shift extensions; additional capacity planning</a:t>
                      </a:r>
                    </a:p>
                  </a:txBody>
                  <a:tcPr/>
                </a:tc>
                <a:extLst>
                  <a:ext uri="{0D108BD9-81ED-4DB2-BD59-A6C34878D82A}">
                    <a16:rowId xmlns:a16="http://schemas.microsoft.com/office/drawing/2014/main" val="257134589"/>
                  </a:ext>
                </a:extLst>
              </a:tr>
              <a:tr h="370840">
                <a:tc>
                  <a:txBody>
                    <a:bodyPr/>
                    <a:lstStyle/>
                    <a:p>
                      <a:r>
                        <a:rPr lang="en-GB" sz="1200"/>
                        <a:t>Future Enhancements</a:t>
                      </a:r>
                    </a:p>
                  </a:txBody>
                  <a:tcPr/>
                </a:tc>
                <a:tc>
                  <a:txBody>
                    <a:bodyPr/>
                    <a:lstStyle/>
                    <a:p>
                      <a:r>
                        <a:rPr lang="en-GB" sz="1200"/>
                        <a:t>Clinic-capacity modelling; CT-to-treatment decomposition; utilisation analysis; integration of electronic referrals; SACT data</a:t>
                      </a:r>
                    </a:p>
                  </a:txBody>
                  <a:tcPr/>
                </a:tc>
                <a:extLst>
                  <a:ext uri="{0D108BD9-81ED-4DB2-BD59-A6C34878D82A}">
                    <a16:rowId xmlns:a16="http://schemas.microsoft.com/office/drawing/2014/main" val="4140600815"/>
                  </a:ext>
                </a:extLst>
              </a:tr>
              <a:tr h="370840">
                <a:tc>
                  <a:txBody>
                    <a:bodyPr/>
                    <a:lstStyle/>
                    <a:p>
                      <a:r>
                        <a:rPr lang="en-GB" sz="1200"/>
                        <a:t>General Comments</a:t>
                      </a:r>
                    </a:p>
                  </a:txBody>
                  <a:tcPr/>
                </a:tc>
                <a:tc>
                  <a:txBody>
                    <a:bodyPr/>
                    <a:lstStyle/>
                    <a:p>
                      <a:r>
                        <a:rPr lang="en-GB" sz="1200" i="1"/>
                        <a:t>“Very good. Can’t wait to start using it” </a:t>
                      </a:r>
                    </a:p>
                    <a:p>
                      <a:r>
                        <a:rPr lang="en-GB" sz="1200" i="1"/>
                        <a:t>“Looks Good”</a:t>
                      </a:r>
                    </a:p>
                  </a:txBody>
                  <a:tcPr/>
                </a:tc>
                <a:extLst>
                  <a:ext uri="{0D108BD9-81ED-4DB2-BD59-A6C34878D82A}">
                    <a16:rowId xmlns:a16="http://schemas.microsoft.com/office/drawing/2014/main" val="2114792829"/>
                  </a:ext>
                </a:extLst>
              </a:tr>
            </a:tbl>
          </a:graphicData>
        </a:graphic>
      </p:graphicFrame>
    </p:spTree>
    <p:extLst>
      <p:ext uri="{BB962C8B-B14F-4D97-AF65-F5344CB8AC3E}">
        <p14:creationId xmlns:p14="http://schemas.microsoft.com/office/powerpoint/2010/main" val="4154685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C394E53-62DF-C6A9-56B6-A15128192A1B}"/>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Results and Discussion</a:t>
            </a:r>
          </a:p>
        </p:txBody>
      </p:sp>
      <p:sp>
        <p:nvSpPr>
          <p:cNvPr id="21" name="Rectangle 2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F77F1F83-D68C-C983-074C-8C838C66B950}"/>
              </a:ext>
            </a:extLst>
          </p:cNvPr>
          <p:cNvSpPr>
            <a:spLocks noGrp="1"/>
          </p:cNvSpPr>
          <p:nvPr>
            <p:ph type="body" idx="1"/>
          </p:nvPr>
        </p:nvSpPr>
        <p:spPr>
          <a:xfrm>
            <a:off x="7928114" y="1232452"/>
            <a:ext cx="3200400" cy="3850919"/>
          </a:xfrm>
        </p:spPr>
        <p:txBody>
          <a:bodyPr vert="horz" lIns="91440" tIns="45720" rIns="91440" bIns="45720" rtlCol="0" anchor="b">
            <a:normAutofit/>
          </a:bodyPr>
          <a:lstStyle/>
          <a:p>
            <a:r>
              <a:rPr lang="en-US" kern="1200" dirty="0">
                <a:solidFill>
                  <a:srgbClr val="FFFFFF"/>
                </a:solidFill>
                <a:latin typeface="+mn-lt"/>
                <a:ea typeface="+mn-ea"/>
                <a:cs typeface="+mn-cs"/>
              </a:rPr>
              <a:t>DSRM:</a:t>
            </a:r>
          </a:p>
          <a:p>
            <a:r>
              <a:rPr lang="en-US" kern="1200" dirty="0">
                <a:solidFill>
                  <a:srgbClr val="FFFFFF"/>
                </a:solidFill>
                <a:latin typeface="+mn-lt"/>
                <a:ea typeface="+mn-ea"/>
                <a:cs typeface="+mn-cs"/>
              </a:rPr>
              <a:t>Communication</a:t>
            </a:r>
          </a:p>
        </p:txBody>
      </p:sp>
      <p:sp>
        <p:nvSpPr>
          <p:cNvPr id="22"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242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83BF78F-8C14-410B-4308-C938AD7A3EDD}"/>
              </a:ext>
            </a:extLst>
          </p:cNvPr>
          <p:cNvSpPr>
            <a:spLocks noGrp="1"/>
          </p:cNvSpPr>
          <p:nvPr>
            <p:ph type="title"/>
          </p:nvPr>
        </p:nvSpPr>
        <p:spPr>
          <a:xfrm>
            <a:off x="838200" y="609600"/>
            <a:ext cx="10515600" cy="1143000"/>
          </a:xfrm>
        </p:spPr>
        <p:txBody>
          <a:bodyPr anchor="b">
            <a:normAutofit/>
          </a:bodyPr>
          <a:lstStyle/>
          <a:p>
            <a:r>
              <a:rPr lang="en-GB" dirty="0"/>
              <a:t>Pathway Delays</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Content Placeholder 9">
            <a:extLst>
              <a:ext uri="{FF2B5EF4-FFF2-40B4-BE49-F238E27FC236}">
                <a16:creationId xmlns:a16="http://schemas.microsoft.com/office/drawing/2014/main" id="{C6B02FDE-A2D6-4883-D15F-9EDF42F07406}"/>
              </a:ext>
            </a:extLst>
          </p:cNvPr>
          <p:cNvGraphicFramePr>
            <a:graphicFrameLocks noGrp="1"/>
          </p:cNvGraphicFramePr>
          <p:nvPr>
            <p:ph sz="half" idx="1"/>
            <p:extLst>
              <p:ext uri="{D42A27DB-BD31-4B8C-83A1-F6EECF244321}">
                <p14:modId xmlns:p14="http://schemas.microsoft.com/office/powerpoint/2010/main" val="1911102990"/>
              </p:ext>
            </p:extLst>
          </p:nvPr>
        </p:nvGraphicFramePr>
        <p:xfrm>
          <a:off x="838200" y="2072640"/>
          <a:ext cx="5181600" cy="29086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4136481208"/>
                    </a:ext>
                  </a:extLst>
                </a:gridCol>
                <a:gridCol w="2590800">
                  <a:extLst>
                    <a:ext uri="{9D8B030D-6E8A-4147-A177-3AD203B41FA5}">
                      <a16:colId xmlns:a16="http://schemas.microsoft.com/office/drawing/2014/main" val="127384491"/>
                    </a:ext>
                  </a:extLst>
                </a:gridCol>
              </a:tblGrid>
              <a:tr h="370840">
                <a:tc>
                  <a:txBody>
                    <a:bodyPr/>
                    <a:lstStyle/>
                    <a:p>
                      <a:r>
                        <a:rPr lang="en-GB" dirty="0"/>
                        <a:t>Stage</a:t>
                      </a:r>
                    </a:p>
                  </a:txBody>
                  <a:tcPr/>
                </a:tc>
                <a:tc>
                  <a:txBody>
                    <a:bodyPr/>
                    <a:lstStyle/>
                    <a:p>
                      <a:r>
                        <a:rPr lang="en-GB" dirty="0"/>
                        <a:t>Days</a:t>
                      </a:r>
                    </a:p>
                  </a:txBody>
                  <a:tcPr/>
                </a:tc>
                <a:extLst>
                  <a:ext uri="{0D108BD9-81ED-4DB2-BD59-A6C34878D82A}">
                    <a16:rowId xmlns:a16="http://schemas.microsoft.com/office/drawing/2014/main" val="1670478712"/>
                  </a:ext>
                </a:extLst>
              </a:tr>
              <a:tr h="370840">
                <a:tc>
                  <a:txBody>
                    <a:bodyPr/>
                    <a:lstStyle/>
                    <a:p>
                      <a:r>
                        <a:rPr lang="en-GB" sz="1800" dirty="0"/>
                        <a:t>Referral → Triage</a:t>
                      </a:r>
                    </a:p>
                  </a:txBody>
                  <a:tcPr marL="148639" marR="148639" marT="74320" marB="74320"/>
                </a:tc>
                <a:tc>
                  <a:txBody>
                    <a:bodyPr/>
                    <a:lstStyle/>
                    <a:p>
                      <a:r>
                        <a:rPr lang="en-GB" sz="1800"/>
                        <a:t>4</a:t>
                      </a:r>
                    </a:p>
                  </a:txBody>
                  <a:tcPr marL="148639" marR="148639" marT="74320" marB="74320"/>
                </a:tc>
                <a:extLst>
                  <a:ext uri="{0D108BD9-81ED-4DB2-BD59-A6C34878D82A}">
                    <a16:rowId xmlns:a16="http://schemas.microsoft.com/office/drawing/2014/main" val="2101879375"/>
                  </a:ext>
                </a:extLst>
              </a:tr>
              <a:tr h="370840">
                <a:tc>
                  <a:txBody>
                    <a:bodyPr/>
                    <a:lstStyle/>
                    <a:p>
                      <a:r>
                        <a:rPr lang="en-GB" sz="1800" dirty="0"/>
                        <a:t>Triage → Clinic</a:t>
                      </a:r>
                    </a:p>
                  </a:txBody>
                  <a:tcPr marL="148639" marR="148639" marT="74320" marB="74320"/>
                </a:tc>
                <a:tc>
                  <a:txBody>
                    <a:bodyPr/>
                    <a:lstStyle/>
                    <a:p>
                      <a:r>
                        <a:rPr lang="en-GB" sz="1800"/>
                        <a:t>8</a:t>
                      </a:r>
                    </a:p>
                  </a:txBody>
                  <a:tcPr marL="148639" marR="148639" marT="74320" marB="74320"/>
                </a:tc>
                <a:extLst>
                  <a:ext uri="{0D108BD9-81ED-4DB2-BD59-A6C34878D82A}">
                    <a16:rowId xmlns:a16="http://schemas.microsoft.com/office/drawing/2014/main" val="2936610932"/>
                  </a:ext>
                </a:extLst>
              </a:tr>
              <a:tr h="370840">
                <a:tc>
                  <a:txBody>
                    <a:bodyPr/>
                    <a:lstStyle/>
                    <a:p>
                      <a:r>
                        <a:rPr lang="en-GB" sz="1800" dirty="0"/>
                        <a:t>Clinic → RT Referral</a:t>
                      </a:r>
                    </a:p>
                  </a:txBody>
                  <a:tcPr marL="148639" marR="148639" marT="74320" marB="74320"/>
                </a:tc>
                <a:tc>
                  <a:txBody>
                    <a:bodyPr/>
                    <a:lstStyle/>
                    <a:p>
                      <a:r>
                        <a:rPr lang="en-GB" sz="1800"/>
                        <a:t>1</a:t>
                      </a:r>
                    </a:p>
                  </a:txBody>
                  <a:tcPr marL="148639" marR="148639" marT="74320" marB="74320"/>
                </a:tc>
                <a:extLst>
                  <a:ext uri="{0D108BD9-81ED-4DB2-BD59-A6C34878D82A}">
                    <a16:rowId xmlns:a16="http://schemas.microsoft.com/office/drawing/2014/main" val="316780046"/>
                  </a:ext>
                </a:extLst>
              </a:tr>
              <a:tr h="370840">
                <a:tc>
                  <a:txBody>
                    <a:bodyPr/>
                    <a:lstStyle/>
                    <a:p>
                      <a:r>
                        <a:rPr lang="en-GB" sz="1800" dirty="0"/>
                        <a:t>RT Referral → CT Sim</a:t>
                      </a:r>
                    </a:p>
                  </a:txBody>
                  <a:tcPr marL="148639" marR="148639" marT="74320" marB="74320"/>
                </a:tc>
                <a:tc>
                  <a:txBody>
                    <a:bodyPr/>
                    <a:lstStyle/>
                    <a:p>
                      <a:r>
                        <a:rPr lang="en-GB" sz="1800"/>
                        <a:t>8</a:t>
                      </a:r>
                    </a:p>
                  </a:txBody>
                  <a:tcPr marL="148639" marR="148639" marT="74320" marB="74320"/>
                </a:tc>
                <a:extLst>
                  <a:ext uri="{0D108BD9-81ED-4DB2-BD59-A6C34878D82A}">
                    <a16:rowId xmlns:a16="http://schemas.microsoft.com/office/drawing/2014/main" val="1287346085"/>
                  </a:ext>
                </a:extLst>
              </a:tr>
              <a:tr h="370840">
                <a:tc>
                  <a:txBody>
                    <a:bodyPr/>
                    <a:lstStyle/>
                    <a:p>
                      <a:r>
                        <a:rPr lang="en-GB" sz="1800" dirty="0"/>
                        <a:t>CT Sim → Treatment</a:t>
                      </a:r>
                    </a:p>
                  </a:txBody>
                  <a:tcPr marL="148639" marR="148639" marT="74320" marB="74320"/>
                </a:tc>
                <a:tc>
                  <a:txBody>
                    <a:bodyPr/>
                    <a:lstStyle/>
                    <a:p>
                      <a:r>
                        <a:rPr lang="en-GB" sz="1800" dirty="0"/>
                        <a:t>16</a:t>
                      </a:r>
                    </a:p>
                  </a:txBody>
                  <a:tcPr marL="148639" marR="148639" marT="74320" marB="74320"/>
                </a:tc>
                <a:extLst>
                  <a:ext uri="{0D108BD9-81ED-4DB2-BD59-A6C34878D82A}">
                    <a16:rowId xmlns:a16="http://schemas.microsoft.com/office/drawing/2014/main" val="1810815804"/>
                  </a:ext>
                </a:extLst>
              </a:tr>
              <a:tr h="370840">
                <a:tc>
                  <a:txBody>
                    <a:bodyPr/>
                    <a:lstStyle/>
                    <a:p>
                      <a:r>
                        <a:rPr lang="en-GB" sz="1800" b="1"/>
                        <a:t>Total</a:t>
                      </a:r>
                    </a:p>
                  </a:txBody>
                  <a:tcPr marL="148639" marR="148639" marT="74320" marB="74320"/>
                </a:tc>
                <a:tc>
                  <a:txBody>
                    <a:bodyPr/>
                    <a:lstStyle/>
                    <a:p>
                      <a:r>
                        <a:rPr lang="en-GB" sz="1800" b="1" dirty="0"/>
                        <a:t>37</a:t>
                      </a:r>
                    </a:p>
                  </a:txBody>
                  <a:tcPr marL="148639" marR="148639" marT="74320" marB="74320"/>
                </a:tc>
                <a:extLst>
                  <a:ext uri="{0D108BD9-81ED-4DB2-BD59-A6C34878D82A}">
                    <a16:rowId xmlns:a16="http://schemas.microsoft.com/office/drawing/2014/main" val="3265367692"/>
                  </a:ext>
                </a:extLst>
              </a:tr>
            </a:tbl>
          </a:graphicData>
        </a:graphic>
      </p:graphicFrame>
      <p:sp>
        <p:nvSpPr>
          <p:cNvPr id="9" name="Content Placeholder 8">
            <a:extLst>
              <a:ext uri="{FF2B5EF4-FFF2-40B4-BE49-F238E27FC236}">
                <a16:creationId xmlns:a16="http://schemas.microsoft.com/office/drawing/2014/main" id="{62C663A2-8E33-7D53-1479-AFF2221C3980}"/>
              </a:ext>
            </a:extLst>
          </p:cNvPr>
          <p:cNvSpPr>
            <a:spLocks noGrp="1"/>
          </p:cNvSpPr>
          <p:nvPr>
            <p:ph sz="half" idx="2"/>
          </p:nvPr>
        </p:nvSpPr>
        <p:spPr>
          <a:xfrm>
            <a:off x="6172200" y="2072640"/>
            <a:ext cx="5181600" cy="4200000"/>
          </a:xfrm>
        </p:spPr>
        <p:txBody>
          <a:bodyPr>
            <a:normAutofit fontScale="92500" lnSpcReduction="20000"/>
          </a:bodyPr>
          <a:lstStyle/>
          <a:p>
            <a:r>
              <a:rPr lang="en-GB" dirty="0"/>
              <a:t>Median Post-MDT pathway: </a:t>
            </a:r>
            <a:r>
              <a:rPr lang="en-GB" b="1" dirty="0"/>
              <a:t>37 days</a:t>
            </a:r>
            <a:endParaRPr lang="en-GB" dirty="0"/>
          </a:p>
          <a:p>
            <a:pPr lvl="1"/>
            <a:r>
              <a:rPr lang="en-GB" dirty="0"/>
              <a:t>NCWT: </a:t>
            </a:r>
          </a:p>
          <a:p>
            <a:pPr lvl="2"/>
            <a:r>
              <a:rPr lang="en-GB" dirty="0"/>
              <a:t>62-day RTT</a:t>
            </a:r>
          </a:p>
          <a:p>
            <a:pPr lvl="2"/>
            <a:r>
              <a:rPr lang="en-GB" dirty="0"/>
              <a:t>28-day FDS</a:t>
            </a:r>
          </a:p>
          <a:p>
            <a:pPr lvl="2"/>
            <a:r>
              <a:rPr lang="en-GB" dirty="0"/>
              <a:t>34 days available for Post-MDT pathway</a:t>
            </a:r>
          </a:p>
          <a:p>
            <a:r>
              <a:rPr lang="en-GB" dirty="0"/>
              <a:t>Longest Delays:</a:t>
            </a:r>
          </a:p>
          <a:p>
            <a:pPr lvl="1"/>
            <a:r>
              <a:rPr lang="en-GB" dirty="0"/>
              <a:t>CT Sim → Treatment: </a:t>
            </a:r>
            <a:r>
              <a:rPr lang="en-GB" b="1" dirty="0"/>
              <a:t>16 days</a:t>
            </a:r>
          </a:p>
          <a:p>
            <a:pPr lvl="2"/>
            <a:r>
              <a:rPr lang="en-GB" dirty="0"/>
              <a:t>Additional activities not captured</a:t>
            </a:r>
          </a:p>
          <a:p>
            <a:pPr lvl="1"/>
            <a:r>
              <a:rPr lang="en-GB" dirty="0"/>
              <a:t>Triage → Clinic: </a:t>
            </a:r>
            <a:r>
              <a:rPr lang="en-GB" b="1" dirty="0"/>
              <a:t>8 days</a:t>
            </a:r>
          </a:p>
          <a:p>
            <a:pPr lvl="2"/>
            <a:r>
              <a:rPr lang="en-GB" dirty="0"/>
              <a:t>Administrative &amp; Capacity delays</a:t>
            </a:r>
          </a:p>
          <a:p>
            <a:pPr lvl="1"/>
            <a:r>
              <a:rPr lang="en-GB" dirty="0"/>
              <a:t>RT Referral → CT Sim: </a:t>
            </a:r>
            <a:r>
              <a:rPr lang="en-GB" b="1" dirty="0"/>
              <a:t>8 days</a:t>
            </a:r>
          </a:p>
          <a:p>
            <a:pPr lvl="2"/>
            <a:r>
              <a:rPr lang="en-GB" dirty="0"/>
              <a:t>Administrative &amp; Capacity delays</a:t>
            </a:r>
          </a:p>
        </p:txBody>
      </p:sp>
    </p:spTree>
    <p:extLst>
      <p:ext uri="{BB962C8B-B14F-4D97-AF65-F5344CB8AC3E}">
        <p14:creationId xmlns:p14="http://schemas.microsoft.com/office/powerpoint/2010/main" val="678005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0E549-6934-1D0D-2E77-C0E075CF3AC6}"/>
              </a:ext>
            </a:extLst>
          </p:cNvPr>
          <p:cNvSpPr>
            <a:spLocks noGrp="1"/>
          </p:cNvSpPr>
          <p:nvPr>
            <p:ph type="title"/>
          </p:nvPr>
        </p:nvSpPr>
        <p:spPr>
          <a:xfrm>
            <a:off x="838200" y="609600"/>
            <a:ext cx="10515600" cy="1143000"/>
          </a:xfrm>
        </p:spPr>
        <p:txBody>
          <a:bodyPr anchor="b">
            <a:normAutofit/>
          </a:bodyPr>
          <a:lstStyle/>
          <a:p>
            <a:r>
              <a:rPr lang="en-GB" dirty="0"/>
              <a:t>Radiotherapy Capacity Insights</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10CBDE0-434F-333D-7036-11D28644EC03}"/>
              </a:ext>
            </a:extLst>
          </p:cNvPr>
          <p:cNvSpPr>
            <a:spLocks noGrp="1"/>
          </p:cNvSpPr>
          <p:nvPr>
            <p:ph sz="half" idx="1"/>
          </p:nvPr>
        </p:nvSpPr>
        <p:spPr>
          <a:xfrm>
            <a:off x="838200" y="2072640"/>
            <a:ext cx="5181600" cy="4200000"/>
          </a:xfrm>
        </p:spPr>
        <p:txBody>
          <a:bodyPr/>
          <a:lstStyle/>
          <a:p>
            <a:r>
              <a:rPr lang="en-GB" dirty="0"/>
              <a:t>81.56% utilisation</a:t>
            </a:r>
          </a:p>
          <a:p>
            <a:r>
              <a:rPr lang="en-GB" dirty="0"/>
              <a:t>Portsmouth highest utilisation in the country (NHS Digital, 2026)</a:t>
            </a:r>
          </a:p>
          <a:p>
            <a:r>
              <a:rPr lang="en-GB" dirty="0"/>
              <a:t>Risk stratification:</a:t>
            </a:r>
          </a:p>
          <a:p>
            <a:pPr lvl="1"/>
            <a:r>
              <a:rPr lang="en-GB" dirty="0"/>
              <a:t>69.6% within JCCO guidelines</a:t>
            </a:r>
          </a:p>
          <a:p>
            <a:pPr lvl="1"/>
            <a:r>
              <a:rPr lang="en-GB" dirty="0"/>
              <a:t>27.9% outside JCCO, inside NCWT</a:t>
            </a:r>
          </a:p>
          <a:p>
            <a:pPr lvl="1"/>
            <a:r>
              <a:rPr lang="en-GB" dirty="0"/>
              <a:t>2.45% breaching 31-day DTT</a:t>
            </a:r>
          </a:p>
        </p:txBody>
      </p:sp>
      <p:pic>
        <p:nvPicPr>
          <p:cNvPr id="5" name="Content Placeholder 5">
            <a:extLst>
              <a:ext uri="{FF2B5EF4-FFF2-40B4-BE49-F238E27FC236}">
                <a16:creationId xmlns:a16="http://schemas.microsoft.com/office/drawing/2014/main" id="{6FC1A37C-76B3-4C89-DA76-5734705BDEB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40616"/>
            <a:ext cx="5181600" cy="2864048"/>
          </a:xfrm>
          <a:prstGeom prst="rect">
            <a:avLst/>
          </a:prstGeom>
        </p:spPr>
      </p:pic>
    </p:spTree>
    <p:extLst>
      <p:ext uri="{BB962C8B-B14F-4D97-AF65-F5344CB8AC3E}">
        <p14:creationId xmlns:p14="http://schemas.microsoft.com/office/powerpoint/2010/main" val="796752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3370-D770-8135-3AAB-CEDBA9003E1A}"/>
              </a:ext>
            </a:extLst>
          </p:cNvPr>
          <p:cNvSpPr>
            <a:spLocks noGrp="1"/>
          </p:cNvSpPr>
          <p:nvPr>
            <p:ph type="title"/>
          </p:nvPr>
        </p:nvSpPr>
        <p:spPr>
          <a:xfrm>
            <a:off x="838200" y="609600"/>
            <a:ext cx="10515600" cy="1143000"/>
          </a:xfrm>
        </p:spPr>
        <p:txBody>
          <a:bodyPr anchor="b">
            <a:normAutofit/>
          </a:bodyPr>
          <a:lstStyle/>
          <a:p>
            <a:r>
              <a:rPr lang="en-GB" sz="5400"/>
              <a:t>Design Principles</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017A18E-587C-C249-AE0A-0C545C949788}"/>
              </a:ext>
            </a:extLst>
          </p:cNvPr>
          <p:cNvGraphicFramePr>
            <a:graphicFrameLocks noGrp="1"/>
          </p:cNvGraphicFramePr>
          <p:nvPr>
            <p:ph idx="1"/>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6266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6B785-C52B-0C41-0510-BCD985718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938E0-F0AC-3E95-A06F-492DD984483B}"/>
              </a:ext>
            </a:extLst>
          </p:cNvPr>
          <p:cNvSpPr>
            <a:spLocks noGrp="1"/>
          </p:cNvSpPr>
          <p:nvPr>
            <p:ph type="title"/>
          </p:nvPr>
        </p:nvSpPr>
        <p:spPr>
          <a:xfrm>
            <a:off x="838200" y="609600"/>
            <a:ext cx="10515600" cy="1143000"/>
          </a:xfrm>
        </p:spPr>
        <p:txBody>
          <a:bodyPr anchor="b">
            <a:normAutofit/>
          </a:bodyPr>
          <a:lstStyle/>
          <a:p>
            <a:r>
              <a:rPr lang="en-GB" dirty="0"/>
              <a:t>Research Contributions</a:t>
            </a:r>
          </a:p>
        </p:txBody>
      </p:sp>
      <p:sp>
        <p:nvSpPr>
          <p:cNvPr id="931" name="sketch line">
            <a:extLst>
              <a:ext uri="{FF2B5EF4-FFF2-40B4-BE49-F238E27FC236}">
                <a16:creationId xmlns:a16="http://schemas.microsoft.com/office/drawing/2014/main" id="{2E06DC60-03E6-4DC5-B62B-BFD1FAF541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33" name="Content Placeholder 2">
            <a:extLst>
              <a:ext uri="{FF2B5EF4-FFF2-40B4-BE49-F238E27FC236}">
                <a16:creationId xmlns:a16="http://schemas.microsoft.com/office/drawing/2014/main" id="{544E4E98-2A6C-2804-CFAB-C7CC9E897CC8}"/>
              </a:ext>
            </a:extLst>
          </p:cNvPr>
          <p:cNvGraphicFramePr>
            <a:graphicFrameLocks noGrp="1"/>
          </p:cNvGraphicFramePr>
          <p:nvPr>
            <p:ph idx="1"/>
          </p:nvPr>
        </p:nvGraphicFramePr>
        <p:xfrm>
          <a:off x="838200" y="2072640"/>
          <a:ext cx="10515600" cy="420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4274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ABAAF-7678-D10A-7233-F2778027C75A}"/>
              </a:ext>
            </a:extLst>
          </p:cNvPr>
          <p:cNvSpPr>
            <a:spLocks noGrp="1"/>
          </p:cNvSpPr>
          <p:nvPr>
            <p:ph type="title"/>
          </p:nvPr>
        </p:nvSpPr>
        <p:spPr>
          <a:xfrm>
            <a:off x="838200" y="609600"/>
            <a:ext cx="10515600" cy="1143000"/>
          </a:xfrm>
        </p:spPr>
        <p:txBody>
          <a:bodyPr anchor="b">
            <a:normAutofit/>
          </a:bodyPr>
          <a:lstStyle/>
          <a:p>
            <a:r>
              <a:rPr lang="en-GB" dirty="0"/>
              <a:t>Limitations</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C94027C-38BF-4DED-DFBC-B363660D33F0}"/>
              </a:ext>
            </a:extLst>
          </p:cNvPr>
          <p:cNvSpPr>
            <a:spLocks noGrp="1"/>
          </p:cNvSpPr>
          <p:nvPr>
            <p:ph idx="1"/>
          </p:nvPr>
        </p:nvSpPr>
        <p:spPr>
          <a:xfrm>
            <a:off x="838200" y="2072640"/>
            <a:ext cx="10515600" cy="4200000"/>
          </a:xfrm>
        </p:spPr>
        <p:txBody>
          <a:bodyPr/>
          <a:lstStyle/>
          <a:p>
            <a:r>
              <a:rPr lang="en-GB" dirty="0"/>
              <a:t>Single-site study</a:t>
            </a:r>
          </a:p>
          <a:p>
            <a:pPr lvl="1"/>
            <a:r>
              <a:rPr lang="en-GB" dirty="0"/>
              <a:t>Small user sample group</a:t>
            </a:r>
          </a:p>
          <a:p>
            <a:pPr lvl="1"/>
            <a:r>
              <a:rPr lang="en-GB" dirty="0"/>
              <a:t>High impact users</a:t>
            </a:r>
          </a:p>
          <a:p>
            <a:r>
              <a:rPr lang="en-GB" dirty="0"/>
              <a:t>Dependant on Source-system data quality</a:t>
            </a:r>
          </a:p>
          <a:p>
            <a:r>
              <a:rPr lang="en-GB" dirty="0"/>
              <a:t>CT → Treatment interval aggregates hidden processes</a:t>
            </a:r>
          </a:p>
          <a:p>
            <a:r>
              <a:rPr lang="en-GB" dirty="0"/>
              <a:t>Evaluation focused on usability, not outcomes</a:t>
            </a:r>
          </a:p>
        </p:txBody>
      </p:sp>
    </p:spTree>
    <p:extLst>
      <p:ext uri="{BB962C8B-B14F-4D97-AF65-F5344CB8AC3E}">
        <p14:creationId xmlns:p14="http://schemas.microsoft.com/office/powerpoint/2010/main" val="143103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D2BBD-704F-1F17-07F0-45C68A52313D}"/>
              </a:ext>
            </a:extLst>
          </p:cNvPr>
          <p:cNvSpPr>
            <a:spLocks noGrp="1"/>
          </p:cNvSpPr>
          <p:nvPr>
            <p:ph type="title"/>
          </p:nvPr>
        </p:nvSpPr>
        <p:spPr>
          <a:xfrm>
            <a:off x="838200" y="609600"/>
            <a:ext cx="10515600" cy="1143000"/>
          </a:xfrm>
        </p:spPr>
        <p:txBody>
          <a:bodyPr anchor="b">
            <a:normAutofit/>
          </a:bodyPr>
          <a:lstStyle/>
          <a:p>
            <a:r>
              <a:rPr lang="en-GB" dirty="0"/>
              <a:t>Future work</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5895B4-0C10-6D3F-753D-42CB4BD338F8}"/>
              </a:ext>
            </a:extLst>
          </p:cNvPr>
          <p:cNvSpPr>
            <a:spLocks noGrp="1"/>
          </p:cNvSpPr>
          <p:nvPr>
            <p:ph idx="1"/>
          </p:nvPr>
        </p:nvSpPr>
        <p:spPr>
          <a:xfrm>
            <a:off x="838200" y="2072640"/>
            <a:ext cx="10515600" cy="4200000"/>
          </a:xfrm>
        </p:spPr>
        <p:txBody>
          <a:bodyPr/>
          <a:lstStyle/>
          <a:p>
            <a:r>
              <a:rPr lang="en-GB" dirty="0"/>
              <a:t>Digital referral integration</a:t>
            </a:r>
          </a:p>
          <a:p>
            <a:r>
              <a:rPr lang="en-GB" dirty="0"/>
              <a:t>Decomposition of CT → Treatment workflow</a:t>
            </a:r>
          </a:p>
          <a:p>
            <a:r>
              <a:rPr lang="en-GB" dirty="0"/>
              <a:t>SACT dataset integration</a:t>
            </a:r>
          </a:p>
          <a:p>
            <a:r>
              <a:rPr lang="en-GB" dirty="0"/>
              <a:t>Clinic-capacity modelling</a:t>
            </a:r>
          </a:p>
          <a:p>
            <a:r>
              <a:rPr lang="en-GB" dirty="0"/>
              <a:t>Targeted pathway interventions</a:t>
            </a:r>
          </a:p>
          <a:p>
            <a:endParaRPr lang="en-GB" dirty="0"/>
          </a:p>
        </p:txBody>
      </p:sp>
    </p:spTree>
    <p:extLst>
      <p:ext uri="{BB962C8B-B14F-4D97-AF65-F5344CB8AC3E}">
        <p14:creationId xmlns:p14="http://schemas.microsoft.com/office/powerpoint/2010/main" val="1703692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2B5A2-43F1-8F5C-15CC-591F76508977}"/>
              </a:ext>
            </a:extLst>
          </p:cNvPr>
          <p:cNvSpPr>
            <a:spLocks noGrp="1"/>
          </p:cNvSpPr>
          <p:nvPr>
            <p:ph type="title"/>
          </p:nvPr>
        </p:nvSpPr>
        <p:spPr>
          <a:xfrm>
            <a:off x="838200" y="609600"/>
            <a:ext cx="10515600" cy="1143000"/>
          </a:xfrm>
        </p:spPr>
        <p:txBody>
          <a:bodyPr anchor="b">
            <a:normAutofit/>
          </a:bodyPr>
          <a:lstStyle/>
          <a:p>
            <a:r>
              <a:rPr lang="en-GB" dirty="0"/>
              <a:t>Conclusion</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58B149-3C6B-B6BB-9DC8-B41236298395}"/>
              </a:ext>
            </a:extLst>
          </p:cNvPr>
          <p:cNvSpPr>
            <a:spLocks noGrp="1"/>
          </p:cNvSpPr>
          <p:nvPr>
            <p:ph idx="1"/>
          </p:nvPr>
        </p:nvSpPr>
        <p:spPr>
          <a:xfrm>
            <a:off x="838200" y="2072640"/>
            <a:ext cx="10515600" cy="4200000"/>
          </a:xfrm>
        </p:spPr>
        <p:txBody>
          <a:bodyPr/>
          <a:lstStyle/>
          <a:p>
            <a:r>
              <a:rPr lang="en-GB" dirty="0"/>
              <a:t>Lightweight IDR improves visibility</a:t>
            </a:r>
          </a:p>
          <a:p>
            <a:r>
              <a:rPr lang="en-GB" dirty="0"/>
              <a:t>Dashboard reveals hidden bottlenecks</a:t>
            </a:r>
          </a:p>
          <a:p>
            <a:r>
              <a:rPr lang="en-GB" dirty="0"/>
              <a:t>Supports operational management</a:t>
            </a:r>
          </a:p>
          <a:p>
            <a:r>
              <a:rPr lang="en-GB" dirty="0"/>
              <a:t>Provides transferable design principles</a:t>
            </a:r>
          </a:p>
          <a:p>
            <a:r>
              <a:rPr lang="en-GB" dirty="0"/>
              <a:t>Enables faster, more reliable progression to treatment</a:t>
            </a:r>
          </a:p>
        </p:txBody>
      </p:sp>
    </p:spTree>
    <p:extLst>
      <p:ext uri="{BB962C8B-B14F-4D97-AF65-F5344CB8AC3E}">
        <p14:creationId xmlns:p14="http://schemas.microsoft.com/office/powerpoint/2010/main" val="2109287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06E744-0A82-A041-BB29-217925165498}"/>
              </a:ext>
            </a:extLst>
          </p:cNvPr>
          <p:cNvSpPr>
            <a:spLocks noGrp="1"/>
          </p:cNvSpPr>
          <p:nvPr>
            <p:ph type="title"/>
          </p:nvPr>
        </p:nvSpPr>
        <p:spPr>
          <a:xfrm>
            <a:off x="838200" y="609600"/>
            <a:ext cx="10515600" cy="1143000"/>
          </a:xfrm>
        </p:spPr>
        <p:txBody>
          <a:bodyPr anchor="b">
            <a:normAutofit/>
          </a:bodyPr>
          <a:lstStyle/>
          <a:p>
            <a:r>
              <a:rPr lang="en-GB" dirty="0"/>
              <a:t>References</a:t>
            </a:r>
          </a:p>
        </p:txBody>
      </p:sp>
      <p:sp>
        <p:nvSpPr>
          <p:cNvPr id="9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92" y="1828800"/>
            <a:ext cx="4038600" cy="18288"/>
          </a:xfrm>
          <a:custGeom>
            <a:avLst/>
            <a:gdLst>
              <a:gd name="csX0" fmla="*/ 0 w 4038600"/>
              <a:gd name="csY0" fmla="*/ 0 h 18288"/>
              <a:gd name="csX1" fmla="*/ 753872 w 4038600"/>
              <a:gd name="csY1" fmla="*/ 0 h 18288"/>
              <a:gd name="csX2" fmla="*/ 1467358 w 4038600"/>
              <a:gd name="csY2" fmla="*/ 0 h 18288"/>
              <a:gd name="csX3" fmla="*/ 2180844 w 4038600"/>
              <a:gd name="csY3" fmla="*/ 0 h 18288"/>
              <a:gd name="csX4" fmla="*/ 2732786 w 4038600"/>
              <a:gd name="csY4" fmla="*/ 0 h 18288"/>
              <a:gd name="csX5" fmla="*/ 3325114 w 4038600"/>
              <a:gd name="csY5" fmla="*/ 0 h 18288"/>
              <a:gd name="csX6" fmla="*/ 4038600 w 4038600"/>
              <a:gd name="csY6" fmla="*/ 0 h 18288"/>
              <a:gd name="csX7" fmla="*/ 4038600 w 4038600"/>
              <a:gd name="csY7" fmla="*/ 18288 h 18288"/>
              <a:gd name="csX8" fmla="*/ 3365500 w 4038600"/>
              <a:gd name="csY8" fmla="*/ 18288 h 18288"/>
              <a:gd name="csX9" fmla="*/ 2813558 w 4038600"/>
              <a:gd name="csY9" fmla="*/ 18288 h 18288"/>
              <a:gd name="csX10" fmla="*/ 2261616 w 4038600"/>
              <a:gd name="csY10" fmla="*/ 18288 h 18288"/>
              <a:gd name="csX11" fmla="*/ 1548130 w 4038600"/>
              <a:gd name="csY11" fmla="*/ 18288 h 18288"/>
              <a:gd name="csX12" fmla="*/ 955802 w 4038600"/>
              <a:gd name="csY12" fmla="*/ 18288 h 18288"/>
              <a:gd name="csX13" fmla="*/ 0 w 4038600"/>
              <a:gd name="csY13" fmla="*/ 18288 h 18288"/>
              <a:gd name="csX14" fmla="*/ 0 w 40386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38600" h="18288" fill="none" extrusionOk="0">
                <a:moveTo>
                  <a:pt x="0" y="0"/>
                </a:moveTo>
                <a:cubicBezTo>
                  <a:pt x="245597" y="-16865"/>
                  <a:pt x="459442" y="-33984"/>
                  <a:pt x="753872" y="0"/>
                </a:cubicBezTo>
                <a:cubicBezTo>
                  <a:pt x="1048302" y="33984"/>
                  <a:pt x="1306372" y="2403"/>
                  <a:pt x="1467358" y="0"/>
                </a:cubicBezTo>
                <a:cubicBezTo>
                  <a:pt x="1628344" y="-2403"/>
                  <a:pt x="1900991" y="6151"/>
                  <a:pt x="2180844" y="0"/>
                </a:cubicBezTo>
                <a:cubicBezTo>
                  <a:pt x="2460697" y="-6151"/>
                  <a:pt x="2545370" y="-20614"/>
                  <a:pt x="2732786" y="0"/>
                </a:cubicBezTo>
                <a:cubicBezTo>
                  <a:pt x="2920202" y="20614"/>
                  <a:pt x="3141333" y="13259"/>
                  <a:pt x="3325114" y="0"/>
                </a:cubicBezTo>
                <a:cubicBezTo>
                  <a:pt x="3508895" y="-13259"/>
                  <a:pt x="3809207" y="5299"/>
                  <a:pt x="4038600" y="0"/>
                </a:cubicBezTo>
                <a:cubicBezTo>
                  <a:pt x="4038100" y="8855"/>
                  <a:pt x="4038709" y="14521"/>
                  <a:pt x="4038600" y="18288"/>
                </a:cubicBezTo>
                <a:cubicBezTo>
                  <a:pt x="3889790" y="15519"/>
                  <a:pt x="3571921" y="44926"/>
                  <a:pt x="3365500" y="18288"/>
                </a:cubicBezTo>
                <a:cubicBezTo>
                  <a:pt x="3159079" y="-8350"/>
                  <a:pt x="3043389" y="17610"/>
                  <a:pt x="2813558" y="18288"/>
                </a:cubicBezTo>
                <a:cubicBezTo>
                  <a:pt x="2583727" y="18966"/>
                  <a:pt x="2420517" y="-8755"/>
                  <a:pt x="2261616" y="18288"/>
                </a:cubicBezTo>
                <a:cubicBezTo>
                  <a:pt x="2102715" y="45331"/>
                  <a:pt x="1851563" y="47135"/>
                  <a:pt x="1548130" y="18288"/>
                </a:cubicBezTo>
                <a:cubicBezTo>
                  <a:pt x="1244697" y="-10559"/>
                  <a:pt x="1210350" y="12687"/>
                  <a:pt x="955802" y="18288"/>
                </a:cubicBezTo>
                <a:cubicBezTo>
                  <a:pt x="701254" y="23889"/>
                  <a:pt x="265623" y="-1402"/>
                  <a:pt x="0" y="18288"/>
                </a:cubicBezTo>
                <a:cubicBezTo>
                  <a:pt x="683" y="12014"/>
                  <a:pt x="724" y="5908"/>
                  <a:pt x="0" y="0"/>
                </a:cubicBezTo>
                <a:close/>
              </a:path>
              <a:path w="4038600" h="18288" stroke="0" extrusionOk="0">
                <a:moveTo>
                  <a:pt x="0" y="0"/>
                </a:moveTo>
                <a:cubicBezTo>
                  <a:pt x="219878" y="-4881"/>
                  <a:pt x="487789" y="15633"/>
                  <a:pt x="632714" y="0"/>
                </a:cubicBezTo>
                <a:cubicBezTo>
                  <a:pt x="777639" y="-15633"/>
                  <a:pt x="1041240" y="7628"/>
                  <a:pt x="1184656" y="0"/>
                </a:cubicBezTo>
                <a:cubicBezTo>
                  <a:pt x="1328072" y="-7628"/>
                  <a:pt x="1608515" y="10950"/>
                  <a:pt x="1938528" y="0"/>
                </a:cubicBezTo>
                <a:cubicBezTo>
                  <a:pt x="2268541" y="-10950"/>
                  <a:pt x="2365528" y="28582"/>
                  <a:pt x="2571242" y="0"/>
                </a:cubicBezTo>
                <a:cubicBezTo>
                  <a:pt x="2776956" y="-28582"/>
                  <a:pt x="3059343" y="-503"/>
                  <a:pt x="3203956" y="0"/>
                </a:cubicBezTo>
                <a:cubicBezTo>
                  <a:pt x="3348569" y="503"/>
                  <a:pt x="3749254" y="-371"/>
                  <a:pt x="4038600" y="0"/>
                </a:cubicBezTo>
                <a:cubicBezTo>
                  <a:pt x="4037702" y="7180"/>
                  <a:pt x="4038769" y="13790"/>
                  <a:pt x="4038600" y="18288"/>
                </a:cubicBezTo>
                <a:cubicBezTo>
                  <a:pt x="3742933" y="13038"/>
                  <a:pt x="3656524" y="28354"/>
                  <a:pt x="3365500" y="18288"/>
                </a:cubicBezTo>
                <a:cubicBezTo>
                  <a:pt x="3074476" y="8222"/>
                  <a:pt x="3064657" y="19414"/>
                  <a:pt x="2813558" y="18288"/>
                </a:cubicBezTo>
                <a:cubicBezTo>
                  <a:pt x="2562459" y="17162"/>
                  <a:pt x="2321261" y="16325"/>
                  <a:pt x="2140458" y="18288"/>
                </a:cubicBezTo>
                <a:cubicBezTo>
                  <a:pt x="1959655" y="20251"/>
                  <a:pt x="1712375" y="11609"/>
                  <a:pt x="1467358" y="18288"/>
                </a:cubicBezTo>
                <a:cubicBezTo>
                  <a:pt x="1222341" y="24967"/>
                  <a:pt x="1122223" y="8060"/>
                  <a:pt x="834644" y="18288"/>
                </a:cubicBezTo>
                <a:cubicBezTo>
                  <a:pt x="547065" y="28516"/>
                  <a:pt x="292643" y="25567"/>
                  <a:pt x="0" y="18288"/>
                </a:cubicBezTo>
                <a:cubicBezTo>
                  <a:pt x="571" y="10093"/>
                  <a:pt x="-125" y="840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1F63F411-ACB4-DA14-1ADC-9B8327898133}"/>
              </a:ext>
            </a:extLst>
          </p:cNvPr>
          <p:cNvSpPr>
            <a:spLocks noGrp="1"/>
          </p:cNvSpPr>
          <p:nvPr>
            <p:ph idx="1"/>
          </p:nvPr>
        </p:nvSpPr>
        <p:spPr>
          <a:xfrm>
            <a:off x="838200" y="2072640"/>
            <a:ext cx="10515600" cy="4200000"/>
          </a:xfrm>
        </p:spPr>
        <p:txBody>
          <a:bodyPr>
            <a:normAutofit fontScale="47500" lnSpcReduction="20000"/>
          </a:bodyPr>
          <a:lstStyle/>
          <a:p>
            <a:r>
              <a:rPr lang="en-GB" dirty="0"/>
              <a:t>Ash, D., Barrett, A., Hinks, A. and Squire, C. (2004) </a:t>
            </a:r>
            <a:r>
              <a:rPr lang="en-GB" dirty="0" err="1"/>
              <a:t>‘Re</a:t>
            </a:r>
            <a:r>
              <a:rPr lang="en-GB" dirty="0"/>
              <a:t>-audit of radiotherapy waiting times 2003,’ </a:t>
            </a:r>
            <a:r>
              <a:rPr lang="en-GB" i="1" dirty="0"/>
              <a:t>Clinical Oncology</a:t>
            </a:r>
            <a:r>
              <a:rPr lang="en-GB" dirty="0"/>
              <a:t>, 16(6), pp. 387–394</a:t>
            </a:r>
          </a:p>
          <a:p>
            <a:r>
              <a:rPr lang="en-GB" dirty="0"/>
              <a:t>Calman, K. and Hine, D. (1995) </a:t>
            </a:r>
            <a:r>
              <a:rPr lang="en-GB" i="1" dirty="0"/>
              <a:t>A Policy Framework for Commissioning Cancer Services : A Report by the Expert Advisory Group on Cancer to the Chief Medical Officers of England and Wales</a:t>
            </a:r>
            <a:r>
              <a:rPr lang="en-GB" dirty="0"/>
              <a:t>, Tech. rep., Department of Health, London</a:t>
            </a:r>
          </a:p>
          <a:p>
            <a:r>
              <a:rPr lang="en-GB" dirty="0"/>
              <a:t>Coca-</a:t>
            </a:r>
            <a:r>
              <a:rPr lang="en-GB" dirty="0" err="1"/>
              <a:t>Pelaz</a:t>
            </a:r>
            <a:r>
              <a:rPr lang="en-GB" dirty="0"/>
              <a:t>, </a:t>
            </a:r>
            <a:r>
              <a:rPr lang="en-GB" i="1" dirty="0"/>
              <a:t>et al.</a:t>
            </a:r>
            <a:r>
              <a:rPr lang="en-GB" dirty="0"/>
              <a:t> (2018) ‘Head and Neck Cancer: A Review of the Impact of Treatment Delay on Outcome,’ </a:t>
            </a:r>
            <a:r>
              <a:rPr lang="en-GB" i="1" dirty="0"/>
              <a:t>Advances in Therapy,</a:t>
            </a:r>
            <a:r>
              <a:rPr lang="en-GB" dirty="0"/>
              <a:t> 35(2), pp. 153–160</a:t>
            </a:r>
          </a:p>
          <a:p>
            <a:r>
              <a:rPr lang="en-GB" dirty="0"/>
              <a:t>Johnson, P. (2024) ‘Updating the NHS cancer waiting time standards,’ </a:t>
            </a:r>
            <a:r>
              <a:rPr lang="en-GB" i="1" dirty="0"/>
              <a:t>BMJ Oncology</a:t>
            </a:r>
            <a:r>
              <a:rPr lang="en-GB" dirty="0"/>
              <a:t>, 3(1)</a:t>
            </a:r>
          </a:p>
          <a:p>
            <a:r>
              <a:rPr lang="en-GB" dirty="0"/>
              <a:t>NHS Digital (2026b) ‘RTDS quality dashboard,’ Available at: </a:t>
            </a:r>
            <a:r>
              <a:rPr lang="en-GB" dirty="0">
                <a:hlinkClick r:id="rId3"/>
              </a:rPr>
              <a:t>https://digital.nhs.uk/ndrs/data/data-outputs/data-quality-and-insights-hub/rtds-hscn-quality-dashboard</a:t>
            </a:r>
            <a:r>
              <a:rPr lang="en-GB" dirty="0"/>
              <a:t> (Accessed 7</a:t>
            </a:r>
            <a:r>
              <a:rPr lang="en-GB" baseline="30000" dirty="0"/>
              <a:t>th</a:t>
            </a:r>
            <a:r>
              <a:rPr lang="en-GB" dirty="0"/>
              <a:t> August 2026)</a:t>
            </a:r>
          </a:p>
          <a:p>
            <a:r>
              <a:rPr lang="en-GB" dirty="0"/>
              <a:t>NHS England (2025) </a:t>
            </a:r>
            <a:r>
              <a:rPr lang="en-GB" i="1" dirty="0"/>
              <a:t>Community diagnostic centres</a:t>
            </a:r>
            <a:r>
              <a:rPr lang="en-GB" dirty="0"/>
              <a:t>. Available at: </a:t>
            </a:r>
            <a:r>
              <a:rPr lang="en-GB" dirty="0">
                <a:hlinkClick r:id="rId4"/>
              </a:rPr>
              <a:t>https://www.england.nhs.uk/long-read/community-diagnostic-centres/</a:t>
            </a:r>
            <a:r>
              <a:rPr lang="en-GB" dirty="0"/>
              <a:t> (Accessed 7</a:t>
            </a:r>
            <a:r>
              <a:rPr lang="en-GB" baseline="30000" dirty="0"/>
              <a:t>th</a:t>
            </a:r>
            <a:r>
              <a:rPr lang="en-GB" dirty="0"/>
              <a:t> August 2026)</a:t>
            </a:r>
          </a:p>
          <a:p>
            <a:r>
              <a:rPr lang="en-GB" dirty="0"/>
              <a:t>Peffers, Ken, </a:t>
            </a:r>
            <a:r>
              <a:rPr lang="en-GB" dirty="0" err="1"/>
              <a:t>Tuunanen</a:t>
            </a:r>
            <a:r>
              <a:rPr lang="en-GB" dirty="0"/>
              <a:t>, Tuure, Rothenberger, Marcus A. and Chatterjee, Samir (2007) ‘A design science research methodology for information systems research,’ </a:t>
            </a:r>
            <a:r>
              <a:rPr lang="en-GB" i="1" dirty="0"/>
              <a:t>Journal of Management Information Systems</a:t>
            </a:r>
            <a:r>
              <a:rPr lang="en-GB" dirty="0"/>
              <a:t>, 24(3), pp. 45–77</a:t>
            </a:r>
          </a:p>
          <a:p>
            <a:r>
              <a:rPr lang="en-GB" dirty="0"/>
              <a:t>Saleh, M., </a:t>
            </a:r>
            <a:r>
              <a:rPr lang="en-GB" i="1" dirty="0"/>
              <a:t>et al.</a:t>
            </a:r>
            <a:r>
              <a:rPr lang="en-GB" dirty="0"/>
              <a:t> (2024) ‘Diagnosis-to-treatment interval in cervical cancer: An exploratory analysis of the SEER database,’ </a:t>
            </a:r>
            <a:r>
              <a:rPr lang="en-GB" i="1" dirty="0"/>
              <a:t>Gynaecologic Oncology</a:t>
            </a:r>
            <a:r>
              <a:rPr lang="en-GB" dirty="0"/>
              <a:t>, 190, pp. S361–S362</a:t>
            </a:r>
          </a:p>
          <a:p>
            <a:r>
              <a:rPr lang="en-GB" dirty="0"/>
              <a:t>Sharma, S. </a:t>
            </a:r>
            <a:r>
              <a:rPr lang="en-GB" i="1" dirty="0"/>
              <a:t>et al.</a:t>
            </a:r>
            <a:r>
              <a:rPr lang="en-GB" dirty="0"/>
              <a:t> (2016) ‘Clinical impact of prolonged diagnosis to treatment interval (DTI) among patients with oropharyngeal squamous cell carcinoma,’ </a:t>
            </a:r>
            <a:r>
              <a:rPr lang="en-GB" i="1" dirty="0"/>
              <a:t>Oral Oncology</a:t>
            </a:r>
            <a:r>
              <a:rPr lang="en-GB" dirty="0"/>
              <a:t>, 56, pp. 17–24,</a:t>
            </a:r>
          </a:p>
          <a:p>
            <a:r>
              <a:rPr lang="en-GB" dirty="0"/>
              <a:t>Villemure-Poliquin, N. </a:t>
            </a:r>
            <a:r>
              <a:rPr lang="en-GB" i="1" dirty="0"/>
              <a:t>et al.</a:t>
            </a:r>
            <a:r>
              <a:rPr lang="en-GB" dirty="0"/>
              <a:t> (2025) ‘Delayed diagnosis to treatment interval (DTI) in head &amp; neck cancers – A systematic review and meta-analysis,’ </a:t>
            </a:r>
            <a:r>
              <a:rPr lang="en-GB" i="1" dirty="0"/>
              <a:t>Oral Oncology</a:t>
            </a:r>
            <a:r>
              <a:rPr lang="en-GB" dirty="0"/>
              <a:t>, 160, p. 107106</a:t>
            </a:r>
          </a:p>
        </p:txBody>
      </p:sp>
    </p:spTree>
    <p:extLst>
      <p:ext uri="{BB962C8B-B14F-4D97-AF65-F5344CB8AC3E}">
        <p14:creationId xmlns:p14="http://schemas.microsoft.com/office/powerpoint/2010/main" val="2394117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6919</TotalTime>
  <Words>4411</Words>
  <Application>Microsoft Office PowerPoint</Application>
  <PresentationFormat>Widescreen</PresentationFormat>
  <Paragraphs>356</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Post-MDT Oncology Workflow Bottlenecks</vt:lpstr>
      <vt:lpstr>Methodology: Design Science Research</vt:lpstr>
      <vt:lpstr>Cancer Pathways</vt:lpstr>
      <vt:lpstr>Cancer Pathway</vt:lpstr>
      <vt:lpstr>Lack of Visibility</vt:lpstr>
      <vt:lpstr>Consequences of delayed treatment</vt:lpstr>
      <vt:lpstr>Research Gap</vt:lpstr>
      <vt:lpstr>Aims &amp; Objectives</vt:lpstr>
      <vt:lpstr>Research Aims</vt:lpstr>
      <vt:lpstr>Research Objectives</vt:lpstr>
      <vt:lpstr>IDR &amp; Dashboard</vt:lpstr>
      <vt:lpstr>Scope</vt:lpstr>
      <vt:lpstr>IDR Architecture</vt:lpstr>
      <vt:lpstr>Oncology Referral Dashboard</vt:lpstr>
      <vt:lpstr>Radiotherapy Service Health</vt:lpstr>
      <vt:lpstr>Oncology Pathway Overview</vt:lpstr>
      <vt:lpstr>Stakeholder Feedback</vt:lpstr>
      <vt:lpstr>Evaluation Results</vt:lpstr>
      <vt:lpstr>Feedback</vt:lpstr>
      <vt:lpstr>Results and Discussion</vt:lpstr>
      <vt:lpstr>Pathway Delays</vt:lpstr>
      <vt:lpstr>Radiotherapy Capacity Insights</vt:lpstr>
      <vt:lpstr>Design Principles</vt:lpstr>
      <vt:lpstr>Research Contributions</vt:lpstr>
      <vt:lpstr>Limitations</vt:lpstr>
      <vt:lpstr>Future work</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 Collins</dc:creator>
  <cp:lastModifiedBy>Mark Collins</cp:lastModifiedBy>
  <cp:revision>10</cp:revision>
  <dcterms:created xsi:type="dcterms:W3CDTF">2026-08-07T08:32:43Z</dcterms:created>
  <dcterms:modified xsi:type="dcterms:W3CDTF">2026-08-12T19:13:25Z</dcterms:modified>
</cp:coreProperties>
</file>