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2" r:id="rId3"/>
    <p:sldId id="257" r:id="rId4"/>
    <p:sldId id="258" r:id="rId5"/>
    <p:sldId id="260" r:id="rId6"/>
    <p:sldId id="261" r:id="rId7"/>
    <p:sldId id="263" r:id="rId8"/>
    <p:sldId id="264" r:id="rId9"/>
    <p:sldId id="266" r:id="rId10"/>
    <p:sldId id="265" r:id="rId11"/>
    <p:sldId id="271" r:id="rId12"/>
    <p:sldId id="267" r:id="rId13"/>
    <p:sldId id="268" r:id="rId14"/>
    <p:sldId id="269" r:id="rId15"/>
    <p:sldId id="270" r:id="rId16"/>
    <p:sldId id="272" r:id="rId17"/>
    <p:sldId id="273" r:id="rId18"/>
    <p:sldId id="275" r:id="rId19"/>
    <p:sldId id="274" r:id="rId20"/>
    <p:sldId id="277" r:id="rId21"/>
    <p:sldId id="278" r:id="rId22"/>
    <p:sldId id="279" r:id="rId23"/>
    <p:sldId id="280" r:id="rId24"/>
    <p:sldId id="281" r:id="rId25"/>
    <p:sldId id="282" r:id="rId26"/>
    <p:sldId id="25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8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17AE79-C535-4914-BC34-7C8F92514AA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4C68931-3004-4ED5-B819-5D6BE3C03B3F}">
      <dgm:prSet phldrT="[Text]" phldr="0"/>
      <dgm:spPr/>
      <dgm:t>
        <a:bodyPr/>
        <a:lstStyle/>
        <a:p>
          <a:r>
            <a:rPr lang="en-GB" dirty="0"/>
            <a:t>Multiple Source Systems</a:t>
          </a:r>
        </a:p>
      </dgm:t>
    </dgm:pt>
    <dgm:pt modelId="{22BD5D18-A6DD-4B8C-B2D3-789FF427C276}" type="parTrans" cxnId="{2F977E2D-7130-4FD0-A9D2-5D0D8C495D3C}">
      <dgm:prSet/>
      <dgm:spPr/>
      <dgm:t>
        <a:bodyPr/>
        <a:lstStyle/>
        <a:p>
          <a:endParaRPr lang="en-GB"/>
        </a:p>
      </dgm:t>
    </dgm:pt>
    <dgm:pt modelId="{E62F5C9A-B6FB-4ED8-B09D-A132C7126C86}" type="sibTrans" cxnId="{2F977E2D-7130-4FD0-A9D2-5D0D8C495D3C}">
      <dgm:prSet/>
      <dgm:spPr/>
      <dgm:t>
        <a:bodyPr/>
        <a:lstStyle/>
        <a:p>
          <a:endParaRPr lang="en-GB"/>
        </a:p>
      </dgm:t>
    </dgm:pt>
    <dgm:pt modelId="{3AB91D44-2A68-4B65-899F-D566EEA1E812}">
      <dgm:prSet phldrT="[Text]" phldr="0"/>
      <dgm:spPr/>
      <dgm:t>
        <a:bodyPr/>
        <a:lstStyle/>
        <a:p>
          <a:r>
            <a:rPr lang="en-GB" dirty="0"/>
            <a:t>Integrated Data Repository</a:t>
          </a:r>
        </a:p>
      </dgm:t>
    </dgm:pt>
    <dgm:pt modelId="{3CF32078-E9A4-4DFB-A877-633D504CE245}" type="parTrans" cxnId="{0FAF0B94-CC59-41A6-8CFC-EDD019C0EAA2}">
      <dgm:prSet/>
      <dgm:spPr/>
      <dgm:t>
        <a:bodyPr/>
        <a:lstStyle/>
        <a:p>
          <a:endParaRPr lang="en-GB"/>
        </a:p>
      </dgm:t>
    </dgm:pt>
    <dgm:pt modelId="{DAB28287-C708-4BE2-AA42-732C0611F007}" type="sibTrans" cxnId="{0FAF0B94-CC59-41A6-8CFC-EDD019C0EAA2}">
      <dgm:prSet/>
      <dgm:spPr/>
      <dgm:t>
        <a:bodyPr/>
        <a:lstStyle/>
        <a:p>
          <a:endParaRPr lang="en-GB"/>
        </a:p>
      </dgm:t>
    </dgm:pt>
    <dgm:pt modelId="{D0137FD2-5F31-4A60-A08C-B7B508E9F131}">
      <dgm:prSet phldrT="[Text]" phldr="0"/>
      <dgm:spPr/>
      <dgm:t>
        <a:bodyPr/>
        <a:lstStyle/>
        <a:p>
          <a:r>
            <a:rPr lang="en-GB" dirty="0"/>
            <a:t>Decision Support Dashboard</a:t>
          </a:r>
        </a:p>
      </dgm:t>
    </dgm:pt>
    <dgm:pt modelId="{035B7853-2A59-433F-8E71-DA959960EFFF}" type="parTrans" cxnId="{9F332993-0A77-494D-8C94-069453AD0708}">
      <dgm:prSet/>
      <dgm:spPr/>
      <dgm:t>
        <a:bodyPr/>
        <a:lstStyle/>
        <a:p>
          <a:endParaRPr lang="en-GB"/>
        </a:p>
      </dgm:t>
    </dgm:pt>
    <dgm:pt modelId="{261AD1E2-0842-4784-BEB0-9780490CCAB0}" type="sibTrans" cxnId="{9F332993-0A77-494D-8C94-069453AD0708}">
      <dgm:prSet/>
      <dgm:spPr/>
      <dgm:t>
        <a:bodyPr/>
        <a:lstStyle/>
        <a:p>
          <a:endParaRPr lang="en-GB"/>
        </a:p>
      </dgm:t>
    </dgm:pt>
    <dgm:pt modelId="{7430A02F-4871-43B0-9B26-C42E176E2542}" type="pres">
      <dgm:prSet presAssocID="{2B17AE79-C535-4914-BC34-7C8F92514AA9}" presName="Name0" presStyleCnt="0">
        <dgm:presLayoutVars>
          <dgm:dir/>
          <dgm:resizeHandles val="exact"/>
        </dgm:presLayoutVars>
      </dgm:prSet>
      <dgm:spPr/>
    </dgm:pt>
    <dgm:pt modelId="{1D8CF3E9-01A4-47FA-A64B-9B51923E8699}" type="pres">
      <dgm:prSet presAssocID="{34C68931-3004-4ED5-B819-5D6BE3C03B3F}" presName="node" presStyleLbl="node1" presStyleIdx="0" presStyleCnt="3">
        <dgm:presLayoutVars>
          <dgm:bulletEnabled val="1"/>
        </dgm:presLayoutVars>
      </dgm:prSet>
      <dgm:spPr/>
    </dgm:pt>
    <dgm:pt modelId="{D3A922DF-7CEE-430C-87DA-E6A9CBD82A9B}" type="pres">
      <dgm:prSet presAssocID="{E62F5C9A-B6FB-4ED8-B09D-A132C7126C86}" presName="sibTrans" presStyleLbl="sibTrans2D1" presStyleIdx="0" presStyleCnt="2"/>
      <dgm:spPr/>
    </dgm:pt>
    <dgm:pt modelId="{5F7AB415-9665-4001-8744-A762DF141A32}" type="pres">
      <dgm:prSet presAssocID="{E62F5C9A-B6FB-4ED8-B09D-A132C7126C86}" presName="connectorText" presStyleLbl="sibTrans2D1" presStyleIdx="0" presStyleCnt="2"/>
      <dgm:spPr/>
    </dgm:pt>
    <dgm:pt modelId="{D8A7C8A7-CB5B-40D1-A405-B25D462C0E33}" type="pres">
      <dgm:prSet presAssocID="{3AB91D44-2A68-4B65-899F-D566EEA1E812}" presName="node" presStyleLbl="node1" presStyleIdx="1" presStyleCnt="3">
        <dgm:presLayoutVars>
          <dgm:bulletEnabled val="1"/>
        </dgm:presLayoutVars>
      </dgm:prSet>
      <dgm:spPr/>
    </dgm:pt>
    <dgm:pt modelId="{A2EFA103-7CFA-4796-8348-9F59C3F452E2}" type="pres">
      <dgm:prSet presAssocID="{DAB28287-C708-4BE2-AA42-732C0611F007}" presName="sibTrans" presStyleLbl="sibTrans2D1" presStyleIdx="1" presStyleCnt="2"/>
      <dgm:spPr/>
    </dgm:pt>
    <dgm:pt modelId="{630317C9-677E-4B44-B096-35E5459EC872}" type="pres">
      <dgm:prSet presAssocID="{DAB28287-C708-4BE2-AA42-732C0611F007}" presName="connectorText" presStyleLbl="sibTrans2D1" presStyleIdx="1" presStyleCnt="2"/>
      <dgm:spPr/>
    </dgm:pt>
    <dgm:pt modelId="{E8D91DA6-19A5-494B-AF7D-933E6101D738}" type="pres">
      <dgm:prSet presAssocID="{D0137FD2-5F31-4A60-A08C-B7B508E9F131}" presName="node" presStyleLbl="node1" presStyleIdx="2" presStyleCnt="3">
        <dgm:presLayoutVars>
          <dgm:bulletEnabled val="1"/>
        </dgm:presLayoutVars>
      </dgm:prSet>
      <dgm:spPr/>
    </dgm:pt>
  </dgm:ptLst>
  <dgm:cxnLst>
    <dgm:cxn modelId="{6629530C-2AF2-44A2-AFF9-5ACCC60D2A47}" type="presOf" srcId="{E62F5C9A-B6FB-4ED8-B09D-A132C7126C86}" destId="{5F7AB415-9665-4001-8744-A762DF141A32}" srcOrd="1" destOrd="0" presId="urn:microsoft.com/office/officeart/2005/8/layout/process1"/>
    <dgm:cxn modelId="{7DB5EB13-4E57-41A0-BB54-2CE7EA2F9417}" type="presOf" srcId="{DAB28287-C708-4BE2-AA42-732C0611F007}" destId="{630317C9-677E-4B44-B096-35E5459EC872}" srcOrd="1" destOrd="0" presId="urn:microsoft.com/office/officeart/2005/8/layout/process1"/>
    <dgm:cxn modelId="{2F977E2D-7130-4FD0-A9D2-5D0D8C495D3C}" srcId="{2B17AE79-C535-4914-BC34-7C8F92514AA9}" destId="{34C68931-3004-4ED5-B819-5D6BE3C03B3F}" srcOrd="0" destOrd="0" parTransId="{22BD5D18-A6DD-4B8C-B2D3-789FF427C276}" sibTransId="{E62F5C9A-B6FB-4ED8-B09D-A132C7126C86}"/>
    <dgm:cxn modelId="{8B341D5C-195F-46C3-A7E9-15753E7D3FB5}" type="presOf" srcId="{34C68931-3004-4ED5-B819-5D6BE3C03B3F}" destId="{1D8CF3E9-01A4-47FA-A64B-9B51923E8699}" srcOrd="0" destOrd="0" presId="urn:microsoft.com/office/officeart/2005/8/layout/process1"/>
    <dgm:cxn modelId="{D896166D-D26B-4F88-9D5A-AA713461456D}" type="presOf" srcId="{D0137FD2-5F31-4A60-A08C-B7B508E9F131}" destId="{E8D91DA6-19A5-494B-AF7D-933E6101D738}" srcOrd="0" destOrd="0" presId="urn:microsoft.com/office/officeart/2005/8/layout/process1"/>
    <dgm:cxn modelId="{59EB8855-683E-4EA3-ACB9-80F2492F464F}" type="presOf" srcId="{2B17AE79-C535-4914-BC34-7C8F92514AA9}" destId="{7430A02F-4871-43B0-9B26-C42E176E2542}" srcOrd="0" destOrd="0" presId="urn:microsoft.com/office/officeart/2005/8/layout/process1"/>
    <dgm:cxn modelId="{E3433C7D-A687-4D98-9008-DFC789ABB459}" type="presOf" srcId="{E62F5C9A-B6FB-4ED8-B09D-A132C7126C86}" destId="{D3A922DF-7CEE-430C-87DA-E6A9CBD82A9B}" srcOrd="0" destOrd="0" presId="urn:microsoft.com/office/officeart/2005/8/layout/process1"/>
    <dgm:cxn modelId="{9F332993-0A77-494D-8C94-069453AD0708}" srcId="{2B17AE79-C535-4914-BC34-7C8F92514AA9}" destId="{D0137FD2-5F31-4A60-A08C-B7B508E9F131}" srcOrd="2" destOrd="0" parTransId="{035B7853-2A59-433F-8E71-DA959960EFFF}" sibTransId="{261AD1E2-0842-4784-BEB0-9780490CCAB0}"/>
    <dgm:cxn modelId="{0FAF0B94-CC59-41A6-8CFC-EDD019C0EAA2}" srcId="{2B17AE79-C535-4914-BC34-7C8F92514AA9}" destId="{3AB91D44-2A68-4B65-899F-D566EEA1E812}" srcOrd="1" destOrd="0" parTransId="{3CF32078-E9A4-4DFB-A877-633D504CE245}" sibTransId="{DAB28287-C708-4BE2-AA42-732C0611F007}"/>
    <dgm:cxn modelId="{9D2587C2-45F7-45C4-AB90-C2BB1A00A7EE}" type="presOf" srcId="{DAB28287-C708-4BE2-AA42-732C0611F007}" destId="{A2EFA103-7CFA-4796-8348-9F59C3F452E2}" srcOrd="0" destOrd="0" presId="urn:microsoft.com/office/officeart/2005/8/layout/process1"/>
    <dgm:cxn modelId="{351468C9-12A0-4491-9FDF-8195AD527E9F}" type="presOf" srcId="{3AB91D44-2A68-4B65-899F-D566EEA1E812}" destId="{D8A7C8A7-CB5B-40D1-A405-B25D462C0E33}" srcOrd="0" destOrd="0" presId="urn:microsoft.com/office/officeart/2005/8/layout/process1"/>
    <dgm:cxn modelId="{8F471571-5C97-43E2-A894-F7CC1683BBF2}" type="presParOf" srcId="{7430A02F-4871-43B0-9B26-C42E176E2542}" destId="{1D8CF3E9-01A4-47FA-A64B-9B51923E8699}" srcOrd="0" destOrd="0" presId="urn:microsoft.com/office/officeart/2005/8/layout/process1"/>
    <dgm:cxn modelId="{BC262E8F-D139-4ED6-AE64-EEFF0F54CA7E}" type="presParOf" srcId="{7430A02F-4871-43B0-9B26-C42E176E2542}" destId="{D3A922DF-7CEE-430C-87DA-E6A9CBD82A9B}" srcOrd="1" destOrd="0" presId="urn:microsoft.com/office/officeart/2005/8/layout/process1"/>
    <dgm:cxn modelId="{CF3E0DA8-B557-4CB9-9BFF-523C66E38C3F}" type="presParOf" srcId="{D3A922DF-7CEE-430C-87DA-E6A9CBD82A9B}" destId="{5F7AB415-9665-4001-8744-A762DF141A32}" srcOrd="0" destOrd="0" presId="urn:microsoft.com/office/officeart/2005/8/layout/process1"/>
    <dgm:cxn modelId="{4A889210-5D01-46A2-AEC8-508CD930E6E0}" type="presParOf" srcId="{7430A02F-4871-43B0-9B26-C42E176E2542}" destId="{D8A7C8A7-CB5B-40D1-A405-B25D462C0E33}" srcOrd="2" destOrd="0" presId="urn:microsoft.com/office/officeart/2005/8/layout/process1"/>
    <dgm:cxn modelId="{B9EEC9B3-7F01-467E-AD6B-6AEC43114FC1}" type="presParOf" srcId="{7430A02F-4871-43B0-9B26-C42E176E2542}" destId="{A2EFA103-7CFA-4796-8348-9F59C3F452E2}" srcOrd="3" destOrd="0" presId="urn:microsoft.com/office/officeart/2005/8/layout/process1"/>
    <dgm:cxn modelId="{6AC156D3-2649-4E87-BB8B-424AE8BB34DD}" type="presParOf" srcId="{A2EFA103-7CFA-4796-8348-9F59C3F452E2}" destId="{630317C9-677E-4B44-B096-35E5459EC872}" srcOrd="0" destOrd="0" presId="urn:microsoft.com/office/officeart/2005/8/layout/process1"/>
    <dgm:cxn modelId="{90A59FC8-C9CB-4F4A-91ED-472FB8F25587}" type="presParOf" srcId="{7430A02F-4871-43B0-9B26-C42E176E2542}" destId="{E8D91DA6-19A5-494B-AF7D-933E6101D73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D2F406-C573-4C3D-999D-7FD2EC539740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771A67-F717-433B-83BD-9CF140C3F6AE}">
      <dgm:prSet/>
      <dgm:spPr/>
      <dgm:t>
        <a:bodyPr/>
        <a:lstStyle/>
        <a:p>
          <a:r>
            <a:rPr lang="en-US" dirty="0"/>
            <a:t>Identify</a:t>
          </a:r>
        </a:p>
      </dgm:t>
    </dgm:pt>
    <dgm:pt modelId="{386C13EE-9C29-4C04-8BA4-CAB03D898CDF}" type="parTrans" cxnId="{A1BBE204-ACCC-483C-A4EE-336BFC5EDCC2}">
      <dgm:prSet/>
      <dgm:spPr/>
      <dgm:t>
        <a:bodyPr/>
        <a:lstStyle/>
        <a:p>
          <a:endParaRPr lang="en-US"/>
        </a:p>
      </dgm:t>
    </dgm:pt>
    <dgm:pt modelId="{DCB78F1D-DDA9-4D32-B3BE-145B173A6E54}" type="sibTrans" cxnId="{A1BBE204-ACCC-483C-A4EE-336BFC5EDCC2}">
      <dgm:prSet/>
      <dgm:spPr/>
      <dgm:t>
        <a:bodyPr/>
        <a:lstStyle/>
        <a:p>
          <a:endParaRPr lang="en-US"/>
        </a:p>
      </dgm:t>
    </dgm:pt>
    <dgm:pt modelId="{A5F4075F-9A7A-410A-ABEE-466C9CB5D245}">
      <dgm:prSet/>
      <dgm:spPr/>
      <dgm:t>
        <a:bodyPr/>
        <a:lstStyle/>
        <a:p>
          <a:r>
            <a:rPr lang="en-US"/>
            <a:t>Identify post-MDT delays</a:t>
          </a:r>
        </a:p>
      </dgm:t>
    </dgm:pt>
    <dgm:pt modelId="{6DEC5189-AEC8-400F-9452-15B39EFFA08D}" type="parTrans" cxnId="{1606A707-6D90-4F55-89D0-2BF87EA8A6E2}">
      <dgm:prSet/>
      <dgm:spPr/>
      <dgm:t>
        <a:bodyPr/>
        <a:lstStyle/>
        <a:p>
          <a:endParaRPr lang="en-US"/>
        </a:p>
      </dgm:t>
    </dgm:pt>
    <dgm:pt modelId="{D126A29C-010F-4328-96A1-410211B015B6}" type="sibTrans" cxnId="{1606A707-6D90-4F55-89D0-2BF87EA8A6E2}">
      <dgm:prSet/>
      <dgm:spPr/>
      <dgm:t>
        <a:bodyPr/>
        <a:lstStyle/>
        <a:p>
          <a:endParaRPr lang="en-US"/>
        </a:p>
      </dgm:t>
    </dgm:pt>
    <dgm:pt modelId="{0A353887-AA1A-4519-8FB4-236893A1A550}">
      <dgm:prSet/>
      <dgm:spPr/>
      <dgm:t>
        <a:bodyPr/>
        <a:lstStyle/>
        <a:p>
          <a:r>
            <a:rPr lang="en-US"/>
            <a:t>Analyse</a:t>
          </a:r>
        </a:p>
      </dgm:t>
    </dgm:pt>
    <dgm:pt modelId="{9D0E6531-B76A-4D2B-8088-1A04889C17B6}" type="parTrans" cxnId="{1C47D34F-A60C-4CC4-8D3A-DBBC4496491F}">
      <dgm:prSet/>
      <dgm:spPr/>
      <dgm:t>
        <a:bodyPr/>
        <a:lstStyle/>
        <a:p>
          <a:endParaRPr lang="en-US"/>
        </a:p>
      </dgm:t>
    </dgm:pt>
    <dgm:pt modelId="{B46A801C-F7DE-4149-9EB5-5C6C96064F51}" type="sibTrans" cxnId="{1C47D34F-A60C-4CC4-8D3A-DBBC4496491F}">
      <dgm:prSet/>
      <dgm:spPr/>
      <dgm:t>
        <a:bodyPr/>
        <a:lstStyle/>
        <a:p>
          <a:endParaRPr lang="en-US"/>
        </a:p>
      </dgm:t>
    </dgm:pt>
    <dgm:pt modelId="{541E0DD2-C62F-4F6B-8172-C9BF9922B88E}">
      <dgm:prSet/>
      <dgm:spPr/>
      <dgm:t>
        <a:bodyPr/>
        <a:lstStyle/>
        <a:p>
          <a:r>
            <a:rPr lang="en-US"/>
            <a:t>Analyse operational factors</a:t>
          </a:r>
        </a:p>
      </dgm:t>
    </dgm:pt>
    <dgm:pt modelId="{B4563643-B909-441A-994A-9177344636C6}" type="parTrans" cxnId="{D1AD5059-4C04-4992-9A06-12B2D358ED82}">
      <dgm:prSet/>
      <dgm:spPr/>
      <dgm:t>
        <a:bodyPr/>
        <a:lstStyle/>
        <a:p>
          <a:endParaRPr lang="en-US"/>
        </a:p>
      </dgm:t>
    </dgm:pt>
    <dgm:pt modelId="{98CA75A1-3C79-45BD-911C-6F55D9D6E3F7}" type="sibTrans" cxnId="{D1AD5059-4C04-4992-9A06-12B2D358ED82}">
      <dgm:prSet/>
      <dgm:spPr/>
      <dgm:t>
        <a:bodyPr/>
        <a:lstStyle/>
        <a:p>
          <a:endParaRPr lang="en-US"/>
        </a:p>
      </dgm:t>
    </dgm:pt>
    <dgm:pt modelId="{65331479-412F-43FB-8AF3-3BB7082D825C}">
      <dgm:prSet/>
      <dgm:spPr/>
      <dgm:t>
        <a:bodyPr/>
        <a:lstStyle/>
        <a:p>
          <a:r>
            <a:rPr lang="en-US"/>
            <a:t>Design</a:t>
          </a:r>
        </a:p>
      </dgm:t>
    </dgm:pt>
    <dgm:pt modelId="{FE7DBEA1-8448-4DCC-ACFF-6DA0868E6B71}" type="parTrans" cxnId="{288ABB9A-4035-4DA4-88EF-7BE97B9D6149}">
      <dgm:prSet/>
      <dgm:spPr/>
      <dgm:t>
        <a:bodyPr/>
        <a:lstStyle/>
        <a:p>
          <a:endParaRPr lang="en-US"/>
        </a:p>
      </dgm:t>
    </dgm:pt>
    <dgm:pt modelId="{3EE73C12-B6CF-4B3E-AC04-4A7966010EDE}" type="sibTrans" cxnId="{288ABB9A-4035-4DA4-88EF-7BE97B9D6149}">
      <dgm:prSet/>
      <dgm:spPr/>
      <dgm:t>
        <a:bodyPr/>
        <a:lstStyle/>
        <a:p>
          <a:endParaRPr lang="en-US"/>
        </a:p>
      </dgm:t>
    </dgm:pt>
    <dgm:pt modelId="{183F7EF7-91D2-4CDA-B70D-3B0F36F484D2}">
      <dgm:prSet/>
      <dgm:spPr/>
      <dgm:t>
        <a:bodyPr/>
        <a:lstStyle/>
        <a:p>
          <a:r>
            <a:rPr lang="en-US"/>
            <a:t>Design integrated data architecture</a:t>
          </a:r>
        </a:p>
      </dgm:t>
    </dgm:pt>
    <dgm:pt modelId="{B55A3CE2-39A8-4F7B-B470-A4257C330ABC}" type="parTrans" cxnId="{77FB2968-FDED-42A8-902C-F339B8E597FA}">
      <dgm:prSet/>
      <dgm:spPr/>
      <dgm:t>
        <a:bodyPr/>
        <a:lstStyle/>
        <a:p>
          <a:endParaRPr lang="en-US"/>
        </a:p>
      </dgm:t>
    </dgm:pt>
    <dgm:pt modelId="{83290AFE-CC15-4064-B18C-443C371B5ACC}" type="sibTrans" cxnId="{77FB2968-FDED-42A8-902C-F339B8E597FA}">
      <dgm:prSet/>
      <dgm:spPr/>
      <dgm:t>
        <a:bodyPr/>
        <a:lstStyle/>
        <a:p>
          <a:endParaRPr lang="en-US"/>
        </a:p>
      </dgm:t>
    </dgm:pt>
    <dgm:pt modelId="{48B4375C-A938-45A8-A421-532BC3F4B7C2}">
      <dgm:prSet/>
      <dgm:spPr/>
      <dgm:t>
        <a:bodyPr/>
        <a:lstStyle/>
        <a:p>
          <a:r>
            <a:rPr lang="en-US"/>
            <a:t>Build</a:t>
          </a:r>
        </a:p>
      </dgm:t>
    </dgm:pt>
    <dgm:pt modelId="{63CA2657-0D4C-4784-ADCD-0BEFFE7B1F8E}" type="parTrans" cxnId="{C5DC843A-81FA-4F35-BBB4-3D6EDCA8BDFA}">
      <dgm:prSet/>
      <dgm:spPr/>
      <dgm:t>
        <a:bodyPr/>
        <a:lstStyle/>
        <a:p>
          <a:endParaRPr lang="en-US"/>
        </a:p>
      </dgm:t>
    </dgm:pt>
    <dgm:pt modelId="{B1D8EB2B-2F13-4697-88FA-E8291C310312}" type="sibTrans" cxnId="{C5DC843A-81FA-4F35-BBB4-3D6EDCA8BDFA}">
      <dgm:prSet/>
      <dgm:spPr/>
      <dgm:t>
        <a:bodyPr/>
        <a:lstStyle/>
        <a:p>
          <a:endParaRPr lang="en-US"/>
        </a:p>
      </dgm:t>
    </dgm:pt>
    <dgm:pt modelId="{D631811B-42E5-4B58-8EFA-D17D77701C29}">
      <dgm:prSet/>
      <dgm:spPr/>
      <dgm:t>
        <a:bodyPr/>
        <a:lstStyle/>
        <a:p>
          <a:r>
            <a:rPr lang="en-US"/>
            <a:t>Build user-centred dashboards</a:t>
          </a:r>
        </a:p>
      </dgm:t>
    </dgm:pt>
    <dgm:pt modelId="{47454134-7A57-401D-BC0D-E0B7D28A031F}" type="parTrans" cxnId="{43CF2104-732C-4BD5-872D-7DC932957E1D}">
      <dgm:prSet/>
      <dgm:spPr/>
      <dgm:t>
        <a:bodyPr/>
        <a:lstStyle/>
        <a:p>
          <a:endParaRPr lang="en-US"/>
        </a:p>
      </dgm:t>
    </dgm:pt>
    <dgm:pt modelId="{FD199434-A9AD-4528-9137-D09A80843442}" type="sibTrans" cxnId="{43CF2104-732C-4BD5-872D-7DC932957E1D}">
      <dgm:prSet/>
      <dgm:spPr/>
      <dgm:t>
        <a:bodyPr/>
        <a:lstStyle/>
        <a:p>
          <a:endParaRPr lang="en-US"/>
        </a:p>
      </dgm:t>
    </dgm:pt>
    <dgm:pt modelId="{AF8F3710-3EC3-49CA-A7C1-91ED96465D0F}">
      <dgm:prSet/>
      <dgm:spPr/>
      <dgm:t>
        <a:bodyPr/>
        <a:lstStyle/>
        <a:p>
          <a:r>
            <a:rPr lang="en-US"/>
            <a:t>Evaluate</a:t>
          </a:r>
        </a:p>
      </dgm:t>
    </dgm:pt>
    <dgm:pt modelId="{A04CC2C0-7737-497E-8DF2-98F09B329580}" type="parTrans" cxnId="{3471100E-B948-4041-9BC5-C797123DF39E}">
      <dgm:prSet/>
      <dgm:spPr/>
      <dgm:t>
        <a:bodyPr/>
        <a:lstStyle/>
        <a:p>
          <a:endParaRPr lang="en-US"/>
        </a:p>
      </dgm:t>
    </dgm:pt>
    <dgm:pt modelId="{FDFDA964-E497-45B4-8363-E7E100039B71}" type="sibTrans" cxnId="{3471100E-B948-4041-9BC5-C797123DF39E}">
      <dgm:prSet/>
      <dgm:spPr/>
      <dgm:t>
        <a:bodyPr/>
        <a:lstStyle/>
        <a:p>
          <a:endParaRPr lang="en-US"/>
        </a:p>
      </dgm:t>
    </dgm:pt>
    <dgm:pt modelId="{1A6D82FC-5EFD-40C3-B922-66DBEC60EA8A}">
      <dgm:prSet/>
      <dgm:spPr/>
      <dgm:t>
        <a:bodyPr/>
        <a:lstStyle/>
        <a:p>
          <a:r>
            <a:rPr lang="en-US"/>
            <a:t>Evaluate usability &amp; utility</a:t>
          </a:r>
        </a:p>
      </dgm:t>
    </dgm:pt>
    <dgm:pt modelId="{55D3C0BE-4022-4E17-B68C-7C4E44F80F56}" type="parTrans" cxnId="{27A603C3-EA03-4BEE-9C41-AB392F064AC3}">
      <dgm:prSet/>
      <dgm:spPr/>
      <dgm:t>
        <a:bodyPr/>
        <a:lstStyle/>
        <a:p>
          <a:endParaRPr lang="en-US"/>
        </a:p>
      </dgm:t>
    </dgm:pt>
    <dgm:pt modelId="{B038C04A-E80B-45BC-8E27-3DF4AAE5D857}" type="sibTrans" cxnId="{27A603C3-EA03-4BEE-9C41-AB392F064AC3}">
      <dgm:prSet/>
      <dgm:spPr/>
      <dgm:t>
        <a:bodyPr/>
        <a:lstStyle/>
        <a:p>
          <a:endParaRPr lang="en-US"/>
        </a:p>
      </dgm:t>
    </dgm:pt>
    <dgm:pt modelId="{78D3841F-5BAA-44C8-B7C4-38F9F56F1DEE}">
      <dgm:prSet/>
      <dgm:spPr/>
      <dgm:t>
        <a:bodyPr/>
        <a:lstStyle/>
        <a:p>
          <a:r>
            <a:rPr lang="en-US"/>
            <a:t>Derive</a:t>
          </a:r>
        </a:p>
      </dgm:t>
    </dgm:pt>
    <dgm:pt modelId="{3AAFE865-EB86-4786-957A-82488A6AAE55}" type="parTrans" cxnId="{84439A6E-28A7-43F9-AB98-A9F9A2D9FD6D}">
      <dgm:prSet/>
      <dgm:spPr/>
      <dgm:t>
        <a:bodyPr/>
        <a:lstStyle/>
        <a:p>
          <a:endParaRPr lang="en-US"/>
        </a:p>
      </dgm:t>
    </dgm:pt>
    <dgm:pt modelId="{D8977DD1-86D5-4EB1-9A33-236CAF0BDA77}" type="sibTrans" cxnId="{84439A6E-28A7-43F9-AB98-A9F9A2D9FD6D}">
      <dgm:prSet/>
      <dgm:spPr/>
      <dgm:t>
        <a:bodyPr/>
        <a:lstStyle/>
        <a:p>
          <a:endParaRPr lang="en-US"/>
        </a:p>
      </dgm:t>
    </dgm:pt>
    <dgm:pt modelId="{6C14E0C0-69FB-4BC6-9FED-767EB10BC848}">
      <dgm:prSet/>
      <dgm:spPr/>
      <dgm:t>
        <a:bodyPr/>
        <a:lstStyle/>
        <a:p>
          <a:r>
            <a:rPr lang="en-US"/>
            <a:t>Derive design principles</a:t>
          </a:r>
        </a:p>
      </dgm:t>
    </dgm:pt>
    <dgm:pt modelId="{BAA913C9-159E-4361-9718-E8E5678BC8E3}" type="parTrans" cxnId="{900FB756-42C0-40BF-BDD2-5BF9EC267F7F}">
      <dgm:prSet/>
      <dgm:spPr/>
      <dgm:t>
        <a:bodyPr/>
        <a:lstStyle/>
        <a:p>
          <a:endParaRPr lang="en-US"/>
        </a:p>
      </dgm:t>
    </dgm:pt>
    <dgm:pt modelId="{2AC3E874-112B-47AA-BE48-32595BA7C215}" type="sibTrans" cxnId="{900FB756-42C0-40BF-BDD2-5BF9EC267F7F}">
      <dgm:prSet/>
      <dgm:spPr/>
      <dgm:t>
        <a:bodyPr/>
        <a:lstStyle/>
        <a:p>
          <a:endParaRPr lang="en-US"/>
        </a:p>
      </dgm:t>
    </dgm:pt>
    <dgm:pt modelId="{84C4748C-68E2-4079-9C33-7C3D26AD0F5E}" type="pres">
      <dgm:prSet presAssocID="{D1D2F406-C573-4C3D-999D-7FD2EC539740}" presName="Name0" presStyleCnt="0">
        <dgm:presLayoutVars>
          <dgm:dir/>
          <dgm:animLvl val="lvl"/>
          <dgm:resizeHandles val="exact"/>
        </dgm:presLayoutVars>
      </dgm:prSet>
      <dgm:spPr/>
    </dgm:pt>
    <dgm:pt modelId="{2EDB5DEF-F0E0-47B4-A466-A4EC91D0FF57}" type="pres">
      <dgm:prSet presAssocID="{78D3841F-5BAA-44C8-B7C4-38F9F56F1DEE}" presName="boxAndChildren" presStyleCnt="0"/>
      <dgm:spPr/>
    </dgm:pt>
    <dgm:pt modelId="{7CCDC2FA-6BC9-4D17-8C7B-D46BCA682B04}" type="pres">
      <dgm:prSet presAssocID="{78D3841F-5BAA-44C8-B7C4-38F9F56F1DEE}" presName="parentTextBox" presStyleLbl="alignNode1" presStyleIdx="0" presStyleCnt="6"/>
      <dgm:spPr/>
    </dgm:pt>
    <dgm:pt modelId="{62DFB027-55C0-4793-8889-5F3B59FD02F0}" type="pres">
      <dgm:prSet presAssocID="{78D3841F-5BAA-44C8-B7C4-38F9F56F1DEE}" presName="descendantBox" presStyleLbl="bgAccFollowNode1" presStyleIdx="0" presStyleCnt="6"/>
      <dgm:spPr/>
    </dgm:pt>
    <dgm:pt modelId="{30195508-E01D-4EF9-BF2A-6171D11EB1B5}" type="pres">
      <dgm:prSet presAssocID="{FDFDA964-E497-45B4-8363-E7E100039B71}" presName="sp" presStyleCnt="0"/>
      <dgm:spPr/>
    </dgm:pt>
    <dgm:pt modelId="{E4844444-D85A-40F6-8532-15D5F18548AA}" type="pres">
      <dgm:prSet presAssocID="{AF8F3710-3EC3-49CA-A7C1-91ED96465D0F}" presName="arrowAndChildren" presStyleCnt="0"/>
      <dgm:spPr/>
    </dgm:pt>
    <dgm:pt modelId="{126C9B35-3B56-4BF0-A7DB-E58D63B805B0}" type="pres">
      <dgm:prSet presAssocID="{AF8F3710-3EC3-49CA-A7C1-91ED96465D0F}" presName="parentTextArrow" presStyleLbl="node1" presStyleIdx="0" presStyleCnt="0"/>
      <dgm:spPr/>
    </dgm:pt>
    <dgm:pt modelId="{C37EA96B-2EE6-470E-80D2-FA8A1AF42439}" type="pres">
      <dgm:prSet presAssocID="{AF8F3710-3EC3-49CA-A7C1-91ED96465D0F}" presName="arrow" presStyleLbl="alignNode1" presStyleIdx="1" presStyleCnt="6"/>
      <dgm:spPr/>
    </dgm:pt>
    <dgm:pt modelId="{28AE8682-FAD5-4C57-AEA8-C32EB1EB93FD}" type="pres">
      <dgm:prSet presAssocID="{AF8F3710-3EC3-49CA-A7C1-91ED96465D0F}" presName="descendantArrow" presStyleLbl="bgAccFollowNode1" presStyleIdx="1" presStyleCnt="6"/>
      <dgm:spPr/>
    </dgm:pt>
    <dgm:pt modelId="{9C7689BB-587C-4996-99D3-76F50A1BCDE0}" type="pres">
      <dgm:prSet presAssocID="{B1D8EB2B-2F13-4697-88FA-E8291C310312}" presName="sp" presStyleCnt="0"/>
      <dgm:spPr/>
    </dgm:pt>
    <dgm:pt modelId="{DA2C393E-F7DD-40F0-9ECE-82DE7D19366A}" type="pres">
      <dgm:prSet presAssocID="{48B4375C-A938-45A8-A421-532BC3F4B7C2}" presName="arrowAndChildren" presStyleCnt="0"/>
      <dgm:spPr/>
    </dgm:pt>
    <dgm:pt modelId="{35E3575B-7E5F-49F7-B38A-43E32FEE292F}" type="pres">
      <dgm:prSet presAssocID="{48B4375C-A938-45A8-A421-532BC3F4B7C2}" presName="parentTextArrow" presStyleLbl="node1" presStyleIdx="0" presStyleCnt="0"/>
      <dgm:spPr/>
    </dgm:pt>
    <dgm:pt modelId="{D204E4AC-099F-4E21-A18A-E5061E416708}" type="pres">
      <dgm:prSet presAssocID="{48B4375C-A938-45A8-A421-532BC3F4B7C2}" presName="arrow" presStyleLbl="alignNode1" presStyleIdx="2" presStyleCnt="6"/>
      <dgm:spPr/>
    </dgm:pt>
    <dgm:pt modelId="{9694E9C7-25AF-44FE-AC8E-F2F8150F1D57}" type="pres">
      <dgm:prSet presAssocID="{48B4375C-A938-45A8-A421-532BC3F4B7C2}" presName="descendantArrow" presStyleLbl="bgAccFollowNode1" presStyleIdx="2" presStyleCnt="6"/>
      <dgm:spPr/>
    </dgm:pt>
    <dgm:pt modelId="{9A5E1745-1C04-447F-A804-5C35EF8A7C61}" type="pres">
      <dgm:prSet presAssocID="{3EE73C12-B6CF-4B3E-AC04-4A7966010EDE}" presName="sp" presStyleCnt="0"/>
      <dgm:spPr/>
    </dgm:pt>
    <dgm:pt modelId="{38A62A81-71EF-42BA-A571-6F2C4323644C}" type="pres">
      <dgm:prSet presAssocID="{65331479-412F-43FB-8AF3-3BB7082D825C}" presName="arrowAndChildren" presStyleCnt="0"/>
      <dgm:spPr/>
    </dgm:pt>
    <dgm:pt modelId="{30C446BF-BAFF-4005-9FB4-4DB51A609DFC}" type="pres">
      <dgm:prSet presAssocID="{65331479-412F-43FB-8AF3-3BB7082D825C}" presName="parentTextArrow" presStyleLbl="node1" presStyleIdx="0" presStyleCnt="0"/>
      <dgm:spPr/>
    </dgm:pt>
    <dgm:pt modelId="{7AD7E114-97FA-48B2-8E03-0AF8FF828D58}" type="pres">
      <dgm:prSet presAssocID="{65331479-412F-43FB-8AF3-3BB7082D825C}" presName="arrow" presStyleLbl="alignNode1" presStyleIdx="3" presStyleCnt="6"/>
      <dgm:spPr/>
    </dgm:pt>
    <dgm:pt modelId="{64B28F46-A994-416D-9576-30D7A4F1A23F}" type="pres">
      <dgm:prSet presAssocID="{65331479-412F-43FB-8AF3-3BB7082D825C}" presName="descendantArrow" presStyleLbl="bgAccFollowNode1" presStyleIdx="3" presStyleCnt="6"/>
      <dgm:spPr/>
    </dgm:pt>
    <dgm:pt modelId="{8B74FED0-0BC5-41A6-AF8A-58C55336B23A}" type="pres">
      <dgm:prSet presAssocID="{B46A801C-F7DE-4149-9EB5-5C6C96064F51}" presName="sp" presStyleCnt="0"/>
      <dgm:spPr/>
    </dgm:pt>
    <dgm:pt modelId="{CBB8A804-6411-4786-9D34-6677044D25A1}" type="pres">
      <dgm:prSet presAssocID="{0A353887-AA1A-4519-8FB4-236893A1A550}" presName="arrowAndChildren" presStyleCnt="0"/>
      <dgm:spPr/>
    </dgm:pt>
    <dgm:pt modelId="{2EA32351-D445-4E84-82DB-3309FF7B3D2D}" type="pres">
      <dgm:prSet presAssocID="{0A353887-AA1A-4519-8FB4-236893A1A550}" presName="parentTextArrow" presStyleLbl="node1" presStyleIdx="0" presStyleCnt="0"/>
      <dgm:spPr/>
    </dgm:pt>
    <dgm:pt modelId="{F380B1CC-269C-491F-9B90-0293F8CE17EB}" type="pres">
      <dgm:prSet presAssocID="{0A353887-AA1A-4519-8FB4-236893A1A550}" presName="arrow" presStyleLbl="alignNode1" presStyleIdx="4" presStyleCnt="6"/>
      <dgm:spPr/>
    </dgm:pt>
    <dgm:pt modelId="{D80AA639-5318-45E0-A0AD-96E4027217F8}" type="pres">
      <dgm:prSet presAssocID="{0A353887-AA1A-4519-8FB4-236893A1A550}" presName="descendantArrow" presStyleLbl="bgAccFollowNode1" presStyleIdx="4" presStyleCnt="6"/>
      <dgm:spPr/>
    </dgm:pt>
    <dgm:pt modelId="{CE140CFA-1B54-4475-A93C-022A8EA58407}" type="pres">
      <dgm:prSet presAssocID="{DCB78F1D-DDA9-4D32-B3BE-145B173A6E54}" presName="sp" presStyleCnt="0"/>
      <dgm:spPr/>
    </dgm:pt>
    <dgm:pt modelId="{D12749F6-760F-41E2-9FA4-A7C9118D534F}" type="pres">
      <dgm:prSet presAssocID="{97771A67-F717-433B-83BD-9CF140C3F6AE}" presName="arrowAndChildren" presStyleCnt="0"/>
      <dgm:spPr/>
    </dgm:pt>
    <dgm:pt modelId="{2A388E42-92B5-484E-8813-7207811E7028}" type="pres">
      <dgm:prSet presAssocID="{97771A67-F717-433B-83BD-9CF140C3F6AE}" presName="parentTextArrow" presStyleLbl="node1" presStyleIdx="0" presStyleCnt="0"/>
      <dgm:spPr/>
    </dgm:pt>
    <dgm:pt modelId="{6AD795A6-B95E-4506-B8E0-06CC34E0016C}" type="pres">
      <dgm:prSet presAssocID="{97771A67-F717-433B-83BD-9CF140C3F6AE}" presName="arrow" presStyleLbl="alignNode1" presStyleIdx="5" presStyleCnt="6"/>
      <dgm:spPr/>
    </dgm:pt>
    <dgm:pt modelId="{13FFB56F-F589-433D-9E82-D6C7CFB40CC6}" type="pres">
      <dgm:prSet presAssocID="{97771A67-F717-433B-83BD-9CF140C3F6AE}" presName="descendantArrow" presStyleLbl="bgAccFollowNode1" presStyleIdx="5" presStyleCnt="6"/>
      <dgm:spPr/>
    </dgm:pt>
  </dgm:ptLst>
  <dgm:cxnLst>
    <dgm:cxn modelId="{43CF2104-732C-4BD5-872D-7DC932957E1D}" srcId="{48B4375C-A938-45A8-A421-532BC3F4B7C2}" destId="{D631811B-42E5-4B58-8EFA-D17D77701C29}" srcOrd="0" destOrd="0" parTransId="{47454134-7A57-401D-BC0D-E0B7D28A031F}" sibTransId="{FD199434-A9AD-4528-9137-D09A80843442}"/>
    <dgm:cxn modelId="{A1BBE204-ACCC-483C-A4EE-336BFC5EDCC2}" srcId="{D1D2F406-C573-4C3D-999D-7FD2EC539740}" destId="{97771A67-F717-433B-83BD-9CF140C3F6AE}" srcOrd="0" destOrd="0" parTransId="{386C13EE-9C29-4C04-8BA4-CAB03D898CDF}" sibTransId="{DCB78F1D-DDA9-4D32-B3BE-145B173A6E54}"/>
    <dgm:cxn modelId="{1606A707-6D90-4F55-89D0-2BF87EA8A6E2}" srcId="{97771A67-F717-433B-83BD-9CF140C3F6AE}" destId="{A5F4075F-9A7A-410A-ABEE-466C9CB5D245}" srcOrd="0" destOrd="0" parTransId="{6DEC5189-AEC8-400F-9452-15B39EFFA08D}" sibTransId="{D126A29C-010F-4328-96A1-410211B015B6}"/>
    <dgm:cxn modelId="{F27B880C-49BF-42A7-B0BD-0C8A1DB1FDCD}" type="presOf" srcId="{97771A67-F717-433B-83BD-9CF140C3F6AE}" destId="{6AD795A6-B95E-4506-B8E0-06CC34E0016C}" srcOrd="1" destOrd="0" presId="urn:microsoft.com/office/officeart/2016/7/layout/VerticalDownArrowProcess"/>
    <dgm:cxn modelId="{3471100E-B948-4041-9BC5-C797123DF39E}" srcId="{D1D2F406-C573-4C3D-999D-7FD2EC539740}" destId="{AF8F3710-3EC3-49CA-A7C1-91ED96465D0F}" srcOrd="4" destOrd="0" parTransId="{A04CC2C0-7737-497E-8DF2-98F09B329580}" sibTransId="{FDFDA964-E497-45B4-8363-E7E100039B71}"/>
    <dgm:cxn modelId="{0E8B8C11-817F-40F7-BFD6-C34CDC8C18D7}" type="presOf" srcId="{97771A67-F717-433B-83BD-9CF140C3F6AE}" destId="{2A388E42-92B5-484E-8813-7207811E7028}" srcOrd="0" destOrd="0" presId="urn:microsoft.com/office/officeart/2016/7/layout/VerticalDownArrowProcess"/>
    <dgm:cxn modelId="{8627431F-A3CD-487B-9176-B1442DDE2BBE}" type="presOf" srcId="{A5F4075F-9A7A-410A-ABEE-466C9CB5D245}" destId="{13FFB56F-F589-433D-9E82-D6C7CFB40CC6}" srcOrd="0" destOrd="0" presId="urn:microsoft.com/office/officeart/2016/7/layout/VerticalDownArrowProcess"/>
    <dgm:cxn modelId="{E4F83424-A1B3-4DE8-B696-73179D2CD5C3}" type="presOf" srcId="{48B4375C-A938-45A8-A421-532BC3F4B7C2}" destId="{D204E4AC-099F-4E21-A18A-E5061E416708}" srcOrd="1" destOrd="0" presId="urn:microsoft.com/office/officeart/2016/7/layout/VerticalDownArrowProcess"/>
    <dgm:cxn modelId="{C2BB9024-B752-4DD3-BB42-B28D9CE50BDD}" type="presOf" srcId="{541E0DD2-C62F-4F6B-8172-C9BF9922B88E}" destId="{D80AA639-5318-45E0-A0AD-96E4027217F8}" srcOrd="0" destOrd="0" presId="urn:microsoft.com/office/officeart/2016/7/layout/VerticalDownArrowProcess"/>
    <dgm:cxn modelId="{0D34CC39-C1A7-4B2C-BF29-B0ECA1B6351D}" type="presOf" srcId="{0A353887-AA1A-4519-8FB4-236893A1A550}" destId="{F380B1CC-269C-491F-9B90-0293F8CE17EB}" srcOrd="1" destOrd="0" presId="urn:microsoft.com/office/officeart/2016/7/layout/VerticalDownArrowProcess"/>
    <dgm:cxn modelId="{C5DC843A-81FA-4F35-BBB4-3D6EDCA8BDFA}" srcId="{D1D2F406-C573-4C3D-999D-7FD2EC539740}" destId="{48B4375C-A938-45A8-A421-532BC3F4B7C2}" srcOrd="3" destOrd="0" parTransId="{63CA2657-0D4C-4784-ADCD-0BEFFE7B1F8E}" sibTransId="{B1D8EB2B-2F13-4697-88FA-E8291C310312}"/>
    <dgm:cxn modelId="{092FE33A-18FB-48D4-BF65-EAA77C6521C8}" type="presOf" srcId="{6C14E0C0-69FB-4BC6-9FED-767EB10BC848}" destId="{62DFB027-55C0-4793-8889-5F3B59FD02F0}" srcOrd="0" destOrd="0" presId="urn:microsoft.com/office/officeart/2016/7/layout/VerticalDownArrowProcess"/>
    <dgm:cxn modelId="{D46DBF61-A815-433F-94AD-D6248BF74D38}" type="presOf" srcId="{AF8F3710-3EC3-49CA-A7C1-91ED96465D0F}" destId="{C37EA96B-2EE6-470E-80D2-FA8A1AF42439}" srcOrd="1" destOrd="0" presId="urn:microsoft.com/office/officeart/2016/7/layout/VerticalDownArrowProcess"/>
    <dgm:cxn modelId="{0E0E2164-F8A0-4EB0-9816-F41173B48CA4}" type="presOf" srcId="{1A6D82FC-5EFD-40C3-B922-66DBEC60EA8A}" destId="{28AE8682-FAD5-4C57-AEA8-C32EB1EB93FD}" srcOrd="0" destOrd="0" presId="urn:microsoft.com/office/officeart/2016/7/layout/VerticalDownArrowProcess"/>
    <dgm:cxn modelId="{50170D46-1FAA-43A3-9BF4-39FC1A74D603}" type="presOf" srcId="{48B4375C-A938-45A8-A421-532BC3F4B7C2}" destId="{35E3575B-7E5F-49F7-B38A-43E32FEE292F}" srcOrd="0" destOrd="0" presId="urn:microsoft.com/office/officeart/2016/7/layout/VerticalDownArrowProcess"/>
    <dgm:cxn modelId="{77FB2968-FDED-42A8-902C-F339B8E597FA}" srcId="{65331479-412F-43FB-8AF3-3BB7082D825C}" destId="{183F7EF7-91D2-4CDA-B70D-3B0F36F484D2}" srcOrd="0" destOrd="0" parTransId="{B55A3CE2-39A8-4F7B-B470-A4257C330ABC}" sibTransId="{83290AFE-CC15-4064-B18C-443C371B5ACC}"/>
    <dgm:cxn modelId="{84439A6E-28A7-43F9-AB98-A9F9A2D9FD6D}" srcId="{D1D2F406-C573-4C3D-999D-7FD2EC539740}" destId="{78D3841F-5BAA-44C8-B7C4-38F9F56F1DEE}" srcOrd="5" destOrd="0" parTransId="{3AAFE865-EB86-4786-957A-82488A6AAE55}" sibTransId="{D8977DD1-86D5-4EB1-9A33-236CAF0BDA77}"/>
    <dgm:cxn modelId="{1C47D34F-A60C-4CC4-8D3A-DBBC4496491F}" srcId="{D1D2F406-C573-4C3D-999D-7FD2EC539740}" destId="{0A353887-AA1A-4519-8FB4-236893A1A550}" srcOrd="1" destOrd="0" parTransId="{9D0E6531-B76A-4D2B-8088-1A04889C17B6}" sibTransId="{B46A801C-F7DE-4149-9EB5-5C6C96064F51}"/>
    <dgm:cxn modelId="{78A15374-4D73-486D-BAE1-735C191EB95B}" type="presOf" srcId="{D631811B-42E5-4B58-8EFA-D17D77701C29}" destId="{9694E9C7-25AF-44FE-AC8E-F2F8150F1D57}" srcOrd="0" destOrd="0" presId="urn:microsoft.com/office/officeart/2016/7/layout/VerticalDownArrowProcess"/>
    <dgm:cxn modelId="{900FB756-42C0-40BF-BDD2-5BF9EC267F7F}" srcId="{78D3841F-5BAA-44C8-B7C4-38F9F56F1DEE}" destId="{6C14E0C0-69FB-4BC6-9FED-767EB10BC848}" srcOrd="0" destOrd="0" parTransId="{BAA913C9-159E-4361-9718-E8E5678BC8E3}" sibTransId="{2AC3E874-112B-47AA-BE48-32595BA7C215}"/>
    <dgm:cxn modelId="{D1AD5059-4C04-4992-9A06-12B2D358ED82}" srcId="{0A353887-AA1A-4519-8FB4-236893A1A550}" destId="{541E0DD2-C62F-4F6B-8172-C9BF9922B88E}" srcOrd="0" destOrd="0" parTransId="{B4563643-B909-441A-994A-9177344636C6}" sibTransId="{98CA75A1-3C79-45BD-911C-6F55D9D6E3F7}"/>
    <dgm:cxn modelId="{A8B71E7D-5502-47FE-81E3-D3DF10EA0012}" type="presOf" srcId="{65331479-412F-43FB-8AF3-3BB7082D825C}" destId="{30C446BF-BAFF-4005-9FB4-4DB51A609DFC}" srcOrd="0" destOrd="0" presId="urn:microsoft.com/office/officeart/2016/7/layout/VerticalDownArrowProcess"/>
    <dgm:cxn modelId="{7FBE5892-54F5-4A6F-A5F6-CA363A61B315}" type="presOf" srcId="{AF8F3710-3EC3-49CA-A7C1-91ED96465D0F}" destId="{126C9B35-3B56-4BF0-A7DB-E58D63B805B0}" srcOrd="0" destOrd="0" presId="urn:microsoft.com/office/officeart/2016/7/layout/VerticalDownArrowProcess"/>
    <dgm:cxn modelId="{22B48B94-AA14-4842-90F2-C3F957CFA40E}" type="presOf" srcId="{0A353887-AA1A-4519-8FB4-236893A1A550}" destId="{2EA32351-D445-4E84-82DB-3309FF7B3D2D}" srcOrd="0" destOrd="0" presId="urn:microsoft.com/office/officeart/2016/7/layout/VerticalDownArrowProcess"/>
    <dgm:cxn modelId="{288ABB9A-4035-4DA4-88EF-7BE97B9D6149}" srcId="{D1D2F406-C573-4C3D-999D-7FD2EC539740}" destId="{65331479-412F-43FB-8AF3-3BB7082D825C}" srcOrd="2" destOrd="0" parTransId="{FE7DBEA1-8448-4DCC-ACFF-6DA0868E6B71}" sibTransId="{3EE73C12-B6CF-4B3E-AC04-4A7966010EDE}"/>
    <dgm:cxn modelId="{AF5F85A0-1DB4-483E-B269-B6120E3F1ED6}" type="presOf" srcId="{65331479-412F-43FB-8AF3-3BB7082D825C}" destId="{7AD7E114-97FA-48B2-8E03-0AF8FF828D58}" srcOrd="1" destOrd="0" presId="urn:microsoft.com/office/officeart/2016/7/layout/VerticalDownArrowProcess"/>
    <dgm:cxn modelId="{6B50B8B3-FB86-4E15-8F0C-FFCE26C16462}" type="presOf" srcId="{D1D2F406-C573-4C3D-999D-7FD2EC539740}" destId="{84C4748C-68E2-4079-9C33-7C3D26AD0F5E}" srcOrd="0" destOrd="0" presId="urn:microsoft.com/office/officeart/2016/7/layout/VerticalDownArrowProcess"/>
    <dgm:cxn modelId="{27A603C3-EA03-4BEE-9C41-AB392F064AC3}" srcId="{AF8F3710-3EC3-49CA-A7C1-91ED96465D0F}" destId="{1A6D82FC-5EFD-40C3-B922-66DBEC60EA8A}" srcOrd="0" destOrd="0" parTransId="{55D3C0BE-4022-4E17-B68C-7C4E44F80F56}" sibTransId="{B038C04A-E80B-45BC-8E27-3DF4AAE5D857}"/>
    <dgm:cxn modelId="{D6E49CD2-7860-4EC1-B24E-35AF25A599E6}" type="presOf" srcId="{183F7EF7-91D2-4CDA-B70D-3B0F36F484D2}" destId="{64B28F46-A994-416D-9576-30D7A4F1A23F}" srcOrd="0" destOrd="0" presId="urn:microsoft.com/office/officeart/2016/7/layout/VerticalDownArrowProcess"/>
    <dgm:cxn modelId="{C2B516E6-D092-4DF9-81B7-B0DBB860234E}" type="presOf" srcId="{78D3841F-5BAA-44C8-B7C4-38F9F56F1DEE}" destId="{7CCDC2FA-6BC9-4D17-8C7B-D46BCA682B04}" srcOrd="0" destOrd="0" presId="urn:microsoft.com/office/officeart/2016/7/layout/VerticalDownArrowProcess"/>
    <dgm:cxn modelId="{4FDF7C4E-FD59-4AB8-ABB1-C43E77159782}" type="presParOf" srcId="{84C4748C-68E2-4079-9C33-7C3D26AD0F5E}" destId="{2EDB5DEF-F0E0-47B4-A466-A4EC91D0FF57}" srcOrd="0" destOrd="0" presId="urn:microsoft.com/office/officeart/2016/7/layout/VerticalDownArrowProcess"/>
    <dgm:cxn modelId="{AFF8E4A0-70F3-4E04-B2F5-D943BDCE5147}" type="presParOf" srcId="{2EDB5DEF-F0E0-47B4-A466-A4EC91D0FF57}" destId="{7CCDC2FA-6BC9-4D17-8C7B-D46BCA682B04}" srcOrd="0" destOrd="0" presId="urn:microsoft.com/office/officeart/2016/7/layout/VerticalDownArrowProcess"/>
    <dgm:cxn modelId="{C93BF065-B0F2-493D-9F8F-9ACEC44B1A0B}" type="presParOf" srcId="{2EDB5DEF-F0E0-47B4-A466-A4EC91D0FF57}" destId="{62DFB027-55C0-4793-8889-5F3B59FD02F0}" srcOrd="1" destOrd="0" presId="urn:microsoft.com/office/officeart/2016/7/layout/VerticalDownArrowProcess"/>
    <dgm:cxn modelId="{3DDFCD1C-86DA-42BF-BD2D-78A3B1620917}" type="presParOf" srcId="{84C4748C-68E2-4079-9C33-7C3D26AD0F5E}" destId="{30195508-E01D-4EF9-BF2A-6171D11EB1B5}" srcOrd="1" destOrd="0" presId="urn:microsoft.com/office/officeart/2016/7/layout/VerticalDownArrowProcess"/>
    <dgm:cxn modelId="{905FF0CE-7B55-4C2F-9767-EEC514532ABF}" type="presParOf" srcId="{84C4748C-68E2-4079-9C33-7C3D26AD0F5E}" destId="{E4844444-D85A-40F6-8532-15D5F18548AA}" srcOrd="2" destOrd="0" presId="urn:microsoft.com/office/officeart/2016/7/layout/VerticalDownArrowProcess"/>
    <dgm:cxn modelId="{0FEFC66C-31AD-4A65-B8E6-69DED7C2903D}" type="presParOf" srcId="{E4844444-D85A-40F6-8532-15D5F18548AA}" destId="{126C9B35-3B56-4BF0-A7DB-E58D63B805B0}" srcOrd="0" destOrd="0" presId="urn:microsoft.com/office/officeart/2016/7/layout/VerticalDownArrowProcess"/>
    <dgm:cxn modelId="{DEFA5BA9-7597-467E-8013-A1AF8B4544E4}" type="presParOf" srcId="{E4844444-D85A-40F6-8532-15D5F18548AA}" destId="{C37EA96B-2EE6-470E-80D2-FA8A1AF42439}" srcOrd="1" destOrd="0" presId="urn:microsoft.com/office/officeart/2016/7/layout/VerticalDownArrowProcess"/>
    <dgm:cxn modelId="{BCA20B4E-5DB1-42AD-8036-00C4CAC447D7}" type="presParOf" srcId="{E4844444-D85A-40F6-8532-15D5F18548AA}" destId="{28AE8682-FAD5-4C57-AEA8-C32EB1EB93FD}" srcOrd="2" destOrd="0" presId="urn:microsoft.com/office/officeart/2016/7/layout/VerticalDownArrowProcess"/>
    <dgm:cxn modelId="{313AFA2A-1356-411D-805A-80A16D0B26C7}" type="presParOf" srcId="{84C4748C-68E2-4079-9C33-7C3D26AD0F5E}" destId="{9C7689BB-587C-4996-99D3-76F50A1BCDE0}" srcOrd="3" destOrd="0" presId="urn:microsoft.com/office/officeart/2016/7/layout/VerticalDownArrowProcess"/>
    <dgm:cxn modelId="{521CB9F9-1407-4AA3-8095-C3D0612FDFAB}" type="presParOf" srcId="{84C4748C-68E2-4079-9C33-7C3D26AD0F5E}" destId="{DA2C393E-F7DD-40F0-9ECE-82DE7D19366A}" srcOrd="4" destOrd="0" presId="urn:microsoft.com/office/officeart/2016/7/layout/VerticalDownArrowProcess"/>
    <dgm:cxn modelId="{7CD7723C-58BE-4BE0-A45F-D480EAFC410C}" type="presParOf" srcId="{DA2C393E-F7DD-40F0-9ECE-82DE7D19366A}" destId="{35E3575B-7E5F-49F7-B38A-43E32FEE292F}" srcOrd="0" destOrd="0" presId="urn:microsoft.com/office/officeart/2016/7/layout/VerticalDownArrowProcess"/>
    <dgm:cxn modelId="{77BE5AF9-300F-4844-A25A-E95A332F2242}" type="presParOf" srcId="{DA2C393E-F7DD-40F0-9ECE-82DE7D19366A}" destId="{D204E4AC-099F-4E21-A18A-E5061E416708}" srcOrd="1" destOrd="0" presId="urn:microsoft.com/office/officeart/2016/7/layout/VerticalDownArrowProcess"/>
    <dgm:cxn modelId="{E20AEF52-FD1C-4A98-900D-6D5CB4E566B6}" type="presParOf" srcId="{DA2C393E-F7DD-40F0-9ECE-82DE7D19366A}" destId="{9694E9C7-25AF-44FE-AC8E-F2F8150F1D57}" srcOrd="2" destOrd="0" presId="urn:microsoft.com/office/officeart/2016/7/layout/VerticalDownArrowProcess"/>
    <dgm:cxn modelId="{2F8C04B3-215B-4077-A9D0-52A35F93C696}" type="presParOf" srcId="{84C4748C-68E2-4079-9C33-7C3D26AD0F5E}" destId="{9A5E1745-1C04-447F-A804-5C35EF8A7C61}" srcOrd="5" destOrd="0" presId="urn:microsoft.com/office/officeart/2016/7/layout/VerticalDownArrowProcess"/>
    <dgm:cxn modelId="{00885201-A96C-4F70-A766-CA3B777855DE}" type="presParOf" srcId="{84C4748C-68E2-4079-9C33-7C3D26AD0F5E}" destId="{38A62A81-71EF-42BA-A571-6F2C4323644C}" srcOrd="6" destOrd="0" presId="urn:microsoft.com/office/officeart/2016/7/layout/VerticalDownArrowProcess"/>
    <dgm:cxn modelId="{6834BA0E-8581-4D47-92B5-B550B60B79AA}" type="presParOf" srcId="{38A62A81-71EF-42BA-A571-6F2C4323644C}" destId="{30C446BF-BAFF-4005-9FB4-4DB51A609DFC}" srcOrd="0" destOrd="0" presId="urn:microsoft.com/office/officeart/2016/7/layout/VerticalDownArrowProcess"/>
    <dgm:cxn modelId="{A014C3B3-90AB-4820-8721-53B290954DFD}" type="presParOf" srcId="{38A62A81-71EF-42BA-A571-6F2C4323644C}" destId="{7AD7E114-97FA-48B2-8E03-0AF8FF828D58}" srcOrd="1" destOrd="0" presId="urn:microsoft.com/office/officeart/2016/7/layout/VerticalDownArrowProcess"/>
    <dgm:cxn modelId="{380FB1E9-BB79-482C-A527-EFD3ADDA26A1}" type="presParOf" srcId="{38A62A81-71EF-42BA-A571-6F2C4323644C}" destId="{64B28F46-A994-416D-9576-30D7A4F1A23F}" srcOrd="2" destOrd="0" presId="urn:microsoft.com/office/officeart/2016/7/layout/VerticalDownArrowProcess"/>
    <dgm:cxn modelId="{2932A6E7-8673-43EE-98D9-7BFC3347E205}" type="presParOf" srcId="{84C4748C-68E2-4079-9C33-7C3D26AD0F5E}" destId="{8B74FED0-0BC5-41A6-AF8A-58C55336B23A}" srcOrd="7" destOrd="0" presId="urn:microsoft.com/office/officeart/2016/7/layout/VerticalDownArrowProcess"/>
    <dgm:cxn modelId="{C6080A40-6CB7-4502-ACD7-5396DC56EE8B}" type="presParOf" srcId="{84C4748C-68E2-4079-9C33-7C3D26AD0F5E}" destId="{CBB8A804-6411-4786-9D34-6677044D25A1}" srcOrd="8" destOrd="0" presId="urn:microsoft.com/office/officeart/2016/7/layout/VerticalDownArrowProcess"/>
    <dgm:cxn modelId="{53B4F8AC-9BC9-4290-9D86-4402E6942E15}" type="presParOf" srcId="{CBB8A804-6411-4786-9D34-6677044D25A1}" destId="{2EA32351-D445-4E84-82DB-3309FF7B3D2D}" srcOrd="0" destOrd="0" presId="urn:microsoft.com/office/officeart/2016/7/layout/VerticalDownArrowProcess"/>
    <dgm:cxn modelId="{DBC3AC7F-A1F2-4E12-BE2A-74B76075F4AA}" type="presParOf" srcId="{CBB8A804-6411-4786-9D34-6677044D25A1}" destId="{F380B1CC-269C-491F-9B90-0293F8CE17EB}" srcOrd="1" destOrd="0" presId="urn:microsoft.com/office/officeart/2016/7/layout/VerticalDownArrowProcess"/>
    <dgm:cxn modelId="{9AD94FFC-7471-4F21-8199-1FEDB14F0147}" type="presParOf" srcId="{CBB8A804-6411-4786-9D34-6677044D25A1}" destId="{D80AA639-5318-45E0-A0AD-96E4027217F8}" srcOrd="2" destOrd="0" presId="urn:microsoft.com/office/officeart/2016/7/layout/VerticalDownArrowProcess"/>
    <dgm:cxn modelId="{576EE8E5-B4D6-494E-BBDA-B04F344CDCE8}" type="presParOf" srcId="{84C4748C-68E2-4079-9C33-7C3D26AD0F5E}" destId="{CE140CFA-1B54-4475-A93C-022A8EA58407}" srcOrd="9" destOrd="0" presId="urn:microsoft.com/office/officeart/2016/7/layout/VerticalDownArrowProcess"/>
    <dgm:cxn modelId="{BB9BD15B-5E78-44F8-87C4-AE49C1F78014}" type="presParOf" srcId="{84C4748C-68E2-4079-9C33-7C3D26AD0F5E}" destId="{D12749F6-760F-41E2-9FA4-A7C9118D534F}" srcOrd="10" destOrd="0" presId="urn:microsoft.com/office/officeart/2016/7/layout/VerticalDownArrowProcess"/>
    <dgm:cxn modelId="{52A3DAFB-658A-4828-9680-4EA1FACE7EB7}" type="presParOf" srcId="{D12749F6-760F-41E2-9FA4-A7C9118D534F}" destId="{2A388E42-92B5-484E-8813-7207811E7028}" srcOrd="0" destOrd="0" presId="urn:microsoft.com/office/officeart/2016/7/layout/VerticalDownArrowProcess"/>
    <dgm:cxn modelId="{9DB96A70-F17C-4C91-A3E0-FC637D8C5E2F}" type="presParOf" srcId="{D12749F6-760F-41E2-9FA4-A7C9118D534F}" destId="{6AD795A6-B95E-4506-B8E0-06CC34E0016C}" srcOrd="1" destOrd="0" presId="urn:microsoft.com/office/officeart/2016/7/layout/VerticalDownArrowProcess"/>
    <dgm:cxn modelId="{8D9F6C5E-8061-4759-8A6B-D6C8CE6968C3}" type="presParOf" srcId="{D12749F6-760F-41E2-9FA4-A7C9118D534F}" destId="{13FFB56F-F589-433D-9E82-D6C7CFB40CC6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2878D1-FA5D-408A-BBCC-03DB2A701A87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C8F82B4-CCF1-4454-9FC2-F26CBFF74C5D}">
      <dgm:prSet/>
      <dgm:spPr/>
      <dgm:t>
        <a:bodyPr/>
        <a:lstStyle/>
        <a:p>
          <a:r>
            <a:rPr lang="en-GB"/>
            <a:t>Surface breach risks early</a:t>
          </a:r>
          <a:endParaRPr lang="en-US"/>
        </a:p>
      </dgm:t>
    </dgm:pt>
    <dgm:pt modelId="{A17F1046-F663-468F-9F2D-95CBED7FF9E1}" type="parTrans" cxnId="{97711E6D-A93D-46CC-AA29-371AFDA729D2}">
      <dgm:prSet/>
      <dgm:spPr/>
      <dgm:t>
        <a:bodyPr/>
        <a:lstStyle/>
        <a:p>
          <a:endParaRPr lang="en-US"/>
        </a:p>
      </dgm:t>
    </dgm:pt>
    <dgm:pt modelId="{3CB8E2A7-0671-43AE-A43C-A2B5C48719BD}" type="sibTrans" cxnId="{97711E6D-A93D-46CC-AA29-371AFDA729D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015CB278-27AD-4A29-B65D-EE71D058F8B2}">
      <dgm:prSet/>
      <dgm:spPr/>
      <dgm:t>
        <a:bodyPr/>
        <a:lstStyle/>
        <a:p>
          <a:r>
            <a:rPr lang="en-GB"/>
            <a:t>Pair risks with capacity</a:t>
          </a:r>
          <a:endParaRPr lang="en-US"/>
        </a:p>
      </dgm:t>
    </dgm:pt>
    <dgm:pt modelId="{D2D3B67A-E4D6-4136-8D75-BAB3E63FCF64}" type="parTrans" cxnId="{39907ECC-533A-426C-AA94-3E9F9ACCC671}">
      <dgm:prSet/>
      <dgm:spPr/>
      <dgm:t>
        <a:bodyPr/>
        <a:lstStyle/>
        <a:p>
          <a:endParaRPr lang="en-US"/>
        </a:p>
      </dgm:t>
    </dgm:pt>
    <dgm:pt modelId="{FCABE807-8E45-4F53-A811-00DA7AAD1126}" type="sibTrans" cxnId="{39907ECC-533A-426C-AA94-3E9F9ACCC67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0D0A2B8-F9A2-4EE6-A036-AF2BC04047F9}">
      <dgm:prSet/>
      <dgm:spPr/>
      <dgm:t>
        <a:bodyPr/>
        <a:lstStyle/>
        <a:p>
          <a:r>
            <a:rPr lang="en-GB"/>
            <a:t>Use canonical pathway events</a:t>
          </a:r>
          <a:endParaRPr lang="en-US"/>
        </a:p>
      </dgm:t>
    </dgm:pt>
    <dgm:pt modelId="{0B0760D1-539F-45EE-8139-C373B85DD823}" type="parTrans" cxnId="{02981927-1F09-48A2-8D38-10A00C5D8EF4}">
      <dgm:prSet/>
      <dgm:spPr/>
      <dgm:t>
        <a:bodyPr/>
        <a:lstStyle/>
        <a:p>
          <a:endParaRPr lang="en-US"/>
        </a:p>
      </dgm:t>
    </dgm:pt>
    <dgm:pt modelId="{78C08C29-2C7E-4563-A26F-07867AACEABB}" type="sibTrans" cxnId="{02981927-1F09-48A2-8D38-10A00C5D8EF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38905A2-E290-4FD6-8780-F24E2FE32E36}">
      <dgm:prSet/>
      <dgm:spPr/>
      <dgm:t>
        <a:bodyPr/>
        <a:lstStyle/>
        <a:p>
          <a:r>
            <a:rPr lang="en-GB"/>
            <a:t>Refresh at operational cadence</a:t>
          </a:r>
          <a:endParaRPr lang="en-US"/>
        </a:p>
      </dgm:t>
    </dgm:pt>
    <dgm:pt modelId="{9E818C80-8791-4945-96F8-8A7A5F8BA991}" type="parTrans" cxnId="{A5CE27BB-7B11-4420-8123-4E5781595D6F}">
      <dgm:prSet/>
      <dgm:spPr/>
      <dgm:t>
        <a:bodyPr/>
        <a:lstStyle/>
        <a:p>
          <a:endParaRPr lang="en-US"/>
        </a:p>
      </dgm:t>
    </dgm:pt>
    <dgm:pt modelId="{57A0A095-8181-4156-86FF-9178DE2EE99A}" type="sibTrans" cxnId="{A5CE27BB-7B11-4420-8123-4E5781595D6F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D7D00F0C-C007-4CE2-B13C-2F6A8EA7F14B}">
      <dgm:prSet/>
      <dgm:spPr/>
      <dgm:t>
        <a:bodyPr/>
        <a:lstStyle/>
        <a:p>
          <a:r>
            <a:rPr lang="en-GB"/>
            <a:t>Preserve provenance</a:t>
          </a:r>
          <a:endParaRPr lang="en-US"/>
        </a:p>
      </dgm:t>
    </dgm:pt>
    <dgm:pt modelId="{9A4DDA17-6901-48B3-A2D8-776D90F959C0}" type="parTrans" cxnId="{562FB97A-B163-4CBC-8D4D-74954E61B5E9}">
      <dgm:prSet/>
      <dgm:spPr/>
      <dgm:t>
        <a:bodyPr/>
        <a:lstStyle/>
        <a:p>
          <a:endParaRPr lang="en-US"/>
        </a:p>
      </dgm:t>
    </dgm:pt>
    <dgm:pt modelId="{C707DDA7-06E3-48F2-BA39-E81150868430}" type="sibTrans" cxnId="{562FB97A-B163-4CBC-8D4D-74954E61B5E9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B5DED6E0-B4AD-4977-83B6-BF9610490946}">
      <dgm:prSet/>
      <dgm:spPr/>
      <dgm:t>
        <a:bodyPr/>
        <a:lstStyle/>
        <a:p>
          <a:r>
            <a:rPr lang="en-GB"/>
            <a:t>Align dashboards with real tasks</a:t>
          </a:r>
          <a:endParaRPr lang="en-US"/>
        </a:p>
      </dgm:t>
    </dgm:pt>
    <dgm:pt modelId="{26161910-306F-4D40-BCA6-76A2A67F2C74}" type="parTrans" cxnId="{8A290631-3994-499F-B16D-8BDD1DA89F82}">
      <dgm:prSet/>
      <dgm:spPr/>
      <dgm:t>
        <a:bodyPr/>
        <a:lstStyle/>
        <a:p>
          <a:endParaRPr lang="en-US"/>
        </a:p>
      </dgm:t>
    </dgm:pt>
    <dgm:pt modelId="{2810BF4E-C257-478C-93E4-98770E6EDB49}" type="sibTrans" cxnId="{8A290631-3994-499F-B16D-8BDD1DA89F82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DE34A956-0884-42D4-A8BF-52C51BCF0EF0}" type="pres">
      <dgm:prSet presAssocID="{462878D1-FA5D-408A-BBCC-03DB2A701A87}" presName="Name0" presStyleCnt="0">
        <dgm:presLayoutVars>
          <dgm:animLvl val="lvl"/>
          <dgm:resizeHandles val="exact"/>
        </dgm:presLayoutVars>
      </dgm:prSet>
      <dgm:spPr/>
    </dgm:pt>
    <dgm:pt modelId="{2B95DEDB-91A0-48F4-998D-B3CD2E7C17D1}" type="pres">
      <dgm:prSet presAssocID="{1C8F82B4-CCF1-4454-9FC2-F26CBFF74C5D}" presName="compositeNode" presStyleCnt="0">
        <dgm:presLayoutVars>
          <dgm:bulletEnabled val="1"/>
        </dgm:presLayoutVars>
      </dgm:prSet>
      <dgm:spPr/>
    </dgm:pt>
    <dgm:pt modelId="{E3AB3B61-1A80-4A7F-86E7-8FD0127C7B5C}" type="pres">
      <dgm:prSet presAssocID="{1C8F82B4-CCF1-4454-9FC2-F26CBFF74C5D}" presName="bgRect" presStyleLbl="alignNode1" presStyleIdx="0" presStyleCnt="6"/>
      <dgm:spPr/>
    </dgm:pt>
    <dgm:pt modelId="{EC5AD160-8398-4CAC-82EF-0BB408EDCFFD}" type="pres">
      <dgm:prSet presAssocID="{3CB8E2A7-0671-43AE-A43C-A2B5C48719BD}" presName="sibTransNodeRect" presStyleLbl="alignNode1" presStyleIdx="0" presStyleCnt="6">
        <dgm:presLayoutVars>
          <dgm:chMax val="0"/>
          <dgm:bulletEnabled val="1"/>
        </dgm:presLayoutVars>
      </dgm:prSet>
      <dgm:spPr/>
    </dgm:pt>
    <dgm:pt modelId="{2F66A73C-7405-4010-9238-41B1BF2C3B4F}" type="pres">
      <dgm:prSet presAssocID="{1C8F82B4-CCF1-4454-9FC2-F26CBFF74C5D}" presName="nodeRect" presStyleLbl="alignNode1" presStyleIdx="0" presStyleCnt="6">
        <dgm:presLayoutVars>
          <dgm:bulletEnabled val="1"/>
        </dgm:presLayoutVars>
      </dgm:prSet>
      <dgm:spPr/>
    </dgm:pt>
    <dgm:pt modelId="{9E681956-B07A-4F4F-9241-1320D598AC6D}" type="pres">
      <dgm:prSet presAssocID="{3CB8E2A7-0671-43AE-A43C-A2B5C48719BD}" presName="sibTrans" presStyleCnt="0"/>
      <dgm:spPr/>
    </dgm:pt>
    <dgm:pt modelId="{4B12B4BF-7214-4953-A07F-7967046646DF}" type="pres">
      <dgm:prSet presAssocID="{015CB278-27AD-4A29-B65D-EE71D058F8B2}" presName="compositeNode" presStyleCnt="0">
        <dgm:presLayoutVars>
          <dgm:bulletEnabled val="1"/>
        </dgm:presLayoutVars>
      </dgm:prSet>
      <dgm:spPr/>
    </dgm:pt>
    <dgm:pt modelId="{BE9341D6-6A87-4607-BBC2-A5DC8822148C}" type="pres">
      <dgm:prSet presAssocID="{015CB278-27AD-4A29-B65D-EE71D058F8B2}" presName="bgRect" presStyleLbl="alignNode1" presStyleIdx="1" presStyleCnt="6"/>
      <dgm:spPr/>
    </dgm:pt>
    <dgm:pt modelId="{4F36F98D-188B-413A-925E-126CAAD4E28A}" type="pres">
      <dgm:prSet presAssocID="{FCABE807-8E45-4F53-A811-00DA7AAD1126}" presName="sibTransNodeRect" presStyleLbl="alignNode1" presStyleIdx="1" presStyleCnt="6">
        <dgm:presLayoutVars>
          <dgm:chMax val="0"/>
          <dgm:bulletEnabled val="1"/>
        </dgm:presLayoutVars>
      </dgm:prSet>
      <dgm:spPr/>
    </dgm:pt>
    <dgm:pt modelId="{1AE9FB98-36F7-46C2-8651-AE20923703C0}" type="pres">
      <dgm:prSet presAssocID="{015CB278-27AD-4A29-B65D-EE71D058F8B2}" presName="nodeRect" presStyleLbl="alignNode1" presStyleIdx="1" presStyleCnt="6">
        <dgm:presLayoutVars>
          <dgm:bulletEnabled val="1"/>
        </dgm:presLayoutVars>
      </dgm:prSet>
      <dgm:spPr/>
    </dgm:pt>
    <dgm:pt modelId="{08A21340-258B-49EE-BD9E-4CBDF9CBA36B}" type="pres">
      <dgm:prSet presAssocID="{FCABE807-8E45-4F53-A811-00DA7AAD1126}" presName="sibTrans" presStyleCnt="0"/>
      <dgm:spPr/>
    </dgm:pt>
    <dgm:pt modelId="{1F4F0CC5-781A-407C-BE36-E8C74F08C5ED}" type="pres">
      <dgm:prSet presAssocID="{90D0A2B8-F9A2-4EE6-A036-AF2BC04047F9}" presName="compositeNode" presStyleCnt="0">
        <dgm:presLayoutVars>
          <dgm:bulletEnabled val="1"/>
        </dgm:presLayoutVars>
      </dgm:prSet>
      <dgm:spPr/>
    </dgm:pt>
    <dgm:pt modelId="{2CF9968F-4421-4B44-A85F-8F6C36B1E4E1}" type="pres">
      <dgm:prSet presAssocID="{90D0A2B8-F9A2-4EE6-A036-AF2BC04047F9}" presName="bgRect" presStyleLbl="alignNode1" presStyleIdx="2" presStyleCnt="6"/>
      <dgm:spPr/>
    </dgm:pt>
    <dgm:pt modelId="{3BBFE501-EE79-4851-AC54-BCC7E2A6894D}" type="pres">
      <dgm:prSet presAssocID="{78C08C29-2C7E-4563-A26F-07867AACEABB}" presName="sibTransNodeRect" presStyleLbl="alignNode1" presStyleIdx="2" presStyleCnt="6">
        <dgm:presLayoutVars>
          <dgm:chMax val="0"/>
          <dgm:bulletEnabled val="1"/>
        </dgm:presLayoutVars>
      </dgm:prSet>
      <dgm:spPr/>
    </dgm:pt>
    <dgm:pt modelId="{92336030-E107-4413-B8BA-D354DEF56699}" type="pres">
      <dgm:prSet presAssocID="{90D0A2B8-F9A2-4EE6-A036-AF2BC04047F9}" presName="nodeRect" presStyleLbl="alignNode1" presStyleIdx="2" presStyleCnt="6">
        <dgm:presLayoutVars>
          <dgm:bulletEnabled val="1"/>
        </dgm:presLayoutVars>
      </dgm:prSet>
      <dgm:spPr/>
    </dgm:pt>
    <dgm:pt modelId="{476CCB13-868C-410A-BC02-C4D84B819D79}" type="pres">
      <dgm:prSet presAssocID="{78C08C29-2C7E-4563-A26F-07867AACEABB}" presName="sibTrans" presStyleCnt="0"/>
      <dgm:spPr/>
    </dgm:pt>
    <dgm:pt modelId="{FB7EFB0E-4204-46FF-8BC6-2778774646FC}" type="pres">
      <dgm:prSet presAssocID="{638905A2-E290-4FD6-8780-F24E2FE32E36}" presName="compositeNode" presStyleCnt="0">
        <dgm:presLayoutVars>
          <dgm:bulletEnabled val="1"/>
        </dgm:presLayoutVars>
      </dgm:prSet>
      <dgm:spPr/>
    </dgm:pt>
    <dgm:pt modelId="{092F293F-6C23-4DE8-8635-0D892B148AB0}" type="pres">
      <dgm:prSet presAssocID="{638905A2-E290-4FD6-8780-F24E2FE32E36}" presName="bgRect" presStyleLbl="alignNode1" presStyleIdx="3" presStyleCnt="6"/>
      <dgm:spPr/>
    </dgm:pt>
    <dgm:pt modelId="{2336EC19-087E-401E-A518-7DE085883450}" type="pres">
      <dgm:prSet presAssocID="{57A0A095-8181-4156-86FF-9178DE2EE99A}" presName="sibTransNodeRect" presStyleLbl="alignNode1" presStyleIdx="3" presStyleCnt="6">
        <dgm:presLayoutVars>
          <dgm:chMax val="0"/>
          <dgm:bulletEnabled val="1"/>
        </dgm:presLayoutVars>
      </dgm:prSet>
      <dgm:spPr/>
    </dgm:pt>
    <dgm:pt modelId="{C5BE5B81-F9B6-49FC-AB6A-A10FB24F7FA7}" type="pres">
      <dgm:prSet presAssocID="{638905A2-E290-4FD6-8780-F24E2FE32E36}" presName="nodeRect" presStyleLbl="alignNode1" presStyleIdx="3" presStyleCnt="6">
        <dgm:presLayoutVars>
          <dgm:bulletEnabled val="1"/>
        </dgm:presLayoutVars>
      </dgm:prSet>
      <dgm:spPr/>
    </dgm:pt>
    <dgm:pt modelId="{F26757CD-65F2-47F4-9D3A-B3E0B174B511}" type="pres">
      <dgm:prSet presAssocID="{57A0A095-8181-4156-86FF-9178DE2EE99A}" presName="sibTrans" presStyleCnt="0"/>
      <dgm:spPr/>
    </dgm:pt>
    <dgm:pt modelId="{6D190869-11B3-45D4-AE35-EA9693443BFC}" type="pres">
      <dgm:prSet presAssocID="{D7D00F0C-C007-4CE2-B13C-2F6A8EA7F14B}" presName="compositeNode" presStyleCnt="0">
        <dgm:presLayoutVars>
          <dgm:bulletEnabled val="1"/>
        </dgm:presLayoutVars>
      </dgm:prSet>
      <dgm:spPr/>
    </dgm:pt>
    <dgm:pt modelId="{E7C436FA-0430-464E-841D-89E48BAC83DB}" type="pres">
      <dgm:prSet presAssocID="{D7D00F0C-C007-4CE2-B13C-2F6A8EA7F14B}" presName="bgRect" presStyleLbl="alignNode1" presStyleIdx="4" presStyleCnt="6"/>
      <dgm:spPr/>
    </dgm:pt>
    <dgm:pt modelId="{AC2B16D0-3D33-40D3-8B78-27EC225AB3C1}" type="pres">
      <dgm:prSet presAssocID="{C707DDA7-06E3-48F2-BA39-E81150868430}" presName="sibTransNodeRect" presStyleLbl="alignNode1" presStyleIdx="4" presStyleCnt="6">
        <dgm:presLayoutVars>
          <dgm:chMax val="0"/>
          <dgm:bulletEnabled val="1"/>
        </dgm:presLayoutVars>
      </dgm:prSet>
      <dgm:spPr/>
    </dgm:pt>
    <dgm:pt modelId="{44C49E5B-AD5D-46B6-9BA0-09C4A3F7A63F}" type="pres">
      <dgm:prSet presAssocID="{D7D00F0C-C007-4CE2-B13C-2F6A8EA7F14B}" presName="nodeRect" presStyleLbl="alignNode1" presStyleIdx="4" presStyleCnt="6">
        <dgm:presLayoutVars>
          <dgm:bulletEnabled val="1"/>
        </dgm:presLayoutVars>
      </dgm:prSet>
      <dgm:spPr/>
    </dgm:pt>
    <dgm:pt modelId="{94E27A61-6899-4031-92B4-2CAA6AABB6D4}" type="pres">
      <dgm:prSet presAssocID="{C707DDA7-06E3-48F2-BA39-E81150868430}" presName="sibTrans" presStyleCnt="0"/>
      <dgm:spPr/>
    </dgm:pt>
    <dgm:pt modelId="{D8E95183-627A-49B7-A3F4-18A0CCE31236}" type="pres">
      <dgm:prSet presAssocID="{B5DED6E0-B4AD-4977-83B6-BF9610490946}" presName="compositeNode" presStyleCnt="0">
        <dgm:presLayoutVars>
          <dgm:bulletEnabled val="1"/>
        </dgm:presLayoutVars>
      </dgm:prSet>
      <dgm:spPr/>
    </dgm:pt>
    <dgm:pt modelId="{E1170AD4-6C23-461F-8F53-92C01D123599}" type="pres">
      <dgm:prSet presAssocID="{B5DED6E0-B4AD-4977-83B6-BF9610490946}" presName="bgRect" presStyleLbl="alignNode1" presStyleIdx="5" presStyleCnt="6"/>
      <dgm:spPr/>
    </dgm:pt>
    <dgm:pt modelId="{331C899B-8DA3-4E93-8769-01CAFBC620A3}" type="pres">
      <dgm:prSet presAssocID="{2810BF4E-C257-478C-93E4-98770E6EDB49}" presName="sibTransNodeRect" presStyleLbl="alignNode1" presStyleIdx="5" presStyleCnt="6">
        <dgm:presLayoutVars>
          <dgm:chMax val="0"/>
          <dgm:bulletEnabled val="1"/>
        </dgm:presLayoutVars>
      </dgm:prSet>
      <dgm:spPr/>
    </dgm:pt>
    <dgm:pt modelId="{50A26E06-1DD2-480B-B206-217366F34DDA}" type="pres">
      <dgm:prSet presAssocID="{B5DED6E0-B4AD-4977-83B6-BF9610490946}" presName="nodeRect" presStyleLbl="alignNode1" presStyleIdx="5" presStyleCnt="6">
        <dgm:presLayoutVars>
          <dgm:bulletEnabled val="1"/>
        </dgm:presLayoutVars>
      </dgm:prSet>
      <dgm:spPr/>
    </dgm:pt>
  </dgm:ptLst>
  <dgm:cxnLst>
    <dgm:cxn modelId="{19F39E1A-58A0-40E8-8A7D-7140281617BD}" type="presOf" srcId="{D7D00F0C-C007-4CE2-B13C-2F6A8EA7F14B}" destId="{44C49E5B-AD5D-46B6-9BA0-09C4A3F7A63F}" srcOrd="1" destOrd="0" presId="urn:microsoft.com/office/officeart/2016/7/layout/LinearBlockProcessNumbered"/>
    <dgm:cxn modelId="{02981927-1F09-48A2-8D38-10A00C5D8EF4}" srcId="{462878D1-FA5D-408A-BBCC-03DB2A701A87}" destId="{90D0A2B8-F9A2-4EE6-A036-AF2BC04047F9}" srcOrd="2" destOrd="0" parTransId="{0B0760D1-539F-45EE-8139-C373B85DD823}" sibTransId="{78C08C29-2C7E-4563-A26F-07867AACEABB}"/>
    <dgm:cxn modelId="{0C687A2B-B297-44AA-82D2-D5685B3EB3B9}" type="presOf" srcId="{D7D00F0C-C007-4CE2-B13C-2F6A8EA7F14B}" destId="{E7C436FA-0430-464E-841D-89E48BAC83DB}" srcOrd="0" destOrd="0" presId="urn:microsoft.com/office/officeart/2016/7/layout/LinearBlockProcessNumbered"/>
    <dgm:cxn modelId="{8FAD432D-258E-4DDE-BC9D-A703B84B29F5}" type="presOf" srcId="{015CB278-27AD-4A29-B65D-EE71D058F8B2}" destId="{BE9341D6-6A87-4607-BBC2-A5DC8822148C}" srcOrd="0" destOrd="0" presId="urn:microsoft.com/office/officeart/2016/7/layout/LinearBlockProcessNumbered"/>
    <dgm:cxn modelId="{8A290631-3994-499F-B16D-8BDD1DA89F82}" srcId="{462878D1-FA5D-408A-BBCC-03DB2A701A87}" destId="{B5DED6E0-B4AD-4977-83B6-BF9610490946}" srcOrd="5" destOrd="0" parTransId="{26161910-306F-4D40-BCA6-76A2A67F2C74}" sibTransId="{2810BF4E-C257-478C-93E4-98770E6EDB49}"/>
    <dgm:cxn modelId="{59FF7F63-DB84-488E-A73B-88C94490B986}" type="presOf" srcId="{78C08C29-2C7E-4563-A26F-07867AACEABB}" destId="{3BBFE501-EE79-4851-AC54-BCC7E2A6894D}" srcOrd="0" destOrd="0" presId="urn:microsoft.com/office/officeart/2016/7/layout/LinearBlockProcessNumbered"/>
    <dgm:cxn modelId="{4E5CA848-2989-4F09-A936-E6AAC10A29A2}" type="presOf" srcId="{B5DED6E0-B4AD-4977-83B6-BF9610490946}" destId="{E1170AD4-6C23-461F-8F53-92C01D123599}" srcOrd="0" destOrd="0" presId="urn:microsoft.com/office/officeart/2016/7/layout/LinearBlockProcessNumbered"/>
    <dgm:cxn modelId="{48FB0D6B-7736-4381-AA15-B0CE6090287D}" type="presOf" srcId="{90D0A2B8-F9A2-4EE6-A036-AF2BC04047F9}" destId="{2CF9968F-4421-4B44-A85F-8F6C36B1E4E1}" srcOrd="0" destOrd="0" presId="urn:microsoft.com/office/officeart/2016/7/layout/LinearBlockProcessNumbered"/>
    <dgm:cxn modelId="{86356C4C-4EA6-4F85-A980-FFAE28C2A281}" type="presOf" srcId="{3CB8E2A7-0671-43AE-A43C-A2B5C48719BD}" destId="{EC5AD160-8398-4CAC-82EF-0BB408EDCFFD}" srcOrd="0" destOrd="0" presId="urn:microsoft.com/office/officeart/2016/7/layout/LinearBlockProcessNumbered"/>
    <dgm:cxn modelId="{97711E6D-A93D-46CC-AA29-371AFDA729D2}" srcId="{462878D1-FA5D-408A-BBCC-03DB2A701A87}" destId="{1C8F82B4-CCF1-4454-9FC2-F26CBFF74C5D}" srcOrd="0" destOrd="0" parTransId="{A17F1046-F663-468F-9F2D-95CBED7FF9E1}" sibTransId="{3CB8E2A7-0671-43AE-A43C-A2B5C48719BD}"/>
    <dgm:cxn modelId="{8D858E4F-1EEF-43B0-8710-3296914EEF10}" type="presOf" srcId="{1C8F82B4-CCF1-4454-9FC2-F26CBFF74C5D}" destId="{2F66A73C-7405-4010-9238-41B1BF2C3B4F}" srcOrd="1" destOrd="0" presId="urn:microsoft.com/office/officeart/2016/7/layout/LinearBlockProcessNumbered"/>
    <dgm:cxn modelId="{B8377750-3386-4C23-85F2-4D4320784402}" type="presOf" srcId="{57A0A095-8181-4156-86FF-9178DE2EE99A}" destId="{2336EC19-087E-401E-A518-7DE085883450}" srcOrd="0" destOrd="0" presId="urn:microsoft.com/office/officeart/2016/7/layout/LinearBlockProcessNumbered"/>
    <dgm:cxn modelId="{82C3A575-EDE6-43C5-B809-B7D94A3E450B}" type="presOf" srcId="{2810BF4E-C257-478C-93E4-98770E6EDB49}" destId="{331C899B-8DA3-4E93-8769-01CAFBC620A3}" srcOrd="0" destOrd="0" presId="urn:microsoft.com/office/officeart/2016/7/layout/LinearBlockProcessNumbered"/>
    <dgm:cxn modelId="{562FB97A-B163-4CBC-8D4D-74954E61B5E9}" srcId="{462878D1-FA5D-408A-BBCC-03DB2A701A87}" destId="{D7D00F0C-C007-4CE2-B13C-2F6A8EA7F14B}" srcOrd="4" destOrd="0" parTransId="{9A4DDA17-6901-48B3-A2D8-776D90F959C0}" sibTransId="{C707DDA7-06E3-48F2-BA39-E81150868430}"/>
    <dgm:cxn modelId="{6188C67A-F311-4299-A873-BE85BE61F4A9}" type="presOf" srcId="{FCABE807-8E45-4F53-A811-00DA7AAD1126}" destId="{4F36F98D-188B-413A-925E-126CAAD4E28A}" srcOrd="0" destOrd="0" presId="urn:microsoft.com/office/officeart/2016/7/layout/LinearBlockProcessNumbered"/>
    <dgm:cxn modelId="{A17A5D84-D410-45DE-90F1-FCFFAA27C905}" type="presOf" srcId="{462878D1-FA5D-408A-BBCC-03DB2A701A87}" destId="{DE34A956-0884-42D4-A8BF-52C51BCF0EF0}" srcOrd="0" destOrd="0" presId="urn:microsoft.com/office/officeart/2016/7/layout/LinearBlockProcessNumbered"/>
    <dgm:cxn modelId="{88A4C29C-CA08-4606-BD21-77ACFBFA8D40}" type="presOf" srcId="{1C8F82B4-CCF1-4454-9FC2-F26CBFF74C5D}" destId="{E3AB3B61-1A80-4A7F-86E7-8FD0127C7B5C}" srcOrd="0" destOrd="0" presId="urn:microsoft.com/office/officeart/2016/7/layout/LinearBlockProcessNumbered"/>
    <dgm:cxn modelId="{A90F2CA2-DDB3-4A70-85ED-5C9B0DB4378F}" type="presOf" srcId="{B5DED6E0-B4AD-4977-83B6-BF9610490946}" destId="{50A26E06-1DD2-480B-B206-217366F34DDA}" srcOrd="1" destOrd="0" presId="urn:microsoft.com/office/officeart/2016/7/layout/LinearBlockProcessNumbered"/>
    <dgm:cxn modelId="{0DDAE1AB-9763-413F-BAF9-135EE761D0C7}" type="presOf" srcId="{638905A2-E290-4FD6-8780-F24E2FE32E36}" destId="{C5BE5B81-F9B6-49FC-AB6A-A10FB24F7FA7}" srcOrd="1" destOrd="0" presId="urn:microsoft.com/office/officeart/2016/7/layout/LinearBlockProcessNumbered"/>
    <dgm:cxn modelId="{A5CE27BB-7B11-4420-8123-4E5781595D6F}" srcId="{462878D1-FA5D-408A-BBCC-03DB2A701A87}" destId="{638905A2-E290-4FD6-8780-F24E2FE32E36}" srcOrd="3" destOrd="0" parTransId="{9E818C80-8791-4945-96F8-8A7A5F8BA991}" sibTransId="{57A0A095-8181-4156-86FF-9178DE2EE99A}"/>
    <dgm:cxn modelId="{ED2FC9C1-FF48-4968-AF0C-2102CB639E43}" type="presOf" srcId="{015CB278-27AD-4A29-B65D-EE71D058F8B2}" destId="{1AE9FB98-36F7-46C2-8651-AE20923703C0}" srcOrd="1" destOrd="0" presId="urn:microsoft.com/office/officeart/2016/7/layout/LinearBlockProcessNumbered"/>
    <dgm:cxn modelId="{BBFB2DC5-4504-40DB-883F-AF5F8AF57870}" type="presOf" srcId="{90D0A2B8-F9A2-4EE6-A036-AF2BC04047F9}" destId="{92336030-E107-4413-B8BA-D354DEF56699}" srcOrd="1" destOrd="0" presId="urn:microsoft.com/office/officeart/2016/7/layout/LinearBlockProcessNumbered"/>
    <dgm:cxn modelId="{BEDA7FCA-7F63-4727-B20C-0C4559E5C5DF}" type="presOf" srcId="{C707DDA7-06E3-48F2-BA39-E81150868430}" destId="{AC2B16D0-3D33-40D3-8B78-27EC225AB3C1}" srcOrd="0" destOrd="0" presId="urn:microsoft.com/office/officeart/2016/7/layout/LinearBlockProcessNumbered"/>
    <dgm:cxn modelId="{39907ECC-533A-426C-AA94-3E9F9ACCC671}" srcId="{462878D1-FA5D-408A-BBCC-03DB2A701A87}" destId="{015CB278-27AD-4A29-B65D-EE71D058F8B2}" srcOrd="1" destOrd="0" parTransId="{D2D3B67A-E4D6-4136-8D75-BAB3E63FCF64}" sibTransId="{FCABE807-8E45-4F53-A811-00DA7AAD1126}"/>
    <dgm:cxn modelId="{322784E6-32A1-487E-A2EF-240064CEF2D9}" type="presOf" srcId="{638905A2-E290-4FD6-8780-F24E2FE32E36}" destId="{092F293F-6C23-4DE8-8635-0D892B148AB0}" srcOrd="0" destOrd="0" presId="urn:microsoft.com/office/officeart/2016/7/layout/LinearBlockProcessNumbered"/>
    <dgm:cxn modelId="{85BB9E3F-51BE-4A77-A964-51D0063868F6}" type="presParOf" srcId="{DE34A956-0884-42D4-A8BF-52C51BCF0EF0}" destId="{2B95DEDB-91A0-48F4-998D-B3CD2E7C17D1}" srcOrd="0" destOrd="0" presId="urn:microsoft.com/office/officeart/2016/7/layout/LinearBlockProcessNumbered"/>
    <dgm:cxn modelId="{0461A679-1B8E-40C5-81A0-CA70E01550F5}" type="presParOf" srcId="{2B95DEDB-91A0-48F4-998D-B3CD2E7C17D1}" destId="{E3AB3B61-1A80-4A7F-86E7-8FD0127C7B5C}" srcOrd="0" destOrd="0" presId="urn:microsoft.com/office/officeart/2016/7/layout/LinearBlockProcessNumbered"/>
    <dgm:cxn modelId="{49C1EF4B-5CD2-43F3-805A-B8DEED002259}" type="presParOf" srcId="{2B95DEDB-91A0-48F4-998D-B3CD2E7C17D1}" destId="{EC5AD160-8398-4CAC-82EF-0BB408EDCFFD}" srcOrd="1" destOrd="0" presId="urn:microsoft.com/office/officeart/2016/7/layout/LinearBlockProcessNumbered"/>
    <dgm:cxn modelId="{7E6490AB-6FD8-4C9A-B509-4422D6F0F98F}" type="presParOf" srcId="{2B95DEDB-91A0-48F4-998D-B3CD2E7C17D1}" destId="{2F66A73C-7405-4010-9238-41B1BF2C3B4F}" srcOrd="2" destOrd="0" presId="urn:microsoft.com/office/officeart/2016/7/layout/LinearBlockProcessNumbered"/>
    <dgm:cxn modelId="{AA749F87-C889-4039-B943-DCA053C2550E}" type="presParOf" srcId="{DE34A956-0884-42D4-A8BF-52C51BCF0EF0}" destId="{9E681956-B07A-4F4F-9241-1320D598AC6D}" srcOrd="1" destOrd="0" presId="urn:microsoft.com/office/officeart/2016/7/layout/LinearBlockProcessNumbered"/>
    <dgm:cxn modelId="{CBB4DA55-64CF-4165-963B-6E4DCBBFCB6F}" type="presParOf" srcId="{DE34A956-0884-42D4-A8BF-52C51BCF0EF0}" destId="{4B12B4BF-7214-4953-A07F-7967046646DF}" srcOrd="2" destOrd="0" presId="urn:microsoft.com/office/officeart/2016/7/layout/LinearBlockProcessNumbered"/>
    <dgm:cxn modelId="{01FC00EA-23AD-4711-9BA2-A4D19861C715}" type="presParOf" srcId="{4B12B4BF-7214-4953-A07F-7967046646DF}" destId="{BE9341D6-6A87-4607-BBC2-A5DC8822148C}" srcOrd="0" destOrd="0" presId="urn:microsoft.com/office/officeart/2016/7/layout/LinearBlockProcessNumbered"/>
    <dgm:cxn modelId="{097894B6-DD09-4750-BBFB-5DF0DFA435B4}" type="presParOf" srcId="{4B12B4BF-7214-4953-A07F-7967046646DF}" destId="{4F36F98D-188B-413A-925E-126CAAD4E28A}" srcOrd="1" destOrd="0" presId="urn:microsoft.com/office/officeart/2016/7/layout/LinearBlockProcessNumbered"/>
    <dgm:cxn modelId="{D7CCDA61-9367-4D47-8E4A-FE587EF2CDA7}" type="presParOf" srcId="{4B12B4BF-7214-4953-A07F-7967046646DF}" destId="{1AE9FB98-36F7-46C2-8651-AE20923703C0}" srcOrd="2" destOrd="0" presId="urn:microsoft.com/office/officeart/2016/7/layout/LinearBlockProcessNumbered"/>
    <dgm:cxn modelId="{2D51447C-52B8-4E63-82E7-E837C8784838}" type="presParOf" srcId="{DE34A956-0884-42D4-A8BF-52C51BCF0EF0}" destId="{08A21340-258B-49EE-BD9E-4CBDF9CBA36B}" srcOrd="3" destOrd="0" presId="urn:microsoft.com/office/officeart/2016/7/layout/LinearBlockProcessNumbered"/>
    <dgm:cxn modelId="{2D22D035-42E6-4904-AFB0-5B136C1F2A3B}" type="presParOf" srcId="{DE34A956-0884-42D4-A8BF-52C51BCF0EF0}" destId="{1F4F0CC5-781A-407C-BE36-E8C74F08C5ED}" srcOrd="4" destOrd="0" presId="urn:microsoft.com/office/officeart/2016/7/layout/LinearBlockProcessNumbered"/>
    <dgm:cxn modelId="{0E8F14B3-AD90-48A3-B204-11AEC3999F52}" type="presParOf" srcId="{1F4F0CC5-781A-407C-BE36-E8C74F08C5ED}" destId="{2CF9968F-4421-4B44-A85F-8F6C36B1E4E1}" srcOrd="0" destOrd="0" presId="urn:microsoft.com/office/officeart/2016/7/layout/LinearBlockProcessNumbered"/>
    <dgm:cxn modelId="{8B7C7818-D263-4090-A956-F51E1AE85DBE}" type="presParOf" srcId="{1F4F0CC5-781A-407C-BE36-E8C74F08C5ED}" destId="{3BBFE501-EE79-4851-AC54-BCC7E2A6894D}" srcOrd="1" destOrd="0" presId="urn:microsoft.com/office/officeart/2016/7/layout/LinearBlockProcessNumbered"/>
    <dgm:cxn modelId="{9686723C-EFFD-4FBC-8EF6-4E6B297EC884}" type="presParOf" srcId="{1F4F0CC5-781A-407C-BE36-E8C74F08C5ED}" destId="{92336030-E107-4413-B8BA-D354DEF56699}" srcOrd="2" destOrd="0" presId="urn:microsoft.com/office/officeart/2016/7/layout/LinearBlockProcessNumbered"/>
    <dgm:cxn modelId="{00F39B63-C9A9-49D7-8781-82DB396235B2}" type="presParOf" srcId="{DE34A956-0884-42D4-A8BF-52C51BCF0EF0}" destId="{476CCB13-868C-410A-BC02-C4D84B819D79}" srcOrd="5" destOrd="0" presId="urn:microsoft.com/office/officeart/2016/7/layout/LinearBlockProcessNumbered"/>
    <dgm:cxn modelId="{51DB6567-55FE-4F4C-89FA-17201E8FD23E}" type="presParOf" srcId="{DE34A956-0884-42D4-A8BF-52C51BCF0EF0}" destId="{FB7EFB0E-4204-46FF-8BC6-2778774646FC}" srcOrd="6" destOrd="0" presId="urn:microsoft.com/office/officeart/2016/7/layout/LinearBlockProcessNumbered"/>
    <dgm:cxn modelId="{16028D68-0EA0-428C-B120-C189D04DF1F8}" type="presParOf" srcId="{FB7EFB0E-4204-46FF-8BC6-2778774646FC}" destId="{092F293F-6C23-4DE8-8635-0D892B148AB0}" srcOrd="0" destOrd="0" presId="urn:microsoft.com/office/officeart/2016/7/layout/LinearBlockProcessNumbered"/>
    <dgm:cxn modelId="{5398E0AD-6BCD-4792-935B-F03032DFC6AF}" type="presParOf" srcId="{FB7EFB0E-4204-46FF-8BC6-2778774646FC}" destId="{2336EC19-087E-401E-A518-7DE085883450}" srcOrd="1" destOrd="0" presId="urn:microsoft.com/office/officeart/2016/7/layout/LinearBlockProcessNumbered"/>
    <dgm:cxn modelId="{82CADB8A-9E9C-4F11-B304-42651FC9DA8E}" type="presParOf" srcId="{FB7EFB0E-4204-46FF-8BC6-2778774646FC}" destId="{C5BE5B81-F9B6-49FC-AB6A-A10FB24F7FA7}" srcOrd="2" destOrd="0" presId="urn:microsoft.com/office/officeart/2016/7/layout/LinearBlockProcessNumbered"/>
    <dgm:cxn modelId="{C1D012B1-115D-4016-88C4-CBFD05BAD11C}" type="presParOf" srcId="{DE34A956-0884-42D4-A8BF-52C51BCF0EF0}" destId="{F26757CD-65F2-47F4-9D3A-B3E0B174B511}" srcOrd="7" destOrd="0" presId="urn:microsoft.com/office/officeart/2016/7/layout/LinearBlockProcessNumbered"/>
    <dgm:cxn modelId="{16A8551A-FEA7-4E3A-BE58-F639C9D2563C}" type="presParOf" srcId="{DE34A956-0884-42D4-A8BF-52C51BCF0EF0}" destId="{6D190869-11B3-45D4-AE35-EA9693443BFC}" srcOrd="8" destOrd="0" presId="urn:microsoft.com/office/officeart/2016/7/layout/LinearBlockProcessNumbered"/>
    <dgm:cxn modelId="{D9AD4D24-154E-41A9-8124-80D0934C322E}" type="presParOf" srcId="{6D190869-11B3-45D4-AE35-EA9693443BFC}" destId="{E7C436FA-0430-464E-841D-89E48BAC83DB}" srcOrd="0" destOrd="0" presId="urn:microsoft.com/office/officeart/2016/7/layout/LinearBlockProcessNumbered"/>
    <dgm:cxn modelId="{C3771379-7A0E-4433-B5DB-07B6787387D5}" type="presParOf" srcId="{6D190869-11B3-45D4-AE35-EA9693443BFC}" destId="{AC2B16D0-3D33-40D3-8B78-27EC225AB3C1}" srcOrd="1" destOrd="0" presId="urn:microsoft.com/office/officeart/2016/7/layout/LinearBlockProcessNumbered"/>
    <dgm:cxn modelId="{23E38989-275F-46AB-B07C-00DDE8452EB5}" type="presParOf" srcId="{6D190869-11B3-45D4-AE35-EA9693443BFC}" destId="{44C49E5B-AD5D-46B6-9BA0-09C4A3F7A63F}" srcOrd="2" destOrd="0" presId="urn:microsoft.com/office/officeart/2016/7/layout/LinearBlockProcessNumbered"/>
    <dgm:cxn modelId="{E14506DB-20EE-4743-910A-CC3E888D5291}" type="presParOf" srcId="{DE34A956-0884-42D4-A8BF-52C51BCF0EF0}" destId="{94E27A61-6899-4031-92B4-2CAA6AABB6D4}" srcOrd="9" destOrd="0" presId="urn:microsoft.com/office/officeart/2016/7/layout/LinearBlockProcessNumbered"/>
    <dgm:cxn modelId="{2F3F0174-2432-4A8A-A349-8618EFC5F60B}" type="presParOf" srcId="{DE34A956-0884-42D4-A8BF-52C51BCF0EF0}" destId="{D8E95183-627A-49B7-A3F4-18A0CCE31236}" srcOrd="10" destOrd="0" presId="urn:microsoft.com/office/officeart/2016/7/layout/LinearBlockProcessNumbered"/>
    <dgm:cxn modelId="{F68E2E5E-D798-4C62-82CF-61955AAD24C1}" type="presParOf" srcId="{D8E95183-627A-49B7-A3F4-18A0CCE31236}" destId="{E1170AD4-6C23-461F-8F53-92C01D123599}" srcOrd="0" destOrd="0" presId="urn:microsoft.com/office/officeart/2016/7/layout/LinearBlockProcessNumbered"/>
    <dgm:cxn modelId="{2BF95C1D-1684-4FA7-9EF6-B9DB4FE16942}" type="presParOf" srcId="{D8E95183-627A-49B7-A3F4-18A0CCE31236}" destId="{331C899B-8DA3-4E93-8769-01CAFBC620A3}" srcOrd="1" destOrd="0" presId="urn:microsoft.com/office/officeart/2016/7/layout/LinearBlockProcessNumbered"/>
    <dgm:cxn modelId="{FB70256B-8964-4C12-B6D9-362E61C25046}" type="presParOf" srcId="{D8E95183-627A-49B7-A3F4-18A0CCE31236}" destId="{50A26E06-1DD2-480B-B206-217366F34DD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8CF3E9-01A4-47FA-A64B-9B51923E8699}">
      <dsp:nvSpPr>
        <dsp:cNvPr id="0" name=""/>
        <dsp:cNvSpPr/>
      </dsp:nvSpPr>
      <dsp:spPr>
        <a:xfrm>
          <a:off x="4554" y="1690747"/>
          <a:ext cx="1361182" cy="9698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Multiple Source Systems</a:t>
          </a:r>
        </a:p>
      </dsp:txBody>
      <dsp:txXfrm>
        <a:off x="32960" y="1719153"/>
        <a:ext cx="1304370" cy="913030"/>
      </dsp:txXfrm>
    </dsp:sp>
    <dsp:sp modelId="{D3A922DF-7CEE-430C-87DA-E6A9CBD82A9B}">
      <dsp:nvSpPr>
        <dsp:cNvPr id="0" name=""/>
        <dsp:cNvSpPr/>
      </dsp:nvSpPr>
      <dsp:spPr>
        <a:xfrm>
          <a:off x="1501854" y="2006882"/>
          <a:ext cx="288570" cy="3375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1501854" y="2074397"/>
        <a:ext cx="201999" cy="202543"/>
      </dsp:txXfrm>
    </dsp:sp>
    <dsp:sp modelId="{D8A7C8A7-CB5B-40D1-A405-B25D462C0E33}">
      <dsp:nvSpPr>
        <dsp:cNvPr id="0" name=""/>
        <dsp:cNvSpPr/>
      </dsp:nvSpPr>
      <dsp:spPr>
        <a:xfrm>
          <a:off x="1910208" y="1690747"/>
          <a:ext cx="1361182" cy="9698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Integrated Data Repository</a:t>
          </a:r>
        </a:p>
      </dsp:txBody>
      <dsp:txXfrm>
        <a:off x="1938614" y="1719153"/>
        <a:ext cx="1304370" cy="913030"/>
      </dsp:txXfrm>
    </dsp:sp>
    <dsp:sp modelId="{A2EFA103-7CFA-4796-8348-9F59C3F452E2}">
      <dsp:nvSpPr>
        <dsp:cNvPr id="0" name=""/>
        <dsp:cNvSpPr/>
      </dsp:nvSpPr>
      <dsp:spPr>
        <a:xfrm>
          <a:off x="3407509" y="2006882"/>
          <a:ext cx="288570" cy="3375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3407509" y="2074397"/>
        <a:ext cx="201999" cy="202543"/>
      </dsp:txXfrm>
    </dsp:sp>
    <dsp:sp modelId="{E8D91DA6-19A5-494B-AF7D-933E6101D738}">
      <dsp:nvSpPr>
        <dsp:cNvPr id="0" name=""/>
        <dsp:cNvSpPr/>
      </dsp:nvSpPr>
      <dsp:spPr>
        <a:xfrm>
          <a:off x="3815863" y="1690747"/>
          <a:ext cx="1361182" cy="9698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Decision Support Dashboard</a:t>
          </a:r>
        </a:p>
      </dsp:txBody>
      <dsp:txXfrm>
        <a:off x="3844269" y="1719153"/>
        <a:ext cx="1304370" cy="9130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DC2FA-6BC9-4D17-8C7B-D46BCA682B04}">
      <dsp:nvSpPr>
        <dsp:cNvPr id="0" name=""/>
        <dsp:cNvSpPr/>
      </dsp:nvSpPr>
      <dsp:spPr>
        <a:xfrm>
          <a:off x="0" y="3844668"/>
          <a:ext cx="2628900" cy="5046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Derive</a:t>
          </a:r>
        </a:p>
      </dsp:txBody>
      <dsp:txXfrm>
        <a:off x="0" y="3844668"/>
        <a:ext cx="2628900" cy="504610"/>
      </dsp:txXfrm>
    </dsp:sp>
    <dsp:sp modelId="{62DFB027-55C0-4793-8889-5F3B59FD02F0}">
      <dsp:nvSpPr>
        <dsp:cNvPr id="0" name=""/>
        <dsp:cNvSpPr/>
      </dsp:nvSpPr>
      <dsp:spPr>
        <a:xfrm>
          <a:off x="2628900" y="3844668"/>
          <a:ext cx="7886700" cy="50461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Derive design principles</a:t>
          </a:r>
        </a:p>
      </dsp:txBody>
      <dsp:txXfrm>
        <a:off x="2628900" y="3844668"/>
        <a:ext cx="7886700" cy="504610"/>
      </dsp:txXfrm>
    </dsp:sp>
    <dsp:sp modelId="{C37EA96B-2EE6-470E-80D2-FA8A1AF42439}">
      <dsp:nvSpPr>
        <dsp:cNvPr id="0" name=""/>
        <dsp:cNvSpPr/>
      </dsp:nvSpPr>
      <dsp:spPr>
        <a:xfrm rot="10800000">
          <a:off x="0" y="3076146"/>
          <a:ext cx="2628900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Evaluate</a:t>
          </a:r>
        </a:p>
      </dsp:txBody>
      <dsp:txXfrm rot="-10800000">
        <a:off x="0" y="3076146"/>
        <a:ext cx="2628900" cy="504459"/>
      </dsp:txXfrm>
    </dsp:sp>
    <dsp:sp modelId="{28AE8682-FAD5-4C57-AEA8-C32EB1EB93FD}">
      <dsp:nvSpPr>
        <dsp:cNvPr id="0" name=""/>
        <dsp:cNvSpPr/>
      </dsp:nvSpPr>
      <dsp:spPr>
        <a:xfrm>
          <a:off x="2628900" y="3076146"/>
          <a:ext cx="7886700" cy="504459"/>
        </a:xfrm>
        <a:prstGeom prst="rect">
          <a:avLst/>
        </a:prstGeom>
        <a:solidFill>
          <a:schemeClr val="accent2">
            <a:tint val="40000"/>
            <a:alpha val="90000"/>
            <a:hueOff val="1346944"/>
            <a:satOff val="-12446"/>
            <a:lumOff val="-140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346944"/>
              <a:satOff val="-12446"/>
              <a:lumOff val="-14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Evaluate usability &amp; utility</a:t>
          </a:r>
        </a:p>
      </dsp:txBody>
      <dsp:txXfrm>
        <a:off x="2628900" y="3076146"/>
        <a:ext cx="7886700" cy="504459"/>
      </dsp:txXfrm>
    </dsp:sp>
    <dsp:sp modelId="{D204E4AC-099F-4E21-A18A-E5061E416708}">
      <dsp:nvSpPr>
        <dsp:cNvPr id="0" name=""/>
        <dsp:cNvSpPr/>
      </dsp:nvSpPr>
      <dsp:spPr>
        <a:xfrm rot="10800000">
          <a:off x="0" y="2307624"/>
          <a:ext cx="2628900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</a:t>
          </a:r>
        </a:p>
      </dsp:txBody>
      <dsp:txXfrm rot="-10800000">
        <a:off x="0" y="2307624"/>
        <a:ext cx="2628900" cy="504459"/>
      </dsp:txXfrm>
    </dsp:sp>
    <dsp:sp modelId="{9694E9C7-25AF-44FE-AC8E-F2F8150F1D57}">
      <dsp:nvSpPr>
        <dsp:cNvPr id="0" name=""/>
        <dsp:cNvSpPr/>
      </dsp:nvSpPr>
      <dsp:spPr>
        <a:xfrm>
          <a:off x="2628900" y="2307624"/>
          <a:ext cx="7886700" cy="504459"/>
        </a:xfrm>
        <a:prstGeom prst="rect">
          <a:avLst/>
        </a:prstGeom>
        <a:solidFill>
          <a:schemeClr val="accent2">
            <a:tint val="40000"/>
            <a:alpha val="90000"/>
            <a:hueOff val="2693887"/>
            <a:satOff val="-24893"/>
            <a:lumOff val="-28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93887"/>
              <a:satOff val="-24893"/>
              <a:lumOff val="-28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 user-centred dashboards</a:t>
          </a:r>
        </a:p>
      </dsp:txBody>
      <dsp:txXfrm>
        <a:off x="2628900" y="2307624"/>
        <a:ext cx="7886700" cy="504459"/>
      </dsp:txXfrm>
    </dsp:sp>
    <dsp:sp modelId="{7AD7E114-97FA-48B2-8E03-0AF8FF828D58}">
      <dsp:nvSpPr>
        <dsp:cNvPr id="0" name=""/>
        <dsp:cNvSpPr/>
      </dsp:nvSpPr>
      <dsp:spPr>
        <a:xfrm rot="10800000">
          <a:off x="0" y="1539102"/>
          <a:ext cx="2628900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Design</a:t>
          </a:r>
        </a:p>
      </dsp:txBody>
      <dsp:txXfrm rot="-10800000">
        <a:off x="0" y="1539102"/>
        <a:ext cx="2628900" cy="504459"/>
      </dsp:txXfrm>
    </dsp:sp>
    <dsp:sp modelId="{64B28F46-A994-416D-9576-30D7A4F1A23F}">
      <dsp:nvSpPr>
        <dsp:cNvPr id="0" name=""/>
        <dsp:cNvSpPr/>
      </dsp:nvSpPr>
      <dsp:spPr>
        <a:xfrm>
          <a:off x="2628900" y="1539102"/>
          <a:ext cx="7886700" cy="504459"/>
        </a:xfrm>
        <a:prstGeom prst="rect">
          <a:avLst/>
        </a:prstGeom>
        <a:solidFill>
          <a:schemeClr val="accent2">
            <a:tint val="40000"/>
            <a:alpha val="90000"/>
            <a:hueOff val="4040831"/>
            <a:satOff val="-37339"/>
            <a:lumOff val="-42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40831"/>
              <a:satOff val="-37339"/>
              <a:lumOff val="-4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Design integrated data architecture</a:t>
          </a:r>
        </a:p>
      </dsp:txBody>
      <dsp:txXfrm>
        <a:off x="2628900" y="1539102"/>
        <a:ext cx="7886700" cy="504459"/>
      </dsp:txXfrm>
    </dsp:sp>
    <dsp:sp modelId="{F380B1CC-269C-491F-9B90-0293F8CE17EB}">
      <dsp:nvSpPr>
        <dsp:cNvPr id="0" name=""/>
        <dsp:cNvSpPr/>
      </dsp:nvSpPr>
      <dsp:spPr>
        <a:xfrm rot="10800000">
          <a:off x="0" y="770580"/>
          <a:ext cx="2628900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Analyse</a:t>
          </a:r>
        </a:p>
      </dsp:txBody>
      <dsp:txXfrm rot="-10800000">
        <a:off x="0" y="770580"/>
        <a:ext cx="2628900" cy="504459"/>
      </dsp:txXfrm>
    </dsp:sp>
    <dsp:sp modelId="{D80AA639-5318-45E0-A0AD-96E4027217F8}">
      <dsp:nvSpPr>
        <dsp:cNvPr id="0" name=""/>
        <dsp:cNvSpPr/>
      </dsp:nvSpPr>
      <dsp:spPr>
        <a:xfrm>
          <a:off x="2628900" y="770580"/>
          <a:ext cx="7886700" cy="504459"/>
        </a:xfrm>
        <a:prstGeom prst="rect">
          <a:avLst/>
        </a:prstGeom>
        <a:solidFill>
          <a:schemeClr val="accent2">
            <a:tint val="40000"/>
            <a:alpha val="90000"/>
            <a:hueOff val="5387775"/>
            <a:satOff val="-49786"/>
            <a:lumOff val="-561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387775"/>
              <a:satOff val="-49786"/>
              <a:lumOff val="-56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Analyse operational factors</a:t>
          </a:r>
        </a:p>
      </dsp:txBody>
      <dsp:txXfrm>
        <a:off x="2628900" y="770580"/>
        <a:ext cx="7886700" cy="504459"/>
      </dsp:txXfrm>
    </dsp:sp>
    <dsp:sp modelId="{6AD795A6-B95E-4506-B8E0-06CC34E0016C}">
      <dsp:nvSpPr>
        <dsp:cNvPr id="0" name=""/>
        <dsp:cNvSpPr/>
      </dsp:nvSpPr>
      <dsp:spPr>
        <a:xfrm rot="10800000">
          <a:off x="0" y="2058"/>
          <a:ext cx="2628900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20904" rIns="186967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Identify</a:t>
          </a:r>
        </a:p>
      </dsp:txBody>
      <dsp:txXfrm rot="-10800000">
        <a:off x="0" y="2058"/>
        <a:ext cx="2628900" cy="504459"/>
      </dsp:txXfrm>
    </dsp:sp>
    <dsp:sp modelId="{13FFB56F-F589-433D-9E82-D6C7CFB40CC6}">
      <dsp:nvSpPr>
        <dsp:cNvPr id="0" name=""/>
        <dsp:cNvSpPr/>
      </dsp:nvSpPr>
      <dsp:spPr>
        <a:xfrm>
          <a:off x="2628900" y="2058"/>
          <a:ext cx="7886700" cy="50445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52400" rIns="159980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Identify post-MDT delays</a:t>
          </a:r>
        </a:p>
      </dsp:txBody>
      <dsp:txXfrm>
        <a:off x="2628900" y="2058"/>
        <a:ext cx="7886700" cy="5044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B3B61-1A80-4A7F-86E7-8FD0127C7B5C}">
      <dsp:nvSpPr>
        <dsp:cNvPr id="0" name=""/>
        <dsp:cNvSpPr/>
      </dsp:nvSpPr>
      <dsp:spPr>
        <a:xfrm>
          <a:off x="0" y="988600"/>
          <a:ext cx="1643062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Surface breach risks early</a:t>
          </a:r>
          <a:endParaRPr lang="en-US" sz="1600" kern="1200"/>
        </a:p>
      </dsp:txBody>
      <dsp:txXfrm>
        <a:off x="0" y="1777270"/>
        <a:ext cx="1643062" cy="1183005"/>
      </dsp:txXfrm>
    </dsp:sp>
    <dsp:sp modelId="{EC5AD160-8398-4CAC-82EF-0BB408EDCFFD}">
      <dsp:nvSpPr>
        <dsp:cNvPr id="0" name=""/>
        <dsp:cNvSpPr/>
      </dsp:nvSpPr>
      <dsp:spPr>
        <a:xfrm>
          <a:off x="0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01</a:t>
          </a:r>
        </a:p>
      </dsp:txBody>
      <dsp:txXfrm>
        <a:off x="0" y="988600"/>
        <a:ext cx="1643062" cy="788670"/>
      </dsp:txXfrm>
    </dsp:sp>
    <dsp:sp modelId="{BE9341D6-6A87-4607-BBC2-A5DC8822148C}">
      <dsp:nvSpPr>
        <dsp:cNvPr id="0" name=""/>
        <dsp:cNvSpPr/>
      </dsp:nvSpPr>
      <dsp:spPr>
        <a:xfrm>
          <a:off x="1774507" y="988600"/>
          <a:ext cx="1643062" cy="1971675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Pair risks with capacity</a:t>
          </a:r>
          <a:endParaRPr lang="en-US" sz="1600" kern="1200"/>
        </a:p>
      </dsp:txBody>
      <dsp:txXfrm>
        <a:off x="1774507" y="1777270"/>
        <a:ext cx="1643062" cy="1183005"/>
      </dsp:txXfrm>
    </dsp:sp>
    <dsp:sp modelId="{4F36F98D-188B-413A-925E-126CAAD4E28A}">
      <dsp:nvSpPr>
        <dsp:cNvPr id="0" name=""/>
        <dsp:cNvSpPr/>
      </dsp:nvSpPr>
      <dsp:spPr>
        <a:xfrm>
          <a:off x="1774507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02</a:t>
          </a:r>
        </a:p>
      </dsp:txBody>
      <dsp:txXfrm>
        <a:off x="1774507" y="988600"/>
        <a:ext cx="1643062" cy="788670"/>
      </dsp:txXfrm>
    </dsp:sp>
    <dsp:sp modelId="{2CF9968F-4421-4B44-A85F-8F6C36B1E4E1}">
      <dsp:nvSpPr>
        <dsp:cNvPr id="0" name=""/>
        <dsp:cNvSpPr/>
      </dsp:nvSpPr>
      <dsp:spPr>
        <a:xfrm>
          <a:off x="3549015" y="988600"/>
          <a:ext cx="1643062" cy="1971675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 canonical pathway events</a:t>
          </a:r>
          <a:endParaRPr lang="en-US" sz="1600" kern="1200"/>
        </a:p>
      </dsp:txBody>
      <dsp:txXfrm>
        <a:off x="3549015" y="1777270"/>
        <a:ext cx="1643062" cy="1183005"/>
      </dsp:txXfrm>
    </dsp:sp>
    <dsp:sp modelId="{3BBFE501-EE79-4851-AC54-BCC7E2A6894D}">
      <dsp:nvSpPr>
        <dsp:cNvPr id="0" name=""/>
        <dsp:cNvSpPr/>
      </dsp:nvSpPr>
      <dsp:spPr>
        <a:xfrm>
          <a:off x="3549015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03</a:t>
          </a:r>
        </a:p>
      </dsp:txBody>
      <dsp:txXfrm>
        <a:off x="3549015" y="988600"/>
        <a:ext cx="1643062" cy="788670"/>
      </dsp:txXfrm>
    </dsp:sp>
    <dsp:sp modelId="{092F293F-6C23-4DE8-8635-0D892B148AB0}">
      <dsp:nvSpPr>
        <dsp:cNvPr id="0" name=""/>
        <dsp:cNvSpPr/>
      </dsp:nvSpPr>
      <dsp:spPr>
        <a:xfrm>
          <a:off x="5323522" y="988600"/>
          <a:ext cx="1643062" cy="1971675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Refresh at operational cadence</a:t>
          </a:r>
          <a:endParaRPr lang="en-US" sz="1600" kern="1200"/>
        </a:p>
      </dsp:txBody>
      <dsp:txXfrm>
        <a:off x="5323522" y="1777270"/>
        <a:ext cx="1643062" cy="1183005"/>
      </dsp:txXfrm>
    </dsp:sp>
    <dsp:sp modelId="{2336EC19-087E-401E-A518-7DE085883450}">
      <dsp:nvSpPr>
        <dsp:cNvPr id="0" name=""/>
        <dsp:cNvSpPr/>
      </dsp:nvSpPr>
      <dsp:spPr>
        <a:xfrm>
          <a:off x="5323522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04</a:t>
          </a:r>
        </a:p>
      </dsp:txBody>
      <dsp:txXfrm>
        <a:off x="5323522" y="988600"/>
        <a:ext cx="1643062" cy="788670"/>
      </dsp:txXfrm>
    </dsp:sp>
    <dsp:sp modelId="{E7C436FA-0430-464E-841D-89E48BAC83DB}">
      <dsp:nvSpPr>
        <dsp:cNvPr id="0" name=""/>
        <dsp:cNvSpPr/>
      </dsp:nvSpPr>
      <dsp:spPr>
        <a:xfrm>
          <a:off x="7098030" y="988600"/>
          <a:ext cx="1643062" cy="1971675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Preserve provenance</a:t>
          </a:r>
          <a:endParaRPr lang="en-US" sz="1600" kern="1200"/>
        </a:p>
      </dsp:txBody>
      <dsp:txXfrm>
        <a:off x="7098030" y="1777270"/>
        <a:ext cx="1643062" cy="1183005"/>
      </dsp:txXfrm>
    </dsp:sp>
    <dsp:sp modelId="{AC2B16D0-3D33-40D3-8B78-27EC225AB3C1}">
      <dsp:nvSpPr>
        <dsp:cNvPr id="0" name=""/>
        <dsp:cNvSpPr/>
      </dsp:nvSpPr>
      <dsp:spPr>
        <a:xfrm>
          <a:off x="7098030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05</a:t>
          </a:r>
        </a:p>
      </dsp:txBody>
      <dsp:txXfrm>
        <a:off x="7098030" y="988600"/>
        <a:ext cx="1643062" cy="788670"/>
      </dsp:txXfrm>
    </dsp:sp>
    <dsp:sp modelId="{E1170AD4-6C23-461F-8F53-92C01D123599}">
      <dsp:nvSpPr>
        <dsp:cNvPr id="0" name=""/>
        <dsp:cNvSpPr/>
      </dsp:nvSpPr>
      <dsp:spPr>
        <a:xfrm>
          <a:off x="8872537" y="988600"/>
          <a:ext cx="1643062" cy="1971675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Align dashboards with real tasks</a:t>
          </a:r>
          <a:endParaRPr lang="en-US" sz="1600" kern="1200"/>
        </a:p>
      </dsp:txBody>
      <dsp:txXfrm>
        <a:off x="8872537" y="1777270"/>
        <a:ext cx="1643062" cy="1183005"/>
      </dsp:txXfrm>
    </dsp:sp>
    <dsp:sp modelId="{331C899B-8DA3-4E93-8769-01CAFBC620A3}">
      <dsp:nvSpPr>
        <dsp:cNvPr id="0" name=""/>
        <dsp:cNvSpPr/>
      </dsp:nvSpPr>
      <dsp:spPr>
        <a:xfrm>
          <a:off x="8872537" y="988600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06</a:t>
          </a:r>
        </a:p>
      </dsp:txBody>
      <dsp:txXfrm>
        <a:off x="8872537" y="988600"/>
        <a:ext cx="1643062" cy="788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86B9A-880B-4FE6-AD66-C2BE2E51812A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ACAEB-7BE0-4D4E-A435-E834035B6B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03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I used the </a:t>
            </a:r>
            <a:r>
              <a:rPr lang="en-GB" b="1" dirty="0">
                <a:effectLst/>
              </a:rPr>
              <a:t>Design Science Research Methodology (DSRM)</a:t>
            </a:r>
            <a:r>
              <a:rPr lang="en-GB" dirty="0">
                <a:effectLst/>
              </a:rPr>
              <a:t>, which is ideal when the goal is to build and evaluate a technological artefact.</a:t>
            </a:r>
            <a:endParaRPr lang="en-GB" dirty="0"/>
          </a:p>
          <a:p>
            <a:r>
              <a:rPr lang="en-GB" dirty="0">
                <a:effectLst/>
              </a:rPr>
              <a:t>Six stages guided the project:</a:t>
            </a:r>
            <a:endParaRPr lang="en-GB" dirty="0"/>
          </a:p>
          <a:p>
            <a:pPr lvl="0"/>
            <a:r>
              <a:rPr lang="en-GB" dirty="0">
                <a:effectLst/>
              </a:rPr>
              <a:t>Problem identification</a:t>
            </a:r>
            <a:endParaRPr lang="en-GB" dirty="0"/>
          </a:p>
          <a:p>
            <a:pPr lvl="0"/>
            <a:r>
              <a:rPr lang="en-GB" dirty="0">
                <a:effectLst/>
              </a:rPr>
              <a:t>Define objectives</a:t>
            </a:r>
            <a:endParaRPr lang="en-GB" dirty="0"/>
          </a:p>
          <a:p>
            <a:pPr lvl="0"/>
            <a:r>
              <a:rPr lang="en-GB" dirty="0">
                <a:effectLst/>
              </a:rPr>
              <a:t>Design &amp; development</a:t>
            </a:r>
            <a:endParaRPr lang="en-GB" dirty="0"/>
          </a:p>
          <a:p>
            <a:pPr lvl="0"/>
            <a:r>
              <a:rPr lang="en-GB" dirty="0">
                <a:effectLst/>
              </a:rPr>
              <a:t>Demonstration</a:t>
            </a:r>
            <a:endParaRPr lang="en-GB" dirty="0"/>
          </a:p>
          <a:p>
            <a:pPr lvl="0"/>
            <a:r>
              <a:rPr lang="en-GB" dirty="0">
                <a:effectLst/>
              </a:rPr>
              <a:t>Evaluation</a:t>
            </a:r>
            <a:endParaRPr lang="en-GB" dirty="0"/>
          </a:p>
          <a:p>
            <a:pPr lvl="0"/>
            <a:r>
              <a:rPr lang="en-GB" dirty="0">
                <a:effectLst/>
              </a:rPr>
              <a:t>Communication</a:t>
            </a:r>
            <a:endParaRPr lang="en-GB" dirty="0"/>
          </a:p>
          <a:p>
            <a:r>
              <a:rPr lang="en-GB" dirty="0">
                <a:effectLst/>
              </a:rPr>
              <a:t>This approach allowed me to build a real operational tool while generating academically transferable design principles.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578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>
                <a:effectLst/>
              </a:rPr>
              <a:t>Identify and quantify post‑MDT pathway delays</a:t>
            </a:r>
            <a:endParaRPr lang="en-GB" dirty="0"/>
          </a:p>
          <a:p>
            <a:pPr lvl="0"/>
            <a:r>
              <a:rPr lang="en-GB" dirty="0">
                <a:effectLst/>
              </a:rPr>
              <a:t>Determine operational factors associated with delay</a:t>
            </a:r>
            <a:endParaRPr lang="en-GB" dirty="0"/>
          </a:p>
          <a:p>
            <a:pPr lvl="0"/>
            <a:r>
              <a:rPr lang="en-GB" dirty="0">
                <a:effectLst/>
              </a:rPr>
              <a:t>Design an integrated data architecture</a:t>
            </a:r>
            <a:endParaRPr lang="en-GB" dirty="0"/>
          </a:p>
          <a:p>
            <a:pPr lvl="0"/>
            <a:r>
              <a:rPr lang="en-GB" dirty="0">
                <a:effectLst/>
              </a:rPr>
              <a:t>Develop a user‑centred dashboard</a:t>
            </a:r>
            <a:endParaRPr lang="en-GB" dirty="0"/>
          </a:p>
          <a:p>
            <a:pPr lvl="0"/>
            <a:r>
              <a:rPr lang="en-GB" dirty="0">
                <a:effectLst/>
              </a:rPr>
              <a:t>Evaluate utility, usability, and technical validity</a:t>
            </a:r>
            <a:endParaRPr lang="en-GB" dirty="0"/>
          </a:p>
          <a:p>
            <a:pPr lvl="0"/>
            <a:r>
              <a:rPr lang="en-GB" dirty="0">
                <a:effectLst/>
              </a:rPr>
              <a:t>Derive transferable design principles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88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Six evaluated design principles emerged: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Surface breach risks early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Pair risks with capacity data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Use canonical pathway events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Refresh data at the operational cadence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Preserve provenance and auditability</a:t>
            </a:r>
            <a:endParaRPr lang="en-GB" dirty="0"/>
          </a:p>
          <a:p>
            <a:pPr lvl="0"/>
            <a:r>
              <a:rPr lang="en-GB" b="1" dirty="0">
                <a:effectLst/>
              </a:rPr>
              <a:t>Align dashboards with real operational tasks</a:t>
            </a:r>
            <a:endParaRPr lang="en-GB" dirty="0"/>
          </a:p>
          <a:p>
            <a:r>
              <a:rPr lang="en-GB" dirty="0">
                <a:effectLst/>
              </a:rPr>
              <a:t>These principles form the transferable academic contribution of the study.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858E-C025-4AF1-A6DD-B6046B0811A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8243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C2B2-A7FB-7057-ED3F-396486204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B5D7C-D95B-EE02-651C-2A1436942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9C2B1-D4D3-C8BF-D427-9C7BF4F15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EE636-E605-50FC-1778-EEB1352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30A50-B307-8B20-655B-1EEA13F6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83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79C9-082F-A2C5-38A0-6C7F4297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0CC78-AB9D-C247-7068-783F379B3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1DD64-62F9-6AFB-866C-0D55E744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37F53-D95D-37B4-1740-B373FC5D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97C01-9805-AF5F-EE37-03FE7E59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387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1E3B-A5FA-7914-0E17-E54A9F4A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8A029-BD3D-9030-0691-FAB5FA64D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206D-FC83-096D-8EFA-7F4176B93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125E1-11E1-D682-7433-C73AD064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6E7A4-CAB5-6911-6F1C-EC7D88E20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318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6A23-C49E-7448-BFB6-93C3C8E4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306B6-7D22-95C5-00E7-EC18001B0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EF7F3-6E5D-9B70-E279-D404664D0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8DE64-3692-6461-3360-0A16A1342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BFC87-C724-11EF-4886-870829739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B18D7-9ED9-247D-7859-0151909B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599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88C8-C125-1506-B6F4-43F4FD34C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232EB-3EB5-CEB2-7DC7-B9895B3F4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51730-6DE7-5189-457B-BBFF179C2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9CFBC-D21E-135C-1D9F-DB7601221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C13C1E-A500-49C8-ADC1-62E59CB89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52ED8-7891-A918-3D9F-DEB3042F9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7EA67-9E52-D17F-3B2A-EBB748843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B369C3-245D-60B2-74EE-0E5E1E31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76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9D14B-6AF0-8D14-30C6-1ED1B23A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0F2CE2-26B4-2631-C952-2F992DC9B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2535C-4E85-B880-48E4-77F86650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057E7-7231-FC72-1996-F9FABF10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69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18542-BBFC-4919-C1ED-880D331C7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099BC7-C4F1-FECD-71AC-AE1B7468E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D4AFB-9203-CF9E-1FA9-F369CD07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685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AD34-872B-ADE8-F417-CD43083CE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8F1D-3453-2B18-0957-14305EA67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6A4CD-1713-CAC6-B6DA-7638208D1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91160-0062-FA01-64EC-488109183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B5681-78CD-CC9E-3482-C8024A53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B45A2-891B-550E-0555-84BDA8BB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69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4C5D-1D08-4471-7BC5-BA19DA03B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A72DD-3DF2-BE15-69F7-A5D00D9E7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D9CBE-FABC-8BB9-6F57-82EF6CFA5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33F71-5658-9127-C08C-210DB8F7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0EF0A-EBDD-1AF4-DBF0-F7A55D76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4C6D6-9901-91DA-678D-DD5E9592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91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05D3B-BC37-B3A8-29D0-ADE3E134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BFFC3-8CF2-1FC5-6560-A826AA4AD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9A4B9-C335-1EFE-CFB4-BD6E9C47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53043-5D1B-24DB-E5AC-1EF330105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8F5C3-716E-9EAC-30E3-EA95DAE1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475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DCEA7-602E-AC22-CB76-36D1382B03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6E7DB-ABD8-680E-BA4A-7B0AF193E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70108-92F7-355F-2B52-5BE310322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668C3-62A8-F379-42A9-6055CD08E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58F8A-5C99-035F-B31F-989FB4E7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19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F9E2DB-8A3E-8E78-07F2-443AF3AAC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35285-3B8F-4FB8-529B-DC6C1FAEC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C4A36-7099-A6E4-D1EF-ED7B8C834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55533F-DC1B-4056-B34C-CF181F9C0AAC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EA0A4-3905-B9B4-0528-9087E400A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1A97-8DE5-D5E4-9BA1-986FF7150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FD034-6492-488F-ACCE-E42021331D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3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and.nhs.uk/long-read/community-diagnostic-centres/" TargetMode="External"/><Relationship Id="rId2" Type="http://schemas.openxmlformats.org/officeDocument/2006/relationships/hyperlink" Target="https://digital.nhs.uk/ndrs/data/data-outputs/data-quality-and-insights-hub/rtds-hscn-quality-dashboar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9C0C4-F681-94D9-7B19-56F5ED164D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Post-MDT Oncology Workflow Bottlenecks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5BCB4-DD39-B579-6F5C-86C4208D3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A Design Science Study of an NHS integrated Data Repository and Decision Support Dashboard</a:t>
            </a:r>
          </a:p>
          <a:p>
            <a:endParaRPr lang="en-GB" dirty="0"/>
          </a:p>
          <a:p>
            <a:r>
              <a:rPr lang="en-GB" dirty="0"/>
              <a:t>Mark Collins</a:t>
            </a:r>
          </a:p>
          <a:p>
            <a:r>
              <a:rPr lang="en-GB" dirty="0"/>
              <a:t>August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42028B-903F-5C59-7648-74897284D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67" y="5349875"/>
            <a:ext cx="2653033" cy="11607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603FBB-B39A-E2BF-A762-F3D8B9EF5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49876"/>
            <a:ext cx="3388912" cy="116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982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93272-69F7-1858-4BA6-47F51963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/>
              <a:t>Methodology: Design Science Research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880973-E158-A6BE-A2E8-733C21E732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727130"/>
            <a:ext cx="5181600" cy="254832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B8AE4A-3CB8-D3A0-4FA1-A4F79595EC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Problem identification</a:t>
            </a:r>
          </a:p>
          <a:p>
            <a:r>
              <a:rPr lang="en-GB" dirty="0"/>
              <a:t>Objectives</a:t>
            </a:r>
          </a:p>
          <a:p>
            <a:r>
              <a:rPr lang="en-GB" dirty="0"/>
              <a:t>Design &amp; development</a:t>
            </a:r>
          </a:p>
          <a:p>
            <a:r>
              <a:rPr lang="en-GB" dirty="0"/>
              <a:t>Demonstration</a:t>
            </a:r>
          </a:p>
          <a:p>
            <a:r>
              <a:rPr lang="en-GB" dirty="0"/>
              <a:t>Evaluation</a:t>
            </a:r>
          </a:p>
          <a:p>
            <a:r>
              <a:rPr lang="en-GB" dirty="0"/>
              <a:t>Communication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B0916-BCA7-93B0-5D83-F866335AE61F}"/>
              </a:ext>
            </a:extLst>
          </p:cNvPr>
          <p:cNvSpPr txBox="1"/>
          <p:nvPr/>
        </p:nvSpPr>
        <p:spPr>
          <a:xfrm>
            <a:off x="838200" y="6173399"/>
            <a:ext cx="1127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Peffers (2007) </a:t>
            </a:r>
          </a:p>
        </p:txBody>
      </p:sp>
    </p:spTree>
    <p:extLst>
      <p:ext uri="{BB962C8B-B14F-4D97-AF65-F5344CB8AC3E}">
        <p14:creationId xmlns:p14="http://schemas.microsoft.com/office/powerpoint/2010/main" val="272779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394E53-62DF-C6A9-56B6-A1512819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Cancer Pathways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F1F83-D68C-C983-074C-8C838C66B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Identify Problem &amp; Motivate</a:t>
            </a:r>
          </a:p>
        </p:txBody>
      </p:sp>
    </p:spTree>
    <p:extLst>
      <p:ext uri="{BB962C8B-B14F-4D97-AF65-F5344CB8AC3E}">
        <p14:creationId xmlns:p14="http://schemas.microsoft.com/office/powerpoint/2010/main" val="117424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A14A64-14C4-42F0-3580-AF927C71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Cancer Pathway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29DF604-F1FE-68BD-5613-5D4E6686FA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076" y="1825625"/>
            <a:ext cx="2691847" cy="435133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3A98D9-66BC-708D-A49D-8C620D1EBC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Three key waiting time standards (Johnson, 2024)</a:t>
            </a:r>
          </a:p>
          <a:p>
            <a:pPr lvl="1"/>
            <a:r>
              <a:rPr lang="en-GB" dirty="0"/>
              <a:t>28-day FDS</a:t>
            </a:r>
          </a:p>
          <a:p>
            <a:pPr lvl="1"/>
            <a:r>
              <a:rPr lang="en-GB" dirty="0"/>
              <a:t>62-day RTT</a:t>
            </a:r>
          </a:p>
          <a:p>
            <a:pPr lvl="1"/>
            <a:r>
              <a:rPr lang="en-GB" dirty="0"/>
              <a:t>31-day DTT</a:t>
            </a:r>
          </a:p>
          <a:p>
            <a:r>
              <a:rPr lang="en-GB" dirty="0"/>
              <a:t>28-day FDS lead to Community Diagnostic Centres (NHS England, 2025)</a:t>
            </a:r>
          </a:p>
          <a:p>
            <a:r>
              <a:rPr lang="en-GB" dirty="0"/>
              <a:t>PHU has dedicated department co-ordinating specialist services (corporate cancer service)</a:t>
            </a:r>
          </a:p>
          <a:p>
            <a:r>
              <a:rPr lang="en-GB" dirty="0"/>
              <a:t>Once MDT decision made, Oncology department responsible for delivering treatment. </a:t>
            </a:r>
          </a:p>
          <a:p>
            <a:pPr lvl="1"/>
            <a:r>
              <a:rPr lang="en-GB" dirty="0"/>
              <a:t>CCS stop tracking</a:t>
            </a:r>
          </a:p>
          <a:p>
            <a:pPr lvl="1"/>
            <a:r>
              <a:rPr lang="en-GB" dirty="0"/>
              <a:t>I have spent last 5 years working on pathway improvements once Decision to Treat has been made.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511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0221-C5A7-2D97-F541-990C3CE1F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Lack of Visibility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3B538-CC32-0A29-E899-36F9CB059D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Multiple Systems in use</a:t>
            </a:r>
          </a:p>
          <a:p>
            <a:pPr lvl="1"/>
            <a:r>
              <a:rPr lang="en-GB" dirty="0"/>
              <a:t>SharePoint Register</a:t>
            </a:r>
          </a:p>
          <a:p>
            <a:pPr lvl="1"/>
            <a:r>
              <a:rPr lang="en-GB" dirty="0"/>
              <a:t>PAS</a:t>
            </a:r>
          </a:p>
          <a:p>
            <a:pPr lvl="1"/>
            <a:r>
              <a:rPr lang="en-GB" dirty="0"/>
              <a:t>ARIA RO</a:t>
            </a:r>
          </a:p>
          <a:p>
            <a:pPr lvl="1"/>
            <a:r>
              <a:rPr lang="en-GB" dirty="0"/>
              <a:t>ARIA MO</a:t>
            </a:r>
          </a:p>
          <a:p>
            <a:r>
              <a:rPr lang="en-GB" dirty="0"/>
              <a:t>Data Fragmentation</a:t>
            </a:r>
          </a:p>
          <a:p>
            <a:r>
              <a:rPr lang="en-GB" dirty="0"/>
              <a:t>Reporting is focused on performance, after the fact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772B67-4680-D725-37F5-DC118AA51A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812" y="1825625"/>
            <a:ext cx="24523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1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1EE1-6045-597C-64CD-8DF3C061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Consequences of delayed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B05E-1104-A0A1-B27A-89DE2BE51F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Delays in treatment have clinical impact</a:t>
            </a:r>
          </a:p>
          <a:p>
            <a:r>
              <a:rPr lang="en-GB" dirty="0"/>
              <a:t>Joint College of Clinical Oncologist (JCCO) (Ash </a:t>
            </a:r>
            <a:r>
              <a:rPr lang="en-GB" i="1" dirty="0"/>
              <a:t>et al.</a:t>
            </a:r>
            <a:r>
              <a:rPr lang="en-GB" dirty="0"/>
              <a:t>, 2004)</a:t>
            </a:r>
          </a:p>
          <a:p>
            <a:pPr lvl="1"/>
            <a:r>
              <a:rPr lang="en-GB" dirty="0"/>
              <a:t>Fast growing tumours to be treated within 2 weeks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5F02B-BB94-F7E4-5E6C-82B63884F8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Delays &gt; 4 weeks = ↓ outcomes:</a:t>
            </a:r>
          </a:p>
          <a:p>
            <a:pPr lvl="1"/>
            <a:r>
              <a:rPr lang="en-GB" dirty="0"/>
              <a:t>Coca-</a:t>
            </a:r>
            <a:r>
              <a:rPr lang="en-GB" dirty="0" err="1"/>
              <a:t>Pelaz</a:t>
            </a:r>
            <a:r>
              <a:rPr lang="en-GB" dirty="0"/>
              <a:t> </a:t>
            </a:r>
            <a:r>
              <a:rPr lang="en-GB" i="1" dirty="0"/>
              <a:t>et al.</a:t>
            </a:r>
            <a:r>
              <a:rPr lang="en-GB" dirty="0"/>
              <a:t> (2018)</a:t>
            </a:r>
          </a:p>
          <a:p>
            <a:pPr lvl="1"/>
            <a:r>
              <a:rPr lang="en-GB" dirty="0"/>
              <a:t>Saleh </a:t>
            </a:r>
            <a:r>
              <a:rPr lang="en-GB" i="1" dirty="0"/>
              <a:t>et al. </a:t>
            </a:r>
            <a:r>
              <a:rPr lang="en-GB" dirty="0"/>
              <a:t>(2024)</a:t>
            </a:r>
          </a:p>
          <a:p>
            <a:pPr lvl="1"/>
            <a:r>
              <a:rPr lang="en-GB" dirty="0"/>
              <a:t>Sharma </a:t>
            </a:r>
            <a:r>
              <a:rPr lang="en-GB" i="1" dirty="0"/>
              <a:t>et al. </a:t>
            </a:r>
            <a:r>
              <a:rPr lang="en-GB" dirty="0"/>
              <a:t>(2016)</a:t>
            </a:r>
          </a:p>
          <a:p>
            <a:pPr lvl="1"/>
            <a:r>
              <a:rPr lang="en-GB" dirty="0"/>
              <a:t>Vilemure-Poliquin </a:t>
            </a:r>
            <a:r>
              <a:rPr lang="en-GB" i="1" dirty="0"/>
              <a:t>et al.</a:t>
            </a:r>
            <a:r>
              <a:rPr lang="en-GB" dirty="0"/>
              <a:t> (2025)</a:t>
            </a:r>
          </a:p>
        </p:txBody>
      </p:sp>
    </p:spTree>
    <p:extLst>
      <p:ext uri="{BB962C8B-B14F-4D97-AF65-F5344CB8AC3E}">
        <p14:creationId xmlns:p14="http://schemas.microsoft.com/office/powerpoint/2010/main" val="1578733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1B1361-F5EB-8B31-93C0-BDB33299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 &amp;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988A3A-78FF-8884-D51D-13219899B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Define Objectives of a Solution</a:t>
            </a:r>
          </a:p>
        </p:txBody>
      </p:sp>
    </p:spTree>
    <p:extLst>
      <p:ext uri="{BB962C8B-B14F-4D97-AF65-F5344CB8AC3E}">
        <p14:creationId xmlns:p14="http://schemas.microsoft.com/office/powerpoint/2010/main" val="404498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3C231A-796A-0689-1275-3350E4A3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Aims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15470A-08FC-297F-37E6-EBBE7CBAC7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Improve operational visibility</a:t>
            </a:r>
          </a:p>
          <a:p>
            <a:r>
              <a:rPr lang="en-GB" dirty="0"/>
              <a:t>Reduce data fragmentation</a:t>
            </a:r>
          </a:p>
          <a:p>
            <a:r>
              <a:rPr lang="en-GB" dirty="0"/>
              <a:t>Support proactive pathway management</a:t>
            </a:r>
          </a:p>
          <a:p>
            <a:endParaRPr lang="en-GB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1A6BC2C-CCEB-1F99-1B78-D08DE7976E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0895118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7590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5BE94-5470-F5BA-3CF4-E799E7C0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5400"/>
              <a:t>Research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5725E0-7297-1857-E298-9981971136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0763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32910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F89A80-7D82-6196-2D81-89360447D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IDR &amp; Dashboard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F3260-9DF1-9949-B6DD-C698ABD9E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Design and Development of Artifact</a:t>
            </a:r>
          </a:p>
        </p:txBody>
      </p:sp>
    </p:spTree>
    <p:extLst>
      <p:ext uri="{BB962C8B-B14F-4D97-AF65-F5344CB8AC3E}">
        <p14:creationId xmlns:p14="http://schemas.microsoft.com/office/powerpoint/2010/main" val="3654106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03C508-EFF5-301D-45CD-84402EA9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7E47EB-91DB-6B63-E6EA-03EEAE543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Parallel Projects</a:t>
            </a:r>
          </a:p>
          <a:p>
            <a:pPr lvl="1"/>
            <a:r>
              <a:rPr lang="en-GB" dirty="0"/>
              <a:t>ARIA MO upgrade</a:t>
            </a:r>
          </a:p>
          <a:p>
            <a:pPr lvl="1"/>
            <a:r>
              <a:rPr lang="en-GB" dirty="0"/>
              <a:t>Digital Referrals</a:t>
            </a:r>
          </a:p>
          <a:p>
            <a:r>
              <a:rPr lang="en-GB" dirty="0"/>
              <a:t>Remove SACT from scope</a:t>
            </a:r>
          </a:p>
          <a:p>
            <a:r>
              <a:rPr lang="en-GB" dirty="0"/>
              <a:t>Data pathway should allow for changes in referral processes</a:t>
            </a:r>
          </a:p>
        </p:txBody>
      </p:sp>
    </p:spTree>
    <p:extLst>
      <p:ext uri="{BB962C8B-B14F-4D97-AF65-F5344CB8AC3E}">
        <p14:creationId xmlns:p14="http://schemas.microsoft.com/office/powerpoint/2010/main" val="2548829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925FCC-F5A2-525F-F6E6-68D561CA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IDR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5F8D8F-BAFE-5A0D-61E6-73D9FB3F9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849" y="354918"/>
            <a:ext cx="2811458" cy="635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85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8F8D-D059-1F5F-17EC-2D5D75C9F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Oncology Referral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CC6FF0-D705-E84A-721C-2689FAAB1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02" y="1825625"/>
            <a:ext cx="77729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40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F5E4-BDBD-FBBD-1D7B-22DEA210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Radiotherapy Service Health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CA4428-0146-F4ED-ADF4-49A6A93B7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02" y="1825625"/>
            <a:ext cx="77729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195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0370A-41C8-8394-66C0-C5F1B63C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Oncology Pathway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B70CEA-547C-E235-D49B-46A95D1C2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02" y="1825625"/>
            <a:ext cx="77729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57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07BF67-68CB-C5B0-8C61-70058245F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Stakeholder Feedback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4D0D9-EC24-BC4E-CDCC-DBC161127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Demonstration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3984119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2B0043-9CE8-FF21-1852-C57BE17A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B2CD1F-DC59-603D-995A-A13C247A44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Stakeholders:</a:t>
            </a:r>
          </a:p>
          <a:p>
            <a:pPr lvl="1"/>
            <a:r>
              <a:rPr lang="en-GB" dirty="0"/>
              <a:t>Clinical Director</a:t>
            </a:r>
          </a:p>
          <a:p>
            <a:pPr lvl="1"/>
            <a:r>
              <a:rPr lang="en-GB" dirty="0"/>
              <a:t>Cancer Care Group Manager*</a:t>
            </a:r>
          </a:p>
          <a:p>
            <a:pPr lvl="1"/>
            <a:r>
              <a:rPr lang="en-GB" dirty="0"/>
              <a:t>RT Ops Manager</a:t>
            </a:r>
          </a:p>
          <a:p>
            <a:pPr lvl="1"/>
            <a:r>
              <a:rPr lang="en-GB" dirty="0"/>
              <a:t>Lead Radiographer</a:t>
            </a:r>
          </a:p>
          <a:p>
            <a:r>
              <a:rPr lang="en-GB" dirty="0"/>
              <a:t>Reported Benefits:</a:t>
            </a:r>
          </a:p>
          <a:p>
            <a:pPr lvl="1"/>
            <a:r>
              <a:rPr lang="en-GB" dirty="0"/>
              <a:t>Improved visibility</a:t>
            </a:r>
          </a:p>
          <a:p>
            <a:pPr lvl="1"/>
            <a:r>
              <a:rPr lang="en-GB" dirty="0"/>
              <a:t>Earlier breach detection</a:t>
            </a:r>
          </a:p>
          <a:p>
            <a:pPr lvl="1"/>
            <a:r>
              <a:rPr lang="en-GB" dirty="0"/>
              <a:t>Reduced manual reporting</a:t>
            </a:r>
          </a:p>
          <a:p>
            <a:pPr lvl="1"/>
            <a:r>
              <a:rPr lang="en-GB" dirty="0"/>
              <a:t>Operational adoption likely</a:t>
            </a:r>
          </a:p>
          <a:p>
            <a:pPr lvl="1"/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805ECAD-E980-757B-1DDF-954AA5F2920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46260600"/>
              </p:ext>
            </p:extLst>
          </p:nvPr>
        </p:nvGraphicFramePr>
        <p:xfrm>
          <a:off x="6172200" y="1825625"/>
          <a:ext cx="5181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589798739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651853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Participant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SUS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530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449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110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95.0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73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93.3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5381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4386B0A-2E42-2DB2-FA7B-ECE9201A753B}"/>
              </a:ext>
            </a:extLst>
          </p:cNvPr>
          <p:cNvSpPr txBox="1"/>
          <p:nvPr/>
        </p:nvSpPr>
        <p:spPr>
          <a:xfrm>
            <a:off x="6575384" y="5253633"/>
            <a:ext cx="4375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*CGM not available for SUS scoring but heavily involved in iterative design.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0684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AF08F1-BF40-DCD2-1D75-2D7037F32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Feedback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86DD177-8EC3-7EEB-9C1D-96BF06099C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8180519"/>
              </p:ext>
            </p:extLst>
          </p:nvPr>
        </p:nvGraphicFramePr>
        <p:xfrm>
          <a:off x="838200" y="1825625"/>
          <a:ext cx="10515600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518058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8706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925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Most Useful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Waterfall visualisation of pathway delays; filtering by Dr. and speciality; Patient worklist and breach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822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Missing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SACT Data; Clinic Utilisation; visibility of emergency pathway; utilisation breakdown by machine availability vs service demand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59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Operational Decisions 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Referral Monitoring; Patient Tracking; bottleneck identification; overtime planning; shift extensions; additional capacity planning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34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Future Enhancements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Clinic-capacity modelling; CT-to-treatment decomposition; utilisation analysis; integration of electronic referrals; SACT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600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General 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i="1" dirty="0"/>
                        <a:t>“Very good. Can’t wait to start using it” </a:t>
                      </a:r>
                    </a:p>
                    <a:p>
                      <a:r>
                        <a:rPr lang="en-GB" i="1" dirty="0"/>
                        <a:t>“Looks Good”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792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685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11B8D5-3E9F-D0EB-5EB1-0F0888B0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and Discussion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0946E7-578F-AFC7-AB29-80F876862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63670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83BF78F-8C14-410B-4308-C938AD7A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Pathway Delays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6B02FDE-A2D6-4883-D15F-9EDF42F0740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3347991"/>
              </p:ext>
            </p:extLst>
          </p:nvPr>
        </p:nvGraphicFramePr>
        <p:xfrm>
          <a:off x="838200" y="1825625"/>
          <a:ext cx="5181600" cy="29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4136481208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27384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47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Referral → Triage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4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210187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Triage → Clinic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8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2936610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Clinic → RT Referral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1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316780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RT Referral → CT Sim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8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1287346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/>
                        <a:t>CT Sim → Treatment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16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1810815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/>
                        <a:t>Total</a:t>
                      </a:r>
                    </a:p>
                  </a:txBody>
                  <a:tcPr marL="148639" marR="148639" marT="74320" marB="74320"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37</a:t>
                      </a:r>
                    </a:p>
                  </a:txBody>
                  <a:tcPr marL="148639" marR="148639" marT="74320" marB="74320"/>
                </a:tc>
                <a:extLst>
                  <a:ext uri="{0D108BD9-81ED-4DB2-BD59-A6C34878D82A}">
                    <a16:rowId xmlns:a16="http://schemas.microsoft.com/office/drawing/2014/main" val="3265367692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2C663A2-8E33-7D53-1479-AFF2221C39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Median Post-MDT pathway: </a:t>
            </a:r>
            <a:r>
              <a:rPr lang="en-GB" b="1" dirty="0"/>
              <a:t>37 days</a:t>
            </a:r>
            <a:endParaRPr lang="en-GB" dirty="0"/>
          </a:p>
          <a:p>
            <a:pPr lvl="1"/>
            <a:r>
              <a:rPr lang="en-GB" dirty="0"/>
              <a:t>NCWT: </a:t>
            </a:r>
          </a:p>
          <a:p>
            <a:pPr lvl="2"/>
            <a:r>
              <a:rPr lang="en-GB" dirty="0"/>
              <a:t>62-day RTT</a:t>
            </a:r>
          </a:p>
          <a:p>
            <a:pPr lvl="2"/>
            <a:r>
              <a:rPr lang="en-GB" dirty="0"/>
              <a:t>28-day FDS</a:t>
            </a:r>
          </a:p>
          <a:p>
            <a:pPr lvl="2"/>
            <a:r>
              <a:rPr lang="en-GB" dirty="0"/>
              <a:t>34 days available for Post-MDT pathway</a:t>
            </a:r>
          </a:p>
          <a:p>
            <a:r>
              <a:rPr lang="en-GB" dirty="0"/>
              <a:t>Longest Delays:</a:t>
            </a:r>
          </a:p>
          <a:p>
            <a:pPr lvl="1"/>
            <a:r>
              <a:rPr lang="en-GB" dirty="0"/>
              <a:t>CT Sim → Treatment: </a:t>
            </a:r>
            <a:r>
              <a:rPr lang="en-GB" b="1" dirty="0"/>
              <a:t>16 days</a:t>
            </a:r>
          </a:p>
          <a:p>
            <a:pPr lvl="2"/>
            <a:r>
              <a:rPr lang="en-GB" dirty="0"/>
              <a:t>Additional activities not captured</a:t>
            </a:r>
          </a:p>
          <a:p>
            <a:pPr lvl="1"/>
            <a:r>
              <a:rPr lang="en-GB" dirty="0"/>
              <a:t>Triage → Clinic: </a:t>
            </a:r>
            <a:r>
              <a:rPr lang="en-GB" b="1" dirty="0"/>
              <a:t>8 days</a:t>
            </a:r>
          </a:p>
          <a:p>
            <a:pPr lvl="2"/>
            <a:r>
              <a:rPr lang="en-GB" dirty="0"/>
              <a:t>Administrative delays</a:t>
            </a:r>
          </a:p>
          <a:p>
            <a:pPr lvl="1"/>
            <a:r>
              <a:rPr lang="en-GB" dirty="0"/>
              <a:t>RT Referral → CT Sim: </a:t>
            </a:r>
            <a:r>
              <a:rPr lang="en-GB" b="1" dirty="0"/>
              <a:t>8 days</a:t>
            </a:r>
          </a:p>
          <a:p>
            <a:pPr lvl="2"/>
            <a:r>
              <a:rPr lang="en-GB" dirty="0"/>
              <a:t>Administrative delays</a:t>
            </a:r>
          </a:p>
        </p:txBody>
      </p:sp>
    </p:spTree>
    <p:extLst>
      <p:ext uri="{BB962C8B-B14F-4D97-AF65-F5344CB8AC3E}">
        <p14:creationId xmlns:p14="http://schemas.microsoft.com/office/powerpoint/2010/main" val="678005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0E549-6934-1D0D-2E77-C0E075CF3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Radiotherapy Capacity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CBDE0-434F-333D-7036-11D28644EC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81.56% utilisation</a:t>
            </a:r>
          </a:p>
          <a:p>
            <a:r>
              <a:rPr lang="en-GB" dirty="0"/>
              <a:t>Portsmouth highest utilisation in the country (NHS Digital, 2026)</a:t>
            </a:r>
          </a:p>
          <a:p>
            <a:r>
              <a:rPr lang="en-GB" dirty="0"/>
              <a:t>Risk stratification:</a:t>
            </a:r>
          </a:p>
          <a:p>
            <a:pPr lvl="1"/>
            <a:r>
              <a:rPr lang="en-GB" dirty="0"/>
              <a:t>69.6% within JCCO guidelines</a:t>
            </a:r>
          </a:p>
          <a:p>
            <a:pPr lvl="1"/>
            <a:r>
              <a:rPr lang="en-GB" dirty="0"/>
              <a:t>27.9% outside JCCO, inside NCWT</a:t>
            </a:r>
          </a:p>
          <a:p>
            <a:pPr lvl="1"/>
            <a:r>
              <a:rPr lang="en-GB" dirty="0"/>
              <a:t>2.45% breaching 31-day DTT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6FC1A37C-76B3-4C89-DA76-5734705BDE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66955"/>
            <a:ext cx="5181600" cy="286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52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3370-D770-8135-3AAB-CEDBA9003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Design Principles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17A18E-587C-C249-AE0A-0C545C9497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6266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ABAAF-7678-D10A-7233-F2778027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4027C-38BF-4DED-DFBC-B363660D3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Single-site study</a:t>
            </a:r>
          </a:p>
          <a:p>
            <a:pPr lvl="1"/>
            <a:r>
              <a:rPr lang="en-GB" dirty="0"/>
              <a:t>Small user sample group</a:t>
            </a:r>
          </a:p>
          <a:p>
            <a:pPr lvl="1"/>
            <a:r>
              <a:rPr lang="en-GB" dirty="0"/>
              <a:t>High impact users</a:t>
            </a:r>
          </a:p>
          <a:p>
            <a:r>
              <a:rPr lang="en-GB" dirty="0"/>
              <a:t>Dependant on Source-system data quality</a:t>
            </a:r>
          </a:p>
          <a:p>
            <a:r>
              <a:rPr lang="en-GB" dirty="0"/>
              <a:t>CT → Treatment interval aggregates hidden processes</a:t>
            </a:r>
          </a:p>
          <a:p>
            <a:r>
              <a:rPr lang="en-GB" dirty="0"/>
              <a:t>Evaluation focused on usability, not outcomes</a:t>
            </a:r>
          </a:p>
        </p:txBody>
      </p:sp>
    </p:spTree>
    <p:extLst>
      <p:ext uri="{BB962C8B-B14F-4D97-AF65-F5344CB8AC3E}">
        <p14:creationId xmlns:p14="http://schemas.microsoft.com/office/powerpoint/2010/main" val="143103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D2BBD-704F-1F17-07F0-45C68A52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895B4-0C10-6D3F-753D-42CB4BD33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Digital referral integration</a:t>
            </a:r>
          </a:p>
          <a:p>
            <a:r>
              <a:rPr lang="en-GB" dirty="0"/>
              <a:t>Decomposition of CT → Treatment workflow</a:t>
            </a:r>
          </a:p>
          <a:p>
            <a:r>
              <a:rPr lang="en-GB" dirty="0"/>
              <a:t>SACT dataset integration</a:t>
            </a:r>
          </a:p>
          <a:p>
            <a:r>
              <a:rPr lang="en-GB" dirty="0"/>
              <a:t>Clinic-capacity modelling</a:t>
            </a:r>
          </a:p>
          <a:p>
            <a:r>
              <a:rPr lang="en-GB" dirty="0"/>
              <a:t>Targeted pathway interventions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3692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B5A2-43F1-8F5C-15CC-591F7650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8B149-3C6B-B6BB-9DC8-B41236298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Lightweight IDR improves visibility</a:t>
            </a:r>
          </a:p>
          <a:p>
            <a:r>
              <a:rPr lang="en-GB" dirty="0"/>
              <a:t>Dashboard reveals hidden bottlenecks</a:t>
            </a:r>
          </a:p>
          <a:p>
            <a:r>
              <a:rPr lang="en-GB" dirty="0"/>
              <a:t>Supports operational management</a:t>
            </a:r>
          </a:p>
          <a:p>
            <a:r>
              <a:rPr lang="en-GB" dirty="0"/>
              <a:t>Provides transferable design principles</a:t>
            </a:r>
          </a:p>
          <a:p>
            <a:r>
              <a:rPr lang="en-GB" dirty="0"/>
              <a:t>Enables faster, more reliable progression to treatment</a:t>
            </a:r>
          </a:p>
        </p:txBody>
      </p:sp>
    </p:spTree>
    <p:extLst>
      <p:ext uri="{BB962C8B-B14F-4D97-AF65-F5344CB8AC3E}">
        <p14:creationId xmlns:p14="http://schemas.microsoft.com/office/powerpoint/2010/main" val="2109287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06E744-0A82-A041-BB29-21792516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63F411-ACB4-DA14-1ADC-9B8327898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Ash, D., Barrett, A., Hinks, A. and Squire, C. (2004) </a:t>
            </a:r>
            <a:r>
              <a:rPr lang="en-GB" dirty="0" err="1"/>
              <a:t>‘Re</a:t>
            </a:r>
            <a:r>
              <a:rPr lang="en-GB" dirty="0"/>
              <a:t>-audit of radiotherapy waiting times 2003,’ </a:t>
            </a:r>
            <a:r>
              <a:rPr lang="en-GB" i="1" dirty="0"/>
              <a:t>Clinical Oncology</a:t>
            </a:r>
            <a:r>
              <a:rPr lang="en-GB" dirty="0"/>
              <a:t>, 16(6), pp. 387–394</a:t>
            </a:r>
          </a:p>
          <a:p>
            <a:r>
              <a:rPr lang="en-GB" dirty="0"/>
              <a:t>Coca-</a:t>
            </a:r>
            <a:r>
              <a:rPr lang="en-GB" dirty="0" err="1"/>
              <a:t>Pelaz</a:t>
            </a:r>
            <a:r>
              <a:rPr lang="en-GB" dirty="0"/>
              <a:t>, </a:t>
            </a:r>
            <a:r>
              <a:rPr lang="en-GB" i="1" dirty="0"/>
              <a:t>et al.</a:t>
            </a:r>
            <a:r>
              <a:rPr lang="en-GB" dirty="0"/>
              <a:t> (2018) ‘Head and Neck Cancer: A Review of the Impact of Treatment Delay on Outcome,’ </a:t>
            </a:r>
            <a:r>
              <a:rPr lang="en-GB" i="1" dirty="0"/>
              <a:t>Advances in Therapy,</a:t>
            </a:r>
            <a:r>
              <a:rPr lang="en-GB" dirty="0"/>
              <a:t> 35(2), pp. 153–160</a:t>
            </a:r>
          </a:p>
          <a:p>
            <a:r>
              <a:rPr lang="en-GB" dirty="0"/>
              <a:t>Johnson, P. (2024) ‘Updating the NHS cancer waiting time standards,’ </a:t>
            </a:r>
            <a:r>
              <a:rPr lang="en-GB" i="1" dirty="0"/>
              <a:t>BMJ Oncology</a:t>
            </a:r>
            <a:r>
              <a:rPr lang="en-GB" dirty="0"/>
              <a:t>, 3(1)</a:t>
            </a:r>
          </a:p>
          <a:p>
            <a:r>
              <a:rPr lang="en-GB" dirty="0"/>
              <a:t>NHS Digital (2026b) ‘RTDS quality dashboard,’ Available at: </a:t>
            </a:r>
            <a:r>
              <a:rPr lang="en-GB" dirty="0">
                <a:hlinkClick r:id="rId2"/>
              </a:rPr>
              <a:t>https://digital.nhs.uk/ndrs/data/data-outputs/data-quality-and-insights-hub/rtds-hscn-quality-dashboard</a:t>
            </a:r>
            <a:r>
              <a:rPr lang="en-GB" dirty="0"/>
              <a:t> (Accessed 7</a:t>
            </a:r>
            <a:r>
              <a:rPr lang="en-GB" baseline="30000" dirty="0"/>
              <a:t>th</a:t>
            </a:r>
            <a:r>
              <a:rPr lang="en-GB" dirty="0"/>
              <a:t> August 2026)</a:t>
            </a:r>
          </a:p>
          <a:p>
            <a:r>
              <a:rPr lang="en-GB" dirty="0"/>
              <a:t>NHS England (2025) </a:t>
            </a:r>
            <a:r>
              <a:rPr lang="en-GB" i="1" dirty="0"/>
              <a:t>Community diagnostic centres</a:t>
            </a:r>
            <a:r>
              <a:rPr lang="en-GB" dirty="0"/>
              <a:t>. Available at: </a:t>
            </a:r>
            <a:r>
              <a:rPr lang="en-GB" dirty="0">
                <a:hlinkClick r:id="rId3"/>
              </a:rPr>
              <a:t>https://www.england.nhs.uk/long-read/community-diagnostic-centres/</a:t>
            </a:r>
            <a:r>
              <a:rPr lang="en-GB" dirty="0"/>
              <a:t> (Accessed 7</a:t>
            </a:r>
            <a:r>
              <a:rPr lang="en-GB" baseline="30000" dirty="0"/>
              <a:t>th</a:t>
            </a:r>
            <a:r>
              <a:rPr lang="en-GB" dirty="0"/>
              <a:t> August 2026)</a:t>
            </a:r>
          </a:p>
          <a:p>
            <a:r>
              <a:rPr lang="en-GB" dirty="0"/>
              <a:t>Peffers, Ken, </a:t>
            </a:r>
            <a:r>
              <a:rPr lang="en-GB" dirty="0" err="1"/>
              <a:t>Tuunanen</a:t>
            </a:r>
            <a:r>
              <a:rPr lang="en-GB" dirty="0"/>
              <a:t>, Tuure, Rothenberger, Marcus A. and Chatterjee, Samir (2007) ‘A design science research methodology for information systems research,’ </a:t>
            </a:r>
            <a:r>
              <a:rPr lang="en-GB" i="1" dirty="0"/>
              <a:t>Journal of Management Information Systems</a:t>
            </a:r>
            <a:r>
              <a:rPr lang="en-GB" dirty="0"/>
              <a:t>, 24(3), pp. 45–77</a:t>
            </a:r>
          </a:p>
          <a:p>
            <a:r>
              <a:rPr lang="en-GB" dirty="0"/>
              <a:t>Saleh, M., </a:t>
            </a:r>
            <a:r>
              <a:rPr lang="en-GB" i="1" dirty="0"/>
              <a:t>et al.</a:t>
            </a:r>
            <a:r>
              <a:rPr lang="en-GB" dirty="0"/>
              <a:t> (2024) ‘Diagnosis-to-treatment interval in cervical cancer: An exploratory analysis of the SEER database,’ </a:t>
            </a:r>
            <a:r>
              <a:rPr lang="en-GB" i="1" dirty="0"/>
              <a:t>Gynaecologic Oncology</a:t>
            </a:r>
            <a:r>
              <a:rPr lang="en-GB" dirty="0"/>
              <a:t>, 190, pp. S361–S362</a:t>
            </a:r>
          </a:p>
          <a:p>
            <a:r>
              <a:rPr lang="en-GB" dirty="0"/>
              <a:t>Sharma, S. </a:t>
            </a:r>
            <a:r>
              <a:rPr lang="en-GB" i="1" dirty="0"/>
              <a:t>et al.</a:t>
            </a:r>
            <a:r>
              <a:rPr lang="en-GB" dirty="0"/>
              <a:t> (2016) ‘Clinical impact of prolonged diagnosis to treatment interval (DTI) among patients with oropharyngeal squamous cell carcinoma,’ </a:t>
            </a:r>
            <a:r>
              <a:rPr lang="en-GB" i="1" dirty="0"/>
              <a:t>Oral Oncology</a:t>
            </a:r>
            <a:r>
              <a:rPr lang="en-GB" dirty="0"/>
              <a:t>, 56, pp. 17–24,</a:t>
            </a:r>
          </a:p>
          <a:p>
            <a:r>
              <a:rPr lang="en-GB" dirty="0"/>
              <a:t>Villemure-Poliquin, N. </a:t>
            </a:r>
            <a:r>
              <a:rPr lang="en-GB" i="1" dirty="0"/>
              <a:t>et al.</a:t>
            </a:r>
            <a:r>
              <a:rPr lang="en-GB" dirty="0"/>
              <a:t> (2025) ‘Delayed diagnosis to treatment interval (DTI) in head &amp; neck cancers – A systematic review and meta-analysis,’ </a:t>
            </a:r>
            <a:r>
              <a:rPr lang="en-GB" i="1" dirty="0"/>
              <a:t>Oral Oncology</a:t>
            </a:r>
            <a:r>
              <a:rPr lang="en-GB" dirty="0"/>
              <a:t>, 160, p. 107106</a:t>
            </a:r>
          </a:p>
        </p:txBody>
      </p:sp>
    </p:spTree>
    <p:extLst>
      <p:ext uri="{BB962C8B-B14F-4D97-AF65-F5344CB8AC3E}">
        <p14:creationId xmlns:p14="http://schemas.microsoft.com/office/powerpoint/2010/main" val="2394117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1159</Words>
  <Application>Microsoft Office PowerPoint</Application>
  <PresentationFormat>Widescreen</PresentationFormat>
  <Paragraphs>218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Post-MDT Oncology Workflow Bottlenecks</vt:lpstr>
      <vt:lpstr>Methodology: Design Science Research</vt:lpstr>
      <vt:lpstr>Cancer Pathways</vt:lpstr>
      <vt:lpstr>Cancer Pathway</vt:lpstr>
      <vt:lpstr>Lack of Visibility</vt:lpstr>
      <vt:lpstr>Consequences of delayed treatment</vt:lpstr>
      <vt:lpstr>Aims &amp; Objectives</vt:lpstr>
      <vt:lpstr>Research Aims</vt:lpstr>
      <vt:lpstr>Research Objectives</vt:lpstr>
      <vt:lpstr>IDR &amp; Dashboard</vt:lpstr>
      <vt:lpstr>Scope</vt:lpstr>
      <vt:lpstr>IDR Architecture</vt:lpstr>
      <vt:lpstr>Oncology Referral Dashboard</vt:lpstr>
      <vt:lpstr>Radiotherapy Service Health</vt:lpstr>
      <vt:lpstr>Oncology Pathway Overview</vt:lpstr>
      <vt:lpstr>Stakeholder Feedback</vt:lpstr>
      <vt:lpstr>Evaluation Results</vt:lpstr>
      <vt:lpstr>Feedback</vt:lpstr>
      <vt:lpstr>Results and Discussion</vt:lpstr>
      <vt:lpstr>Pathway Delays</vt:lpstr>
      <vt:lpstr>Radiotherapy Capacity Insights</vt:lpstr>
      <vt:lpstr>Design Principles</vt:lpstr>
      <vt:lpstr>Limitations</vt:lpstr>
      <vt:lpstr>Future work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Collins</dc:creator>
  <cp:lastModifiedBy>Mark Collins</cp:lastModifiedBy>
  <cp:revision>1</cp:revision>
  <dcterms:created xsi:type="dcterms:W3CDTF">2026-08-07T08:32:43Z</dcterms:created>
  <dcterms:modified xsi:type="dcterms:W3CDTF">2026-08-07T11:35:00Z</dcterms:modified>
</cp:coreProperties>
</file>